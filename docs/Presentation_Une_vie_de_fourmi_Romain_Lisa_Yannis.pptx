
<file path=[Content_Types].xml><?xml version="1.0" encoding="utf-8"?>
<Types xmlns="http://schemas.openxmlformats.org/package/2006/content-types">
  <Default Extension="bin" ContentType="application/vnd.openxmlformats-officedocument.presentationml.printerSettings"/>
  <Default Extension="gif" ContentType="image/gif"/>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fourmis arrivées au maximum</c:v>
                </c:pt>
              </c:strCache>
            </c:strRef>
          </c:tx>
          <c:dPt>
            <c:idx val="0"/>
            <c:spPr>
              <a:solidFill>
                <a:srgbClr val="B7C3CC"/>
              </a:solidFill>
            </c:spPr>
          </c:dPt>
          <c:dPt>
            <c:idx val="1"/>
            <c:spPr>
              <a:solidFill>
                <a:srgbClr val="B7C3CC"/>
              </a:solidFill>
            </c:spPr>
          </c:dPt>
          <c:dPt>
            <c:idx val="2"/>
            <c:spPr>
              <a:solidFill>
                <a:srgbClr val="B7C3CC"/>
              </a:solidFill>
            </c:spPr>
          </c:dPt>
          <c:dPt>
            <c:idx val="3"/>
            <c:spPr>
              <a:solidFill>
                <a:srgbClr val="B7C3CC"/>
              </a:solidFill>
            </c:spPr>
          </c:dPt>
          <c:dPt>
            <c:idx val="4"/>
            <c:spPr>
              <a:solidFill>
                <a:srgbClr val="B7C3CC"/>
              </a:solidFill>
            </c:spPr>
          </c:dPt>
          <c:dPt>
            <c:idx val="5"/>
            <c:spPr>
              <a:solidFill>
                <a:srgbClr val="B7C3CC"/>
              </a:solidFill>
            </c:spPr>
          </c:dPt>
          <c:dPt>
            <c:idx val="6"/>
            <c:spPr>
              <a:solidFill>
                <a:srgbClr val="EB6834"/>
              </a:solidFill>
            </c:spPr>
          </c:dPt>
          <c:cat>
            <c:strRef>
              <c:f>Sheet1!$A$2:$A$8</c:f>
              <c:strCache>
                <c:ptCount val="7"/>
                <c:pt idx="0">
                  <c:v>T=5</c:v>
                </c:pt>
                <c:pt idx="1">
                  <c:v>T=6</c:v>
                </c:pt>
                <c:pt idx="2">
                  <c:v>T=7</c:v>
                </c:pt>
                <c:pt idx="3">
                  <c:v>T=8</c:v>
                </c:pt>
                <c:pt idx="4">
                  <c:v>T=9</c:v>
                </c:pt>
                <c:pt idx="5">
                  <c:v>T=10</c:v>
                </c:pt>
                <c:pt idx="6">
                  <c:v>T=11</c:v>
                </c:pt>
              </c:strCache>
            </c:strRef>
          </c:cat>
          <c:val>
            <c:numRef>
              <c:f>Sheet1!$B$2:$B$8</c:f>
              <c:numCache>
                <c:formatCode>General</c:formatCode>
                <c:ptCount val="7"/>
                <c:pt idx="0">
                  <c:v>4</c:v>
                </c:pt>
                <c:pt idx="1">
                  <c:v>12</c:v>
                </c:pt>
                <c:pt idx="2">
                  <c:v>20</c:v>
                </c:pt>
                <c:pt idx="3">
                  <c:v>28</c:v>
                </c:pt>
                <c:pt idx="4">
                  <c:v>36</c:v>
                </c:pt>
                <c:pt idx="5">
                  <c:v>44</c:v>
                </c:pt>
                <c:pt idx="6">
                  <c:v>50</c:v>
                </c:pt>
              </c:numCache>
            </c:numRef>
          </c:val>
        </c:ser>
        <c:dLbls>
          <c:txPr>
            <a:bodyPr/>
            <a:lstStyle/>
            <a:p>
              <a:pPr>
                <a:defRPr sz="1300" b="1">
                  <a:solidFill>
                    <a:srgbClr val="0B1F2A"/>
                  </a:solidFill>
                </a:defRPr>
              </a:pPr>
            </a:p>
          </c:txPr>
          <c:dLblPos val="outEnd"/>
          <c:showLegendKey val="0"/>
          <c:showVal val="1"/>
          <c:showCatName val="0"/>
          <c:showSerName val="0"/>
          <c:showPercent val="0"/>
          <c:showBubbleSize val="0"/>
          <c:showLeaderLines val="1"/>
        </c:dLbls>
        <c:gapWidth val="45"/>
        <c:axId val="-2068027336"/>
        <c:axId val="-2113994440"/>
      </c:barChart>
      <c:catAx>
        <c:axId val="-2068027336"/>
        <c:scaling>
          <c:orientation val="minMax"/>
        </c:scaling>
        <c:delete val="0"/>
        <c:axPos val="b"/>
        <c:majorTickMark val="out"/>
        <c:minorTickMark val="none"/>
        <c:tickLblPos val="nextTo"/>
        <c:spPr>
          <a:ln>
            <a:solidFill>
              <a:srgbClr val="D9DDE1"/>
            </a:solidFill>
          </a:ln>
        </c:spPr>
        <c:txPr>
          <a:bodyPr/>
          <a:lstStyle/>
          <a:p>
            <a:pPr>
              <a:defRPr sz="1200">
                <a:solidFill>
                  <a:srgbClr val="5B636A"/>
                </a:solidFill>
              </a:defRPr>
            </a:pPr>
          </a:p>
        </c:txPr>
        <c:crossAx val="-2113994440"/>
        <c:crosses val="autoZero"/>
        <c:auto val="1"/>
        <c:lblAlgn val="ctr"/>
        <c:lblOffset val="100"/>
        <c:noMultiLvlLbl val="0"/>
      </c:catAx>
      <c:valAx>
        <c:axId val="-2113994440"/>
        <c:scaling>
          <c:max val="62.5"/>
          <c:min val="0.0"/>
        </c:scaling>
        <c:delete/>
        <c:axPos val="l"/>
        <c:majorTickMark val="out"/>
        <c:minorTickMark val="none"/>
        <c:tickLblPos val="nextTo"/>
        <c:crossAx val="-2068027336"/>
        <c:crosses val="autoZero"/>
      </c:valAx>
    </c:plotArea>
    <c:dispBlanksAs val="gap"/>
  </c:chart>
  <c:txPr>
    <a:bodyPr/>
    <a:lstStyle/>
    <a:p>
      <a:pPr>
        <a:defRPr sz="1200">
          <a:latin typeface="Calibri"/>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PROBLÈME — ROMAIN — 40 S</a:t>
            </a:r>
          </a:p>
          <a:p>
            <a:r>
              <a:t>Bonjour, nous sommes Romain, Lisa et Yannis. Le soir, toute la colonie attend dans le vestibule, Sv, et doit rejoindre le dortoir, Sd, le plus vite possible.</a:t>
            </a:r>
          </a:p>
          <a:p>
            <a:r>
              <a:t>Trois règles : les fourmis bougent en même temps ; chaque salle a une capacité limitée, une seule fourmi par défaut ; et on veut le minimum d'étapes, c'est-à-dire que la dernière fourmi arrive le plus tôt possible.</a:t>
            </a:r>
          </a:p>
          <a:p>
            <a:r>
              <a:t>Si toutes les fourmis prennent le plus court chemin, ça bouchonne. Ce n'est pas un problème de chemin : c'est un problème de trafic.</a:t>
            </a:r>
          </a:p>
          <a:p/>
          <a:p>
            <a:r>
              <a:t>Geste : montrer Sv à gauche de l'image, puis Sd à droite, puis les salles cerclées de rouge (pleines).</a:t>
            </a:r>
          </a:p>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 DONNÉES — ROMAIN — 40 S</a:t>
            </a:r>
          </a:p>
          <a:p>
            <a:r>
              <a:t>Voici un vrai fichier officiel : 50 fourmis, 14 salles, 20 tunnels. « S1 accolade 8 » veut dire que S1 accueille 8 fourmis à la fois ; sans accolade, c'est une seule.</a:t>
            </a:r>
          </a:p>
          <a:p>
            <a:r>
              <a:t>On le transforme en graphe : une salle devient un sommet, un tunnel devient une arête. Les tunnels n'ont pas de limite, ce sont les salles qui limitent.</a:t>
            </a:r>
          </a:p>
          <a:p>
            <a:r>
              <a:t>Notre programme lit les neuf fichiers officiels tels qu'ils sont fournis, espaces compris. Lisa va vous expliquer comment on trouve le minimum.</a:t>
            </a:r>
          </a:p>
          <a:p/>
          <a:p>
            <a:r>
              <a:t>Geste : montrer le fichier à gauche, suivre la flèche, puis montrer S1 (capacité 8) sur le graphe.</a:t>
            </a:r>
          </a:p>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COMMENT L'ALGORITHME RÉFLÉCHIT — LISA — 55 S</a:t>
            </a:r>
          </a:p>
          <a:p>
            <a:r>
              <a:t>D'abord un BFS, un parcours en largeur : il donne la distance minimale d entre Sv et Sd. Aucune fourmi ne peut arriver avant d étapes.</a:t>
            </a:r>
          </a:p>
          <a:p>
            <a:r>
              <a:t>Ensuite, on ne cherche pas un chemin : on pose une question. En T étapes, est-ce que les 50 fourmis peuvent passer ?</a:t>
            </a:r>
          </a:p>
          <a:p>
            <a:r>
              <a:t>Pour y répondre, on déplie le graphe dans le temps : une copie de chaque salle à chaque instant. Une flèche horizontale, c'est attendre ; une flèche en biais, c'est traverser un tunnel. La capacité d'une salle devient la capacité de sa copie.</a:t>
            </a:r>
          </a:p>
          <a:p>
            <a:r>
              <a:t>Un algorithme de flot maximal compte combien de fourmis peuvent arriver. Sur le graphique : 4 fourmis en 5 étapes, 12 en 6… et 50 en 11. Onze, c'est le premier T qui marche, donc c'est le minimum.</a:t>
            </a:r>
          </a:p>
          <a:p/>
          <a:p>
            <a:r>
              <a:t>Geste : suivre une flèche orange sur le graphe déplié, puis montrer la barre orange du graphique.</a:t>
            </a:r>
          </a:p>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VOIR LES FOURMIS CIRCULER — LISA PUIS YANNIS — 55 S</a:t>
            </a:r>
          </a:p>
          <a:p>
            <a:r>
              <a:t>Lisa (35 s). Voici le résultat, étape par étape. Tout le graphe reste affiché, même les tunnels jamais utilisés, en gris. En orange, les fourmis qui se déplacent pendant l'étape, avec leur nombre. Dans chaque salle : occupation sur capacité ; un cercle rouge, c'est une salle pleine. En haut, le compteur d'arrivées. Yannis va vous montrer le bilan.</a:t>
            </a:r>
          </a:p>
          <a:p>
            <a:r>
              <a:t>Yannis (20 s). À droite, le trafic cumulé : plus un tunnel est épais, plus il a servi. On voit que le flot se répartit sur toutes les branches, et que le goulot limite à 8 arrivées par étape.</a:t>
            </a:r>
          </a:p>
          <a:p/>
          <a:p>
            <a:r>
              <a:t>Geste : laisser tourner le GIF une boucle ; montrer une flèche orange et un cercle rouge.</a:t>
            </a:r>
          </a:p>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VALIDATION SUR LES VRAIES DONNÉES — YANNIS — 45 S</a:t>
            </a:r>
          </a:p>
          <a:p>
            <a:r>
              <a:t>Le programme n'a pas été écrit pour un seul exemple : les neuf fichiers officiels sont résolus, de 2 à 100 fourmis, sans aucun réglage.</a:t>
            </a:r>
          </a:p>
          <a:p>
            <a:r>
              <a:t>Chaque solution est vérifiée automatiquement : capacité de chaque salle à chaque instant, tunnels existants, toutes les fourmis dans Sd.</a:t>
            </a:r>
          </a:p>
          <a:p>
            <a:r>
              <a:t>Et pour prouver le minimum, on a comparé notre résultat à une recherche exhaustive de toutes les configurations sur 400 petites fourmilières aléatoires : même nombre d'étapes à chaque fois.</a:t>
            </a:r>
          </a:p>
          <a:p/>
          <a:p>
            <a:r>
              <a:t>Geste : montrer la ligne à 100 fourmis, puis la carte « 400 / 400 ».</a:t>
            </a:r>
          </a:p>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CONCLUSION — YANNIS — 25 S</a:t>
            </a:r>
          </a:p>
          <a:p>
            <a:r>
              <a:t>En résumé : c'est correct, c'est optimal, et c'est visuel.</a:t>
            </a:r>
          </a:p>
          <a:p>
            <a:r>
              <a:t>Le plus court chemin optimise une fourmi. Notre solution optimise toute la colonie.</a:t>
            </a:r>
          </a:p>
          <a:p>
            <a:r>
              <a:t>Merci, nous sommes prêts pour vos questions.</a:t>
            </a:r>
          </a:p>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chart" Target="../charts/char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gif"/><Relationship Id="rId3" Type="http://schemas.openxmlformats.org/officeDocument/2006/relationships/image" Target="../media/image5.png"/><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image" Target="../media/image9.png"/><Relationship Id="rId4" Type="http://schemas.openxmlformats.org/officeDocument/2006/relationships/image" Target="../media/image10.png"/><Relationship Id="rId5" Type="http://schemas.openxmlformats.org/officeDocument/2006/relationships/image" Target="../media/image11.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B1F2A"/>
        </a:solidFill>
        <a:effectLst/>
      </p:bgPr>
    </p:bg>
    <p:spTree>
      <p:nvGrpSpPr>
        <p:cNvPr id="1" name=""/>
        <p:cNvGrpSpPr/>
        <p:nvPr/>
      </p:nvGrpSpPr>
      <p:grpSpPr/>
      <p:sp>
        <p:nvSpPr>
          <p:cNvPr id="2" name="Rounded Rectangle 1"/>
          <p:cNvSpPr/>
          <p:nvPr/>
        </p:nvSpPr>
        <p:spPr>
          <a:xfrm>
            <a:off x="9859975" y="384048"/>
            <a:ext cx="1920240" cy="384048"/>
          </a:xfrm>
          <a:prstGeom prst="roundRect">
            <a:avLst>
              <a:gd name="adj" fmla="val 50000"/>
            </a:avLst>
          </a:prstGeom>
          <a:solidFill>
            <a:srgbClr val="16324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300" b="1">
                <a:solidFill>
                  <a:srgbClr val="C9D4DA"/>
                </a:solidFill>
                <a:latin typeface="Calibri"/>
              </a:rPr>
              <a:t>Romain · 40 s</a:t>
            </a:r>
          </a:p>
        </p:txBody>
      </p:sp>
      <p:sp>
        <p:nvSpPr>
          <p:cNvPr id="3" name="TextBox 2"/>
          <p:cNvSpPr txBox="1"/>
          <p:nvPr/>
        </p:nvSpPr>
        <p:spPr>
          <a:xfrm>
            <a:off x="548640" y="457200"/>
            <a:ext cx="5486400" cy="320040"/>
          </a:xfrm>
          <a:prstGeom prst="rect">
            <a:avLst/>
          </a:prstGeom>
          <a:noFill/>
        </p:spPr>
        <p:txBody>
          <a:bodyPr wrap="square" lIns="0" rIns="0" tIns="0" bIns="0" anchor="t">
            <a:spAutoFit/>
          </a:bodyPr>
          <a:lstStyle/>
          <a:p>
            <a:pPr algn="l">
              <a:lnSpc>
                <a:spcPct val="100000"/>
              </a:lnSpc>
            </a:pPr>
            <a:r>
              <a:rPr sz="1400" b="1" i="0">
                <a:solidFill>
                  <a:srgbClr val="EB6834"/>
                </a:solidFill>
                <a:latin typeface="Calibri"/>
              </a:rPr>
              <a:t>UNE VIE DE FOURMI</a:t>
            </a:r>
          </a:p>
        </p:txBody>
      </p:sp>
      <p:sp>
        <p:nvSpPr>
          <p:cNvPr id="4" name="TextBox 3"/>
          <p:cNvSpPr txBox="1"/>
          <p:nvPr/>
        </p:nvSpPr>
        <p:spPr>
          <a:xfrm>
            <a:off x="548640" y="868680"/>
            <a:ext cx="4846320" cy="1737360"/>
          </a:xfrm>
          <a:prstGeom prst="rect">
            <a:avLst/>
          </a:prstGeom>
          <a:noFill/>
        </p:spPr>
        <p:txBody>
          <a:bodyPr wrap="square" lIns="0" rIns="0" tIns="0" bIns="0" anchor="t">
            <a:spAutoFit/>
          </a:bodyPr>
          <a:lstStyle/>
          <a:p>
            <a:pPr algn="l">
              <a:lnSpc>
                <a:spcPct val="95000"/>
              </a:lnSpc>
            </a:pPr>
            <a:r>
              <a:rPr sz="3800" b="1" i="0">
                <a:solidFill>
                  <a:srgbClr val="FFFFFF"/>
                </a:solidFill>
                <a:latin typeface="Calibri"/>
              </a:rPr>
              <a:t>Faire arriver toute la colonie le plus vite possible</a:t>
            </a:r>
          </a:p>
        </p:txBody>
      </p:sp>
      <p:sp>
        <p:nvSpPr>
          <p:cNvPr id="5" name="Oval 4"/>
          <p:cNvSpPr/>
          <p:nvPr/>
        </p:nvSpPr>
        <p:spPr>
          <a:xfrm>
            <a:off x="548640" y="2880360"/>
            <a:ext cx="457200" cy="457200"/>
          </a:xfrm>
          <a:prstGeom prst="ellipse">
            <a:avLst/>
          </a:prstGeom>
          <a:solidFill>
            <a:srgbClr val="EB683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Calibri"/>
              </a:rPr>
              <a:t>1</a:t>
            </a:r>
          </a:p>
        </p:txBody>
      </p:sp>
      <p:sp>
        <p:nvSpPr>
          <p:cNvPr id="6" name="TextBox 5"/>
          <p:cNvSpPr txBox="1"/>
          <p:nvPr/>
        </p:nvSpPr>
        <p:spPr>
          <a:xfrm>
            <a:off x="1188720" y="2843784"/>
            <a:ext cx="4206240" cy="365760"/>
          </a:xfrm>
          <a:prstGeom prst="rect">
            <a:avLst/>
          </a:prstGeom>
          <a:noFill/>
        </p:spPr>
        <p:txBody>
          <a:bodyPr wrap="square" lIns="0" rIns="0" tIns="0" bIns="0" anchor="t">
            <a:spAutoFit/>
          </a:bodyPr>
          <a:lstStyle/>
          <a:p>
            <a:pPr algn="l">
              <a:lnSpc>
                <a:spcPct val="100000"/>
              </a:lnSpc>
            </a:pPr>
            <a:r>
              <a:rPr sz="2000" b="1" i="0">
                <a:solidFill>
                  <a:srgbClr val="FFFFFF"/>
                </a:solidFill>
                <a:latin typeface="Calibri"/>
              </a:rPr>
              <a:t>Plusieurs fourmis en parallèle</a:t>
            </a:r>
          </a:p>
        </p:txBody>
      </p:sp>
      <p:sp>
        <p:nvSpPr>
          <p:cNvPr id="7" name="TextBox 6"/>
          <p:cNvSpPr txBox="1"/>
          <p:nvPr/>
        </p:nvSpPr>
        <p:spPr>
          <a:xfrm>
            <a:off x="1188720" y="3209544"/>
            <a:ext cx="4206240" cy="320040"/>
          </a:xfrm>
          <a:prstGeom prst="rect">
            <a:avLst/>
          </a:prstGeom>
          <a:noFill/>
        </p:spPr>
        <p:txBody>
          <a:bodyPr wrap="square" lIns="0" rIns="0" tIns="0" bIns="0" anchor="t">
            <a:spAutoFit/>
          </a:bodyPr>
          <a:lstStyle/>
          <a:p>
            <a:pPr algn="l">
              <a:lnSpc>
                <a:spcPct val="100000"/>
              </a:lnSpc>
            </a:pPr>
            <a:r>
              <a:rPr sz="1400" b="0" i="0">
                <a:solidFill>
                  <a:srgbClr val="C9D4DA"/>
                </a:solidFill>
                <a:latin typeface="Calibri"/>
              </a:rPr>
              <a:t>toutes partent de Sv, toutes doivent finir dans Sd</a:t>
            </a:r>
          </a:p>
        </p:txBody>
      </p:sp>
      <p:sp>
        <p:nvSpPr>
          <p:cNvPr id="8" name="Oval 7"/>
          <p:cNvSpPr/>
          <p:nvPr/>
        </p:nvSpPr>
        <p:spPr>
          <a:xfrm>
            <a:off x="548640" y="3749040"/>
            <a:ext cx="457200" cy="457200"/>
          </a:xfrm>
          <a:prstGeom prst="ellipse">
            <a:avLst/>
          </a:prstGeom>
          <a:solidFill>
            <a:srgbClr val="EB683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Calibri"/>
              </a:rPr>
              <a:t>2</a:t>
            </a:r>
          </a:p>
        </p:txBody>
      </p:sp>
      <p:sp>
        <p:nvSpPr>
          <p:cNvPr id="9" name="TextBox 8"/>
          <p:cNvSpPr txBox="1"/>
          <p:nvPr/>
        </p:nvSpPr>
        <p:spPr>
          <a:xfrm>
            <a:off x="1188720" y="3712464"/>
            <a:ext cx="4206240" cy="365760"/>
          </a:xfrm>
          <a:prstGeom prst="rect">
            <a:avLst/>
          </a:prstGeom>
          <a:noFill/>
        </p:spPr>
        <p:txBody>
          <a:bodyPr wrap="square" lIns="0" rIns="0" tIns="0" bIns="0" anchor="t">
            <a:spAutoFit/>
          </a:bodyPr>
          <a:lstStyle/>
          <a:p>
            <a:pPr algn="l">
              <a:lnSpc>
                <a:spcPct val="100000"/>
              </a:lnSpc>
            </a:pPr>
            <a:r>
              <a:rPr sz="2000" b="1" i="0">
                <a:solidFill>
                  <a:srgbClr val="FFFFFF"/>
                </a:solidFill>
                <a:latin typeface="Calibri"/>
              </a:rPr>
              <a:t>Salles à capacité limitée</a:t>
            </a:r>
          </a:p>
        </p:txBody>
      </p:sp>
      <p:sp>
        <p:nvSpPr>
          <p:cNvPr id="10" name="TextBox 9"/>
          <p:cNvSpPr txBox="1"/>
          <p:nvPr/>
        </p:nvSpPr>
        <p:spPr>
          <a:xfrm>
            <a:off x="1188720" y="4078224"/>
            <a:ext cx="4206240" cy="320040"/>
          </a:xfrm>
          <a:prstGeom prst="rect">
            <a:avLst/>
          </a:prstGeom>
          <a:noFill/>
        </p:spPr>
        <p:txBody>
          <a:bodyPr wrap="square" lIns="0" rIns="0" tIns="0" bIns="0" anchor="t">
            <a:spAutoFit/>
          </a:bodyPr>
          <a:lstStyle/>
          <a:p>
            <a:pPr algn="l">
              <a:lnSpc>
                <a:spcPct val="100000"/>
              </a:lnSpc>
            </a:pPr>
            <a:r>
              <a:rPr sz="1400" b="0" i="0">
                <a:solidFill>
                  <a:srgbClr val="C9D4DA"/>
                </a:solidFill>
                <a:latin typeface="Calibri"/>
              </a:rPr>
              <a:t>1 fourmi par défaut, X pour une salle SN{X}</a:t>
            </a:r>
          </a:p>
        </p:txBody>
      </p:sp>
      <p:sp>
        <p:nvSpPr>
          <p:cNvPr id="11" name="Oval 10"/>
          <p:cNvSpPr/>
          <p:nvPr/>
        </p:nvSpPr>
        <p:spPr>
          <a:xfrm>
            <a:off x="548640" y="4617720"/>
            <a:ext cx="457200" cy="457200"/>
          </a:xfrm>
          <a:prstGeom prst="ellipse">
            <a:avLst/>
          </a:prstGeom>
          <a:solidFill>
            <a:srgbClr val="EB683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Calibri"/>
              </a:rPr>
              <a:t>3</a:t>
            </a:r>
          </a:p>
        </p:txBody>
      </p:sp>
      <p:sp>
        <p:nvSpPr>
          <p:cNvPr id="12" name="TextBox 11"/>
          <p:cNvSpPr txBox="1"/>
          <p:nvPr/>
        </p:nvSpPr>
        <p:spPr>
          <a:xfrm>
            <a:off x="1188720" y="4581144"/>
            <a:ext cx="4206240" cy="365760"/>
          </a:xfrm>
          <a:prstGeom prst="rect">
            <a:avLst/>
          </a:prstGeom>
          <a:noFill/>
        </p:spPr>
        <p:txBody>
          <a:bodyPr wrap="square" lIns="0" rIns="0" tIns="0" bIns="0" anchor="t">
            <a:spAutoFit/>
          </a:bodyPr>
          <a:lstStyle/>
          <a:p>
            <a:pPr algn="l">
              <a:lnSpc>
                <a:spcPct val="100000"/>
              </a:lnSpc>
            </a:pPr>
            <a:r>
              <a:rPr sz="2000" b="1" i="0">
                <a:solidFill>
                  <a:srgbClr val="FFFFFF"/>
                </a:solidFill>
                <a:latin typeface="Calibri"/>
              </a:rPr>
              <a:t>Minimum d'étapes</a:t>
            </a:r>
          </a:p>
        </p:txBody>
      </p:sp>
      <p:sp>
        <p:nvSpPr>
          <p:cNvPr id="13" name="TextBox 12"/>
          <p:cNvSpPr txBox="1"/>
          <p:nvPr/>
        </p:nvSpPr>
        <p:spPr>
          <a:xfrm>
            <a:off x="1188720" y="4946904"/>
            <a:ext cx="4206240" cy="320040"/>
          </a:xfrm>
          <a:prstGeom prst="rect">
            <a:avLst/>
          </a:prstGeom>
          <a:noFill/>
        </p:spPr>
        <p:txBody>
          <a:bodyPr wrap="square" lIns="0" rIns="0" tIns="0" bIns="0" anchor="t">
            <a:spAutoFit/>
          </a:bodyPr>
          <a:lstStyle/>
          <a:p>
            <a:pPr algn="l">
              <a:lnSpc>
                <a:spcPct val="100000"/>
              </a:lnSpc>
            </a:pPr>
            <a:r>
              <a:rPr sz="1400" b="0" i="0">
                <a:solidFill>
                  <a:srgbClr val="C9D4DA"/>
                </a:solidFill>
                <a:latin typeface="Calibri"/>
              </a:rPr>
              <a:t>c'est l'arrivée de la dernière fourmi qui compte</a:t>
            </a:r>
          </a:p>
        </p:txBody>
      </p:sp>
      <p:sp>
        <p:nvSpPr>
          <p:cNvPr id="14" name="TextBox 13"/>
          <p:cNvSpPr txBox="1"/>
          <p:nvPr/>
        </p:nvSpPr>
        <p:spPr>
          <a:xfrm>
            <a:off x="548640" y="5669280"/>
            <a:ext cx="5120640" cy="731520"/>
          </a:xfrm>
          <a:prstGeom prst="rect">
            <a:avLst/>
          </a:prstGeom>
          <a:noFill/>
        </p:spPr>
        <p:txBody>
          <a:bodyPr wrap="square" lIns="0" rIns="0" tIns="0" bIns="0" anchor="t">
            <a:spAutoFit/>
          </a:bodyPr>
          <a:lstStyle/>
          <a:p>
            <a:pPr algn="l">
              <a:lnSpc>
                <a:spcPct val="100000"/>
              </a:lnSpc>
            </a:pPr>
            <a:r>
              <a:rPr sz="1900" b="0" i="1">
                <a:solidFill>
                  <a:srgbClr val="FFFFFF"/>
                </a:solidFill>
                <a:latin typeface="Calibri"/>
              </a:rPr>
              <a:t>Ce n'est pas un problème de chemin.</a:t>
            </a:r>
          </a:p>
          <a:p>
            <a:pPr algn="l">
              <a:lnSpc>
                <a:spcPct val="100000"/>
              </a:lnSpc>
            </a:pPr>
            <a:r>
              <a:rPr sz="1900" b="1" i="1">
                <a:solidFill>
                  <a:srgbClr val="EB6834"/>
                </a:solidFill>
                <a:latin typeface="Calibri"/>
              </a:rPr>
              <a:t>C'est un problème de trafic.</a:t>
            </a:r>
          </a:p>
        </p:txBody>
      </p:sp>
      <p:sp>
        <p:nvSpPr>
          <p:cNvPr id="15" name="Rounded Rectangle 14"/>
          <p:cNvSpPr/>
          <p:nvPr/>
        </p:nvSpPr>
        <p:spPr>
          <a:xfrm>
            <a:off x="5715000" y="914400"/>
            <a:ext cx="6126480" cy="5074920"/>
          </a:xfrm>
          <a:prstGeom prst="roundRect">
            <a:avLst>
              <a:gd name="adj" fmla="val 8000"/>
            </a:avLst>
          </a:prstGeom>
          <a:solidFill>
            <a:srgbClr val="FCFCF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p>
        </p:txBody>
      </p:sp>
      <p:pic>
        <p:nvPicPr>
          <p:cNvPr id="16" name="Picture 15" descr="hook.png"/>
          <p:cNvPicPr>
            <a:picLocks noChangeAspect="1"/>
          </p:cNvPicPr>
          <p:nvPr/>
        </p:nvPicPr>
        <p:blipFill>
          <a:blip r:embed="rId2"/>
          <a:stretch>
            <a:fillRect/>
          </a:stretch>
        </p:blipFill>
        <p:spPr>
          <a:xfrm>
            <a:off x="5806440" y="1779386"/>
            <a:ext cx="5943600" cy="3344947"/>
          </a:xfrm>
          <a:prstGeom prst="rect">
            <a:avLst/>
          </a:prstGeom>
        </p:spPr>
      </p:pic>
      <p:sp>
        <p:nvSpPr>
          <p:cNvPr id="17" name="TextBox 16"/>
          <p:cNvSpPr txBox="1"/>
          <p:nvPr/>
        </p:nvSpPr>
        <p:spPr>
          <a:xfrm>
            <a:off x="5715000" y="6080760"/>
            <a:ext cx="6126480" cy="320040"/>
          </a:xfrm>
          <a:prstGeom prst="rect">
            <a:avLst/>
          </a:prstGeom>
          <a:noFill/>
        </p:spPr>
        <p:txBody>
          <a:bodyPr wrap="square" lIns="0" rIns="0" tIns="0" bIns="0" anchor="t">
            <a:spAutoFit/>
          </a:bodyPr>
          <a:lstStyle/>
          <a:p>
            <a:pPr algn="ctr">
              <a:lnSpc>
                <a:spcPct val="100000"/>
              </a:lnSpc>
            </a:pPr>
            <a:r>
              <a:rPr sz="1200" b="0" i="0">
                <a:solidFill>
                  <a:srgbClr val="C9D4DA"/>
                </a:solidFill>
                <a:latin typeface="Calibri"/>
              </a:rPr>
              <a:t>Vraie fourmilière officielle (salle_d_at-ant) : 100 fourmis, étape 7 sur 15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9859975" y="384048"/>
            <a:ext cx="1920240" cy="384048"/>
          </a:xfrm>
          <a:prstGeom prst="roundRect">
            <a:avLst>
              <a:gd name="adj" fmla="val 50000"/>
            </a:avLst>
          </a:prstGeom>
          <a:solidFill>
            <a:srgbClr val="F3F5F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300" b="1">
                <a:solidFill>
                  <a:srgbClr val="5B636A"/>
                </a:solidFill>
                <a:latin typeface="Calibri"/>
              </a:rPr>
              <a:t>Romain · 40 s</a:t>
            </a:r>
          </a:p>
        </p:txBody>
      </p:sp>
      <p:sp>
        <p:nvSpPr>
          <p:cNvPr id="3" name="TextBox 2"/>
          <p:cNvSpPr txBox="1"/>
          <p:nvPr/>
        </p:nvSpPr>
        <p:spPr>
          <a:xfrm>
            <a:off x="548640" y="347472"/>
            <a:ext cx="9326880" cy="731520"/>
          </a:xfrm>
          <a:prstGeom prst="rect">
            <a:avLst/>
          </a:prstGeom>
          <a:noFill/>
        </p:spPr>
        <p:txBody>
          <a:bodyPr wrap="square" lIns="0" rIns="0" tIns="0" bIns="0" anchor="t">
            <a:spAutoFit/>
          </a:bodyPr>
          <a:lstStyle/>
          <a:p>
            <a:pPr algn="l">
              <a:lnSpc>
                <a:spcPct val="100000"/>
              </a:lnSpc>
            </a:pPr>
            <a:r>
              <a:rPr sz="3600" b="1" i="0">
                <a:solidFill>
                  <a:srgbClr val="0B1F2A"/>
                </a:solidFill>
                <a:latin typeface="Calibri"/>
              </a:rPr>
              <a:t>Un fichier officiel devient un graphe</a:t>
            </a:r>
          </a:p>
        </p:txBody>
      </p:sp>
      <p:sp>
        <p:nvSpPr>
          <p:cNvPr id="4" name="TextBox 3"/>
          <p:cNvSpPr txBox="1"/>
          <p:nvPr/>
        </p:nvSpPr>
        <p:spPr>
          <a:xfrm>
            <a:off x="548640" y="1024128"/>
            <a:ext cx="9326880" cy="411480"/>
          </a:xfrm>
          <a:prstGeom prst="rect">
            <a:avLst/>
          </a:prstGeom>
          <a:noFill/>
        </p:spPr>
        <p:txBody>
          <a:bodyPr wrap="square" lIns="0" rIns="0" tIns="0" bIns="0" anchor="t">
            <a:spAutoFit/>
          </a:bodyPr>
          <a:lstStyle/>
          <a:p>
            <a:pPr algn="l">
              <a:lnSpc>
                <a:spcPct val="100000"/>
              </a:lnSpc>
            </a:pPr>
            <a:r>
              <a:rPr sz="1700" b="0" i="0">
                <a:solidFill>
                  <a:srgbClr val="5B636A"/>
                </a:solidFill>
                <a:latin typeface="Calibri"/>
              </a:rPr>
              <a:t>fourmiliere_cinq.txt, tel qu'il est fourni par le sujet</a:t>
            </a:r>
          </a:p>
        </p:txBody>
      </p:sp>
      <p:sp>
        <p:nvSpPr>
          <p:cNvPr id="5" name="Rounded Rectangle 4"/>
          <p:cNvSpPr/>
          <p:nvPr/>
        </p:nvSpPr>
        <p:spPr>
          <a:xfrm>
            <a:off x="548640" y="1600200"/>
            <a:ext cx="2103120" cy="2743200"/>
          </a:xfrm>
          <a:prstGeom prst="roundRect">
            <a:avLst>
              <a:gd name="adj" fmla="val 8000"/>
            </a:avLst>
          </a:prstGeom>
          <a:solidFill>
            <a:srgbClr val="0B1F2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p>
        </p:txBody>
      </p:sp>
      <p:sp>
        <p:nvSpPr>
          <p:cNvPr id="6" name="TextBox 5"/>
          <p:cNvSpPr txBox="1"/>
          <p:nvPr/>
        </p:nvSpPr>
        <p:spPr>
          <a:xfrm>
            <a:off x="731520" y="1737360"/>
            <a:ext cx="1828800" cy="3017520"/>
          </a:xfrm>
          <a:prstGeom prst="rect">
            <a:avLst/>
          </a:prstGeom>
          <a:noFill/>
        </p:spPr>
        <p:txBody>
          <a:bodyPr wrap="square" lIns="0" rIns="0" tIns="0" bIns="0" anchor="t">
            <a:spAutoFit/>
          </a:bodyPr>
          <a:lstStyle/>
          <a:p>
            <a:pPr algn="l">
              <a:lnSpc>
                <a:spcPct val="105000"/>
              </a:lnSpc>
            </a:pPr>
            <a:r>
              <a:rPr sz="1500" b="0" i="0">
                <a:solidFill>
                  <a:srgbClr val="FFFFFF"/>
                </a:solidFill>
                <a:latin typeface="Consolas"/>
              </a:rPr>
              <a:t>f=50</a:t>
            </a:r>
          </a:p>
          <a:p>
            <a:pPr algn="l">
              <a:lnSpc>
                <a:spcPct val="105000"/>
              </a:lnSpc>
            </a:pPr>
            <a:r>
              <a:rPr sz="1500" b="0" i="0">
                <a:solidFill>
                  <a:srgbClr val="FFFFFF"/>
                </a:solidFill>
                <a:latin typeface="Consolas"/>
              </a:rPr>
              <a:t>S1 { 8 }</a:t>
            </a:r>
          </a:p>
          <a:p>
            <a:pPr algn="l">
              <a:lnSpc>
                <a:spcPct val="105000"/>
              </a:lnSpc>
            </a:pPr>
            <a:r>
              <a:rPr sz="1500" b="0" i="0">
                <a:solidFill>
                  <a:srgbClr val="FFFFFF"/>
                </a:solidFill>
                <a:latin typeface="Consolas"/>
              </a:rPr>
              <a:t>S2 { 4 }</a:t>
            </a:r>
          </a:p>
          <a:p>
            <a:pPr algn="l">
              <a:lnSpc>
                <a:spcPct val="105000"/>
              </a:lnSpc>
            </a:pPr>
            <a:r>
              <a:rPr sz="1500" b="0" i="0">
                <a:solidFill>
                  <a:srgbClr val="FFFFFF"/>
                </a:solidFill>
                <a:latin typeface="Consolas"/>
              </a:rPr>
              <a:t>S9</a:t>
            </a:r>
          </a:p>
          <a:p>
            <a:pPr algn="l">
              <a:lnSpc>
                <a:spcPct val="105000"/>
              </a:lnSpc>
            </a:pPr>
            <a:r>
              <a:rPr sz="1500" b="0" i="0">
                <a:solidFill>
                  <a:srgbClr val="FFFFFF"/>
                </a:solidFill>
                <a:latin typeface="Consolas"/>
              </a:rPr>
              <a:t>…</a:t>
            </a:r>
          </a:p>
          <a:p>
            <a:pPr algn="l">
              <a:lnSpc>
                <a:spcPct val="105000"/>
              </a:lnSpc>
            </a:pPr>
            <a:r>
              <a:rPr sz="1500" b="0" i="0">
                <a:solidFill>
                  <a:srgbClr val="FFFFFF"/>
                </a:solidFill>
                <a:latin typeface="Consolas"/>
              </a:rPr>
              <a:t>S1 - S2</a:t>
            </a:r>
          </a:p>
          <a:p>
            <a:pPr algn="l">
              <a:lnSpc>
                <a:spcPct val="105000"/>
              </a:lnSpc>
            </a:pPr>
            <a:r>
              <a:rPr sz="1500" b="0" i="0">
                <a:solidFill>
                  <a:srgbClr val="FFFFFF"/>
                </a:solidFill>
                <a:latin typeface="Consolas"/>
              </a:rPr>
              <a:t>Sv - S1</a:t>
            </a:r>
          </a:p>
          <a:p>
            <a:pPr algn="l">
              <a:lnSpc>
                <a:spcPct val="105000"/>
              </a:lnSpc>
            </a:pPr>
            <a:r>
              <a:rPr sz="1500" b="0" i="0">
                <a:solidFill>
                  <a:srgbClr val="FFFFFF"/>
                </a:solidFill>
                <a:latin typeface="Consolas"/>
              </a:rPr>
              <a:t>S13 - Sd</a:t>
            </a:r>
          </a:p>
          <a:p>
            <a:pPr algn="l">
              <a:lnSpc>
                <a:spcPct val="105000"/>
              </a:lnSpc>
            </a:pPr>
            <a:r>
              <a:rPr sz="1500" b="0" i="0">
                <a:solidFill>
                  <a:srgbClr val="FFFFFF"/>
                </a:solidFill>
                <a:latin typeface="Consolas"/>
              </a:rPr>
              <a:t>…</a:t>
            </a:r>
          </a:p>
        </p:txBody>
      </p:sp>
      <p:sp>
        <p:nvSpPr>
          <p:cNvPr id="7" name="TextBox 6"/>
          <p:cNvSpPr txBox="1"/>
          <p:nvPr/>
        </p:nvSpPr>
        <p:spPr>
          <a:xfrm>
            <a:off x="548640" y="4617720"/>
            <a:ext cx="1097280" cy="411480"/>
          </a:xfrm>
          <a:prstGeom prst="rect">
            <a:avLst/>
          </a:prstGeom>
          <a:noFill/>
        </p:spPr>
        <p:txBody>
          <a:bodyPr wrap="square" lIns="0" rIns="0" tIns="0" bIns="0" anchor="t">
            <a:spAutoFit/>
          </a:bodyPr>
          <a:lstStyle/>
          <a:p>
            <a:pPr algn="l">
              <a:lnSpc>
                <a:spcPct val="100000"/>
              </a:lnSpc>
            </a:pPr>
            <a:r>
              <a:rPr sz="2400" b="1" i="0">
                <a:solidFill>
                  <a:srgbClr val="EB6834"/>
                </a:solidFill>
                <a:latin typeface="Calibri"/>
              </a:rPr>
              <a:t>50</a:t>
            </a:r>
          </a:p>
        </p:txBody>
      </p:sp>
      <p:sp>
        <p:nvSpPr>
          <p:cNvPr id="8" name="TextBox 7"/>
          <p:cNvSpPr txBox="1"/>
          <p:nvPr/>
        </p:nvSpPr>
        <p:spPr>
          <a:xfrm>
            <a:off x="548640" y="5001768"/>
            <a:ext cx="1097280" cy="274320"/>
          </a:xfrm>
          <a:prstGeom prst="rect">
            <a:avLst/>
          </a:prstGeom>
          <a:noFill/>
        </p:spPr>
        <p:txBody>
          <a:bodyPr wrap="square" lIns="0" rIns="0" tIns="0" bIns="0" anchor="t">
            <a:spAutoFit/>
          </a:bodyPr>
          <a:lstStyle/>
          <a:p>
            <a:pPr algn="l">
              <a:lnSpc>
                <a:spcPct val="100000"/>
              </a:lnSpc>
            </a:pPr>
            <a:r>
              <a:rPr sz="1200" b="0" i="0">
                <a:solidFill>
                  <a:srgbClr val="5B636A"/>
                </a:solidFill>
                <a:latin typeface="Calibri"/>
              </a:rPr>
              <a:t>fourmis</a:t>
            </a:r>
          </a:p>
        </p:txBody>
      </p:sp>
      <p:sp>
        <p:nvSpPr>
          <p:cNvPr id="9" name="TextBox 8"/>
          <p:cNvSpPr txBox="1"/>
          <p:nvPr/>
        </p:nvSpPr>
        <p:spPr>
          <a:xfrm>
            <a:off x="1645920" y="4617720"/>
            <a:ext cx="1097280" cy="411480"/>
          </a:xfrm>
          <a:prstGeom prst="rect">
            <a:avLst/>
          </a:prstGeom>
          <a:noFill/>
        </p:spPr>
        <p:txBody>
          <a:bodyPr wrap="square" lIns="0" rIns="0" tIns="0" bIns="0" anchor="t">
            <a:spAutoFit/>
          </a:bodyPr>
          <a:lstStyle/>
          <a:p>
            <a:pPr algn="l">
              <a:lnSpc>
                <a:spcPct val="100000"/>
              </a:lnSpc>
            </a:pPr>
            <a:r>
              <a:rPr sz="2400" b="1" i="0">
                <a:solidFill>
                  <a:srgbClr val="EB6834"/>
                </a:solidFill>
                <a:latin typeface="Calibri"/>
              </a:rPr>
              <a:t>14</a:t>
            </a:r>
          </a:p>
        </p:txBody>
      </p:sp>
      <p:sp>
        <p:nvSpPr>
          <p:cNvPr id="10" name="TextBox 9"/>
          <p:cNvSpPr txBox="1"/>
          <p:nvPr/>
        </p:nvSpPr>
        <p:spPr>
          <a:xfrm>
            <a:off x="1645920" y="5001768"/>
            <a:ext cx="1097280" cy="274320"/>
          </a:xfrm>
          <a:prstGeom prst="rect">
            <a:avLst/>
          </a:prstGeom>
          <a:noFill/>
        </p:spPr>
        <p:txBody>
          <a:bodyPr wrap="square" lIns="0" rIns="0" tIns="0" bIns="0" anchor="t">
            <a:spAutoFit/>
          </a:bodyPr>
          <a:lstStyle/>
          <a:p>
            <a:pPr algn="l">
              <a:lnSpc>
                <a:spcPct val="100000"/>
              </a:lnSpc>
            </a:pPr>
            <a:r>
              <a:rPr sz="1200" b="0" i="0">
                <a:solidFill>
                  <a:srgbClr val="5B636A"/>
                </a:solidFill>
                <a:latin typeface="Calibri"/>
              </a:rPr>
              <a:t>salles</a:t>
            </a:r>
          </a:p>
        </p:txBody>
      </p:sp>
      <p:sp>
        <p:nvSpPr>
          <p:cNvPr id="11" name="TextBox 10"/>
          <p:cNvSpPr txBox="1"/>
          <p:nvPr/>
        </p:nvSpPr>
        <p:spPr>
          <a:xfrm>
            <a:off x="548640" y="5349240"/>
            <a:ext cx="1097280" cy="411480"/>
          </a:xfrm>
          <a:prstGeom prst="rect">
            <a:avLst/>
          </a:prstGeom>
          <a:noFill/>
        </p:spPr>
        <p:txBody>
          <a:bodyPr wrap="square" lIns="0" rIns="0" tIns="0" bIns="0" anchor="t">
            <a:spAutoFit/>
          </a:bodyPr>
          <a:lstStyle/>
          <a:p>
            <a:pPr algn="l">
              <a:lnSpc>
                <a:spcPct val="100000"/>
              </a:lnSpc>
            </a:pPr>
            <a:r>
              <a:rPr sz="2400" b="1" i="0">
                <a:solidFill>
                  <a:srgbClr val="EB6834"/>
                </a:solidFill>
                <a:latin typeface="Calibri"/>
              </a:rPr>
              <a:t>20</a:t>
            </a:r>
          </a:p>
        </p:txBody>
      </p:sp>
      <p:sp>
        <p:nvSpPr>
          <p:cNvPr id="12" name="TextBox 11"/>
          <p:cNvSpPr txBox="1"/>
          <p:nvPr/>
        </p:nvSpPr>
        <p:spPr>
          <a:xfrm>
            <a:off x="548640" y="5733288"/>
            <a:ext cx="1097280" cy="274320"/>
          </a:xfrm>
          <a:prstGeom prst="rect">
            <a:avLst/>
          </a:prstGeom>
          <a:noFill/>
        </p:spPr>
        <p:txBody>
          <a:bodyPr wrap="square" lIns="0" rIns="0" tIns="0" bIns="0" anchor="t">
            <a:spAutoFit/>
          </a:bodyPr>
          <a:lstStyle/>
          <a:p>
            <a:pPr algn="l">
              <a:lnSpc>
                <a:spcPct val="100000"/>
              </a:lnSpc>
            </a:pPr>
            <a:r>
              <a:rPr sz="1200" b="0" i="0">
                <a:solidFill>
                  <a:srgbClr val="5B636A"/>
                </a:solidFill>
                <a:latin typeface="Calibri"/>
              </a:rPr>
              <a:t>tunnels</a:t>
            </a:r>
          </a:p>
        </p:txBody>
      </p:sp>
      <p:sp>
        <p:nvSpPr>
          <p:cNvPr id="13" name="TextBox 12"/>
          <p:cNvSpPr txBox="1"/>
          <p:nvPr/>
        </p:nvSpPr>
        <p:spPr>
          <a:xfrm>
            <a:off x="1645920" y="5349240"/>
            <a:ext cx="1097280" cy="411480"/>
          </a:xfrm>
          <a:prstGeom prst="rect">
            <a:avLst/>
          </a:prstGeom>
          <a:noFill/>
        </p:spPr>
        <p:txBody>
          <a:bodyPr wrap="square" lIns="0" rIns="0" tIns="0" bIns="0" anchor="t">
            <a:spAutoFit/>
          </a:bodyPr>
          <a:lstStyle/>
          <a:p>
            <a:pPr algn="l">
              <a:lnSpc>
                <a:spcPct val="100000"/>
              </a:lnSpc>
            </a:pPr>
            <a:r>
              <a:rPr sz="2400" b="1" i="0">
                <a:solidFill>
                  <a:srgbClr val="EB6834"/>
                </a:solidFill>
                <a:latin typeface="Calibri"/>
              </a:rPr>
              <a:t>1 à 8</a:t>
            </a:r>
          </a:p>
        </p:txBody>
      </p:sp>
      <p:sp>
        <p:nvSpPr>
          <p:cNvPr id="14" name="TextBox 13"/>
          <p:cNvSpPr txBox="1"/>
          <p:nvPr/>
        </p:nvSpPr>
        <p:spPr>
          <a:xfrm>
            <a:off x="1645920" y="5733288"/>
            <a:ext cx="1097280" cy="274320"/>
          </a:xfrm>
          <a:prstGeom prst="rect">
            <a:avLst/>
          </a:prstGeom>
          <a:noFill/>
        </p:spPr>
        <p:txBody>
          <a:bodyPr wrap="square" lIns="0" rIns="0" tIns="0" bIns="0" anchor="t">
            <a:spAutoFit/>
          </a:bodyPr>
          <a:lstStyle/>
          <a:p>
            <a:pPr algn="l">
              <a:lnSpc>
                <a:spcPct val="100000"/>
              </a:lnSpc>
            </a:pPr>
            <a:r>
              <a:rPr sz="1200" b="0" i="0">
                <a:solidFill>
                  <a:srgbClr val="5B636A"/>
                </a:solidFill>
                <a:latin typeface="Calibri"/>
              </a:rPr>
              <a:t>capacités</a:t>
            </a:r>
          </a:p>
        </p:txBody>
      </p:sp>
      <p:cxnSp>
        <p:nvCxnSpPr>
          <p:cNvPr id="15" name="Connector 14"/>
          <p:cNvCxnSpPr/>
          <p:nvPr/>
        </p:nvCxnSpPr>
        <p:spPr>
          <a:xfrm>
            <a:off x="2743200" y="3200400"/>
            <a:ext cx="411480" cy="0"/>
          </a:xfrm>
          <a:prstGeom prst="line">
            <a:avLst/>
          </a:prstGeom>
          <a:ln w="38100">
            <a:solidFill>
              <a:srgbClr val="EB6834"/>
            </a:solidFill>
            <a:tailEnd type="triangle" w="med" len="med"/>
          </a:ln>
        </p:spPr>
        <p:style>
          <a:lnRef idx="2">
            <a:schemeClr val="accent1"/>
          </a:lnRef>
          <a:fillRef idx="0">
            <a:schemeClr val="accent1"/>
          </a:fillRef>
          <a:effectRef idx="1">
            <a:schemeClr val="accent1"/>
          </a:effectRef>
          <a:fontRef idx="minor">
            <a:schemeClr val="tx1"/>
          </a:fontRef>
        </p:style>
      </p:cxnSp>
      <p:pic>
        <p:nvPicPr>
          <p:cNvPr id="16" name="Picture 15" descr="demo_graphe.png"/>
          <p:cNvPicPr>
            <a:picLocks noChangeAspect="1"/>
          </p:cNvPicPr>
          <p:nvPr/>
        </p:nvPicPr>
        <p:blipFill>
          <a:blip r:embed="rId2"/>
          <a:stretch>
            <a:fillRect/>
          </a:stretch>
        </p:blipFill>
        <p:spPr>
          <a:xfrm>
            <a:off x="3389555" y="1417320"/>
            <a:ext cx="8125609" cy="4572000"/>
          </a:xfrm>
          <a:prstGeom prst="rect">
            <a:avLst/>
          </a:prstGeom>
        </p:spPr>
      </p:pic>
      <p:sp>
        <p:nvSpPr>
          <p:cNvPr id="17" name="TextBox 16"/>
          <p:cNvSpPr txBox="1"/>
          <p:nvPr/>
        </p:nvSpPr>
        <p:spPr>
          <a:xfrm>
            <a:off x="3566160" y="6053328"/>
            <a:ext cx="2743200" cy="320040"/>
          </a:xfrm>
          <a:prstGeom prst="rect">
            <a:avLst/>
          </a:prstGeom>
          <a:noFill/>
        </p:spPr>
        <p:txBody>
          <a:bodyPr wrap="square" lIns="0" rIns="0" tIns="0" bIns="0" anchor="t">
            <a:spAutoFit/>
          </a:bodyPr>
          <a:lstStyle/>
          <a:p>
            <a:pPr algn="l">
              <a:lnSpc>
                <a:spcPct val="100000"/>
              </a:lnSpc>
            </a:pPr>
            <a:r>
              <a:rPr sz="1500" b="1" i="0">
                <a:solidFill>
                  <a:srgbClr val="0B1F2A"/>
                </a:solidFill>
                <a:latin typeface="Calibri"/>
              </a:rPr>
              <a:t>salle </a:t>
            </a:r>
            <a:r>
              <a:rPr sz="1500" b="0" i="0">
                <a:solidFill>
                  <a:srgbClr val="5B636A"/>
                </a:solidFill>
                <a:latin typeface="Calibri"/>
              </a:rPr>
              <a:t>= sommet</a:t>
            </a:r>
          </a:p>
        </p:txBody>
      </p:sp>
      <p:sp>
        <p:nvSpPr>
          <p:cNvPr id="18" name="TextBox 17"/>
          <p:cNvSpPr txBox="1"/>
          <p:nvPr/>
        </p:nvSpPr>
        <p:spPr>
          <a:xfrm>
            <a:off x="5897880" y="6053328"/>
            <a:ext cx="2743200" cy="320040"/>
          </a:xfrm>
          <a:prstGeom prst="rect">
            <a:avLst/>
          </a:prstGeom>
          <a:noFill/>
        </p:spPr>
        <p:txBody>
          <a:bodyPr wrap="square" lIns="0" rIns="0" tIns="0" bIns="0" anchor="t">
            <a:spAutoFit/>
          </a:bodyPr>
          <a:lstStyle/>
          <a:p>
            <a:pPr algn="l">
              <a:lnSpc>
                <a:spcPct val="100000"/>
              </a:lnSpc>
            </a:pPr>
            <a:r>
              <a:rPr sz="1500" b="1" i="0">
                <a:solidFill>
                  <a:srgbClr val="0B1F2A"/>
                </a:solidFill>
                <a:latin typeface="Calibri"/>
              </a:rPr>
              <a:t>tunnel </a:t>
            </a:r>
            <a:r>
              <a:rPr sz="1500" b="0" i="0">
                <a:solidFill>
                  <a:srgbClr val="5B636A"/>
                </a:solidFill>
                <a:latin typeface="Calibri"/>
              </a:rPr>
              <a:t>= arête</a:t>
            </a:r>
          </a:p>
        </p:txBody>
      </p:sp>
      <p:sp>
        <p:nvSpPr>
          <p:cNvPr id="19" name="TextBox 18"/>
          <p:cNvSpPr txBox="1"/>
          <p:nvPr/>
        </p:nvSpPr>
        <p:spPr>
          <a:xfrm>
            <a:off x="8229600" y="6053328"/>
            <a:ext cx="2743200" cy="320040"/>
          </a:xfrm>
          <a:prstGeom prst="rect">
            <a:avLst/>
          </a:prstGeom>
          <a:noFill/>
        </p:spPr>
        <p:txBody>
          <a:bodyPr wrap="square" lIns="0" rIns="0" tIns="0" bIns="0" anchor="t">
            <a:spAutoFit/>
          </a:bodyPr>
          <a:lstStyle/>
          <a:p>
            <a:pPr algn="l">
              <a:lnSpc>
                <a:spcPct val="100000"/>
              </a:lnSpc>
            </a:pPr>
            <a:r>
              <a:rPr sz="1500" b="1" i="0">
                <a:solidFill>
                  <a:srgbClr val="0B1F2A"/>
                </a:solidFill>
                <a:latin typeface="Calibri"/>
              </a:rPr>
              <a:t>S1 { 8 } </a:t>
            </a:r>
            <a:r>
              <a:rPr sz="1500" b="0" i="0">
                <a:solidFill>
                  <a:srgbClr val="5B636A"/>
                </a:solidFill>
                <a:latin typeface="Calibri"/>
              </a:rPr>
              <a:t>= 8 fourmis à la fois</a:t>
            </a:r>
          </a:p>
        </p:txBody>
      </p:sp>
      <p:sp>
        <p:nvSpPr>
          <p:cNvPr id="20" name="TextBox 19"/>
          <p:cNvSpPr txBox="1"/>
          <p:nvPr/>
        </p:nvSpPr>
        <p:spPr>
          <a:xfrm>
            <a:off x="548640" y="6473952"/>
            <a:ext cx="5486400" cy="274320"/>
          </a:xfrm>
          <a:prstGeom prst="rect">
            <a:avLst/>
          </a:prstGeom>
          <a:noFill/>
        </p:spPr>
        <p:txBody>
          <a:bodyPr wrap="square" lIns="0" rIns="0" tIns="0" bIns="0" anchor="t">
            <a:spAutoFit/>
          </a:bodyPr>
          <a:lstStyle/>
          <a:p>
            <a:pPr algn="l">
              <a:lnSpc>
                <a:spcPct val="100000"/>
              </a:lnSpc>
            </a:pPr>
            <a:r>
              <a:rPr sz="1000" b="0" i="0">
                <a:solidFill>
                  <a:srgbClr val="5B636A"/>
                </a:solidFill>
                <a:latin typeface="Calibri"/>
              </a:rPr>
              <a:t>Une vie de fourmi · Romain · Lisa · Yannis</a:t>
            </a:r>
          </a:p>
        </p:txBody>
      </p:sp>
      <p:sp>
        <p:nvSpPr>
          <p:cNvPr id="21" name="TextBox 20"/>
          <p:cNvSpPr txBox="1"/>
          <p:nvPr/>
        </p:nvSpPr>
        <p:spPr>
          <a:xfrm>
            <a:off x="11185855" y="6473952"/>
            <a:ext cx="457200" cy="274320"/>
          </a:xfrm>
          <a:prstGeom prst="rect">
            <a:avLst/>
          </a:prstGeom>
          <a:noFill/>
        </p:spPr>
        <p:txBody>
          <a:bodyPr wrap="square" lIns="0" rIns="0" tIns="0" bIns="0" anchor="t">
            <a:spAutoFit/>
          </a:bodyPr>
          <a:lstStyle/>
          <a:p>
            <a:pPr algn="r">
              <a:lnSpc>
                <a:spcPct val="100000"/>
              </a:lnSpc>
            </a:pPr>
            <a:r>
              <a:rPr sz="1000" b="0" i="0">
                <a:solidFill>
                  <a:srgbClr val="5B636A"/>
                </a:solidFill>
                <a:latin typeface="Calibri"/>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9859975" y="384048"/>
            <a:ext cx="1920240" cy="384048"/>
          </a:xfrm>
          <a:prstGeom prst="roundRect">
            <a:avLst>
              <a:gd name="adj" fmla="val 50000"/>
            </a:avLst>
          </a:prstGeom>
          <a:solidFill>
            <a:srgbClr val="F3F5F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300" b="1">
                <a:solidFill>
                  <a:srgbClr val="5B636A"/>
                </a:solidFill>
                <a:latin typeface="Calibri"/>
              </a:rPr>
              <a:t>Lisa · 55 s</a:t>
            </a:r>
          </a:p>
        </p:txBody>
      </p:sp>
      <p:sp>
        <p:nvSpPr>
          <p:cNvPr id="3" name="TextBox 2"/>
          <p:cNvSpPr txBox="1"/>
          <p:nvPr/>
        </p:nvSpPr>
        <p:spPr>
          <a:xfrm>
            <a:off x="548640" y="347472"/>
            <a:ext cx="9326880" cy="731520"/>
          </a:xfrm>
          <a:prstGeom prst="rect">
            <a:avLst/>
          </a:prstGeom>
          <a:noFill/>
        </p:spPr>
        <p:txBody>
          <a:bodyPr wrap="square" lIns="0" rIns="0" tIns="0" bIns="0" anchor="t">
            <a:spAutoFit/>
          </a:bodyPr>
          <a:lstStyle/>
          <a:p>
            <a:pPr algn="l">
              <a:lnSpc>
                <a:spcPct val="100000"/>
              </a:lnSpc>
            </a:pPr>
            <a:r>
              <a:rPr sz="3600" b="1" i="0">
                <a:solidFill>
                  <a:srgbClr val="0B1F2A"/>
                </a:solidFill>
                <a:latin typeface="Calibri"/>
              </a:rPr>
              <a:t>Comment l'algorithme réfléchit</a:t>
            </a:r>
          </a:p>
        </p:txBody>
      </p:sp>
      <p:sp>
        <p:nvSpPr>
          <p:cNvPr id="4" name="TextBox 3"/>
          <p:cNvSpPr txBox="1"/>
          <p:nvPr/>
        </p:nvSpPr>
        <p:spPr>
          <a:xfrm>
            <a:off x="548640" y="1024128"/>
            <a:ext cx="9326880" cy="411480"/>
          </a:xfrm>
          <a:prstGeom prst="rect">
            <a:avLst/>
          </a:prstGeom>
          <a:noFill/>
        </p:spPr>
        <p:txBody>
          <a:bodyPr wrap="square" lIns="0" rIns="0" tIns="0" bIns="0" anchor="t">
            <a:spAutoFit/>
          </a:bodyPr>
          <a:lstStyle/>
          <a:p>
            <a:pPr algn="l">
              <a:lnSpc>
                <a:spcPct val="100000"/>
              </a:lnSpc>
            </a:pPr>
            <a:r>
              <a:rPr sz="1700" b="0" i="0">
                <a:solidFill>
                  <a:srgbClr val="5B636A"/>
                </a:solidFill>
                <a:latin typeface="Calibri"/>
              </a:rPr>
              <a:t>On ne cherche pas un chemin : on teste un nombre d'étapes T</a:t>
            </a:r>
          </a:p>
        </p:txBody>
      </p:sp>
      <p:sp>
        <p:nvSpPr>
          <p:cNvPr id="5" name="Oval 4"/>
          <p:cNvSpPr/>
          <p:nvPr/>
        </p:nvSpPr>
        <p:spPr>
          <a:xfrm>
            <a:off x="548640" y="1645920"/>
            <a:ext cx="457200" cy="457200"/>
          </a:xfrm>
          <a:prstGeom prst="ellipse">
            <a:avLst/>
          </a:prstGeom>
          <a:solidFill>
            <a:srgbClr val="0B1F2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Calibri"/>
              </a:rPr>
              <a:t>1</a:t>
            </a:r>
          </a:p>
        </p:txBody>
      </p:sp>
      <p:sp>
        <p:nvSpPr>
          <p:cNvPr id="6" name="TextBox 5"/>
          <p:cNvSpPr txBox="1"/>
          <p:nvPr/>
        </p:nvSpPr>
        <p:spPr>
          <a:xfrm>
            <a:off x="1143000" y="1618488"/>
            <a:ext cx="4114800" cy="365760"/>
          </a:xfrm>
          <a:prstGeom prst="rect">
            <a:avLst/>
          </a:prstGeom>
          <a:noFill/>
        </p:spPr>
        <p:txBody>
          <a:bodyPr wrap="square" lIns="0" rIns="0" tIns="0" bIns="0" anchor="t">
            <a:spAutoFit/>
          </a:bodyPr>
          <a:lstStyle/>
          <a:p>
            <a:pPr algn="l">
              <a:lnSpc>
                <a:spcPct val="100000"/>
              </a:lnSpc>
            </a:pPr>
            <a:r>
              <a:rPr sz="1900" b="1" i="0">
                <a:solidFill>
                  <a:srgbClr val="0B1F2A"/>
                </a:solidFill>
                <a:latin typeface="Calibri"/>
              </a:rPr>
              <a:t>BFS</a:t>
            </a:r>
          </a:p>
        </p:txBody>
      </p:sp>
      <p:sp>
        <p:nvSpPr>
          <p:cNvPr id="7" name="TextBox 6"/>
          <p:cNvSpPr txBox="1"/>
          <p:nvPr/>
        </p:nvSpPr>
        <p:spPr>
          <a:xfrm>
            <a:off x="1143000" y="1975104"/>
            <a:ext cx="4114800" cy="457200"/>
          </a:xfrm>
          <a:prstGeom prst="rect">
            <a:avLst/>
          </a:prstGeom>
          <a:noFill/>
        </p:spPr>
        <p:txBody>
          <a:bodyPr wrap="square" lIns="0" rIns="0" tIns="0" bIns="0" anchor="t">
            <a:spAutoFit/>
          </a:bodyPr>
          <a:lstStyle/>
          <a:p>
            <a:pPr algn="l">
              <a:lnSpc>
                <a:spcPct val="100000"/>
              </a:lnSpc>
            </a:pPr>
            <a:r>
              <a:rPr sz="1400" b="0" i="0">
                <a:solidFill>
                  <a:srgbClr val="5B636A"/>
                </a:solidFill>
                <a:latin typeface="Calibri"/>
              </a:rPr>
              <a:t>distance minimale d : aucune arrivée avant d</a:t>
            </a:r>
          </a:p>
        </p:txBody>
      </p:sp>
      <p:sp>
        <p:nvSpPr>
          <p:cNvPr id="8" name="Oval 7"/>
          <p:cNvSpPr/>
          <p:nvPr/>
        </p:nvSpPr>
        <p:spPr>
          <a:xfrm>
            <a:off x="548640" y="2542032"/>
            <a:ext cx="457200" cy="457200"/>
          </a:xfrm>
          <a:prstGeom prst="ellipse">
            <a:avLst/>
          </a:prstGeom>
          <a:solidFill>
            <a:srgbClr val="0B1F2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Calibri"/>
              </a:rPr>
              <a:t>2</a:t>
            </a:r>
          </a:p>
        </p:txBody>
      </p:sp>
      <p:sp>
        <p:nvSpPr>
          <p:cNvPr id="9" name="TextBox 8"/>
          <p:cNvSpPr txBox="1"/>
          <p:nvPr/>
        </p:nvSpPr>
        <p:spPr>
          <a:xfrm>
            <a:off x="1143000" y="2514600"/>
            <a:ext cx="4114800" cy="365760"/>
          </a:xfrm>
          <a:prstGeom prst="rect">
            <a:avLst/>
          </a:prstGeom>
          <a:noFill/>
        </p:spPr>
        <p:txBody>
          <a:bodyPr wrap="square" lIns="0" rIns="0" tIns="0" bIns="0" anchor="t">
            <a:spAutoFit/>
          </a:bodyPr>
          <a:lstStyle/>
          <a:p>
            <a:pPr algn="l">
              <a:lnSpc>
                <a:spcPct val="100000"/>
              </a:lnSpc>
            </a:pPr>
            <a:r>
              <a:rPr sz="1900" b="1" i="0">
                <a:solidFill>
                  <a:srgbClr val="0B1F2A"/>
                </a:solidFill>
                <a:latin typeface="Calibri"/>
              </a:rPr>
              <a:t>Graphe déplié dans le temps</a:t>
            </a:r>
          </a:p>
        </p:txBody>
      </p:sp>
      <p:sp>
        <p:nvSpPr>
          <p:cNvPr id="10" name="TextBox 9"/>
          <p:cNvSpPr txBox="1"/>
          <p:nvPr/>
        </p:nvSpPr>
        <p:spPr>
          <a:xfrm>
            <a:off x="1143000" y="2871216"/>
            <a:ext cx="4114800" cy="457200"/>
          </a:xfrm>
          <a:prstGeom prst="rect">
            <a:avLst/>
          </a:prstGeom>
          <a:noFill/>
        </p:spPr>
        <p:txBody>
          <a:bodyPr wrap="square" lIns="0" rIns="0" tIns="0" bIns="0" anchor="t">
            <a:spAutoFit/>
          </a:bodyPr>
          <a:lstStyle/>
          <a:p>
            <a:pPr algn="l">
              <a:lnSpc>
                <a:spcPct val="100000"/>
              </a:lnSpc>
            </a:pPr>
            <a:r>
              <a:rPr sz="1400" b="0" i="0">
                <a:solidFill>
                  <a:srgbClr val="5B636A"/>
                </a:solidFill>
                <a:latin typeface="Calibri"/>
              </a:rPr>
              <a:t>une copie de chaque salle à chaque instant t</a:t>
            </a:r>
          </a:p>
        </p:txBody>
      </p:sp>
      <p:sp>
        <p:nvSpPr>
          <p:cNvPr id="11" name="Oval 10"/>
          <p:cNvSpPr/>
          <p:nvPr/>
        </p:nvSpPr>
        <p:spPr>
          <a:xfrm>
            <a:off x="548640" y="3438144"/>
            <a:ext cx="457200" cy="457200"/>
          </a:xfrm>
          <a:prstGeom prst="ellipse">
            <a:avLst/>
          </a:prstGeom>
          <a:solidFill>
            <a:srgbClr val="0B1F2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Calibri"/>
              </a:rPr>
              <a:t>3</a:t>
            </a:r>
          </a:p>
        </p:txBody>
      </p:sp>
      <p:sp>
        <p:nvSpPr>
          <p:cNvPr id="12" name="TextBox 11"/>
          <p:cNvSpPr txBox="1"/>
          <p:nvPr/>
        </p:nvSpPr>
        <p:spPr>
          <a:xfrm>
            <a:off x="1143000" y="3410712"/>
            <a:ext cx="4114800" cy="365760"/>
          </a:xfrm>
          <a:prstGeom prst="rect">
            <a:avLst/>
          </a:prstGeom>
          <a:noFill/>
        </p:spPr>
        <p:txBody>
          <a:bodyPr wrap="square" lIns="0" rIns="0" tIns="0" bIns="0" anchor="t">
            <a:spAutoFit/>
          </a:bodyPr>
          <a:lstStyle/>
          <a:p>
            <a:pPr algn="l">
              <a:lnSpc>
                <a:spcPct val="100000"/>
              </a:lnSpc>
            </a:pPr>
            <a:r>
              <a:rPr sz="1900" b="1" i="0">
                <a:solidFill>
                  <a:srgbClr val="0B1F2A"/>
                </a:solidFill>
                <a:latin typeface="Calibri"/>
              </a:rPr>
              <a:t>Max-flow</a:t>
            </a:r>
          </a:p>
        </p:txBody>
      </p:sp>
      <p:sp>
        <p:nvSpPr>
          <p:cNvPr id="13" name="TextBox 12"/>
          <p:cNvSpPr txBox="1"/>
          <p:nvPr/>
        </p:nvSpPr>
        <p:spPr>
          <a:xfrm>
            <a:off x="1143000" y="3767328"/>
            <a:ext cx="4114800" cy="457200"/>
          </a:xfrm>
          <a:prstGeom prst="rect">
            <a:avLst/>
          </a:prstGeom>
          <a:noFill/>
        </p:spPr>
        <p:txBody>
          <a:bodyPr wrap="square" lIns="0" rIns="0" tIns="0" bIns="0" anchor="t">
            <a:spAutoFit/>
          </a:bodyPr>
          <a:lstStyle/>
          <a:p>
            <a:pPr algn="l">
              <a:lnSpc>
                <a:spcPct val="100000"/>
              </a:lnSpc>
            </a:pPr>
            <a:r>
              <a:rPr sz="1400" b="0" i="0">
                <a:solidFill>
                  <a:srgbClr val="5B636A"/>
                </a:solidFill>
                <a:latin typeface="Calibri"/>
              </a:rPr>
              <a:t>combien de fourmis peuvent arriver en T étapes ?</a:t>
            </a:r>
          </a:p>
        </p:txBody>
      </p:sp>
      <p:sp>
        <p:nvSpPr>
          <p:cNvPr id="14" name="Oval 13"/>
          <p:cNvSpPr/>
          <p:nvPr/>
        </p:nvSpPr>
        <p:spPr>
          <a:xfrm>
            <a:off x="548640" y="4334256"/>
            <a:ext cx="457200" cy="457200"/>
          </a:xfrm>
          <a:prstGeom prst="ellipse">
            <a:avLst/>
          </a:prstGeom>
          <a:solidFill>
            <a:srgbClr val="EB683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Calibri"/>
              </a:rPr>
              <a:t>?</a:t>
            </a:r>
          </a:p>
        </p:txBody>
      </p:sp>
      <p:sp>
        <p:nvSpPr>
          <p:cNvPr id="15" name="TextBox 14"/>
          <p:cNvSpPr txBox="1"/>
          <p:nvPr/>
        </p:nvSpPr>
        <p:spPr>
          <a:xfrm>
            <a:off x="1143000" y="4306824"/>
            <a:ext cx="3749039" cy="365760"/>
          </a:xfrm>
          <a:prstGeom prst="rect">
            <a:avLst/>
          </a:prstGeom>
          <a:noFill/>
        </p:spPr>
        <p:txBody>
          <a:bodyPr wrap="square" lIns="0" rIns="0" tIns="0" bIns="0" anchor="t">
            <a:spAutoFit/>
          </a:bodyPr>
          <a:lstStyle/>
          <a:p>
            <a:pPr algn="l">
              <a:lnSpc>
                <a:spcPct val="100000"/>
              </a:lnSpc>
            </a:pPr>
            <a:r>
              <a:rPr sz="1900" b="1" i="0">
                <a:solidFill>
                  <a:srgbClr val="0B1F2A"/>
                </a:solidFill>
                <a:latin typeface="Calibri"/>
              </a:rPr>
              <a:t>Les F fourmis passent ?</a:t>
            </a:r>
          </a:p>
        </p:txBody>
      </p:sp>
      <p:sp>
        <p:nvSpPr>
          <p:cNvPr id="16" name="Rounded Rectangle 15"/>
          <p:cNvSpPr/>
          <p:nvPr/>
        </p:nvSpPr>
        <p:spPr>
          <a:xfrm>
            <a:off x="1143000" y="4791456"/>
            <a:ext cx="1737360" cy="566928"/>
          </a:xfrm>
          <a:prstGeom prst="roundRect">
            <a:avLst>
              <a:gd name="adj" fmla="val 8000"/>
            </a:avLst>
          </a:prstGeom>
          <a:solidFill>
            <a:srgbClr val="F3F5F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p>
        </p:txBody>
      </p:sp>
      <p:sp>
        <p:nvSpPr>
          <p:cNvPr id="17" name="TextBox 16"/>
          <p:cNvSpPr txBox="1"/>
          <p:nvPr/>
        </p:nvSpPr>
        <p:spPr>
          <a:xfrm>
            <a:off x="1234440" y="4791456"/>
            <a:ext cx="1600200" cy="566928"/>
          </a:xfrm>
          <a:prstGeom prst="rect">
            <a:avLst/>
          </a:prstGeom>
          <a:noFill/>
        </p:spPr>
        <p:txBody>
          <a:bodyPr wrap="square" lIns="0" rIns="0" tIns="0" bIns="0" anchor="ctr">
            <a:spAutoFit/>
          </a:bodyPr>
          <a:lstStyle/>
          <a:p>
            <a:pPr algn="ctr">
              <a:lnSpc>
                <a:spcPct val="100000"/>
              </a:lnSpc>
            </a:pPr>
            <a:r>
              <a:rPr sz="1600" b="1" i="0">
                <a:solidFill>
                  <a:srgbClr val="0B1F2A"/>
                </a:solidFill>
                <a:latin typeface="Calibri"/>
              </a:rPr>
              <a:t>NON</a:t>
            </a:r>
            <a:r>
              <a:rPr sz="1600" b="0" i="0">
                <a:solidFill>
                  <a:srgbClr val="5B636A"/>
                </a:solidFill>
                <a:latin typeface="Calibri"/>
              </a:rPr>
              <a:t>  →  T + 1</a:t>
            </a:r>
          </a:p>
        </p:txBody>
      </p:sp>
      <p:sp>
        <p:nvSpPr>
          <p:cNvPr id="18" name="Rounded Rectangle 17"/>
          <p:cNvSpPr/>
          <p:nvPr/>
        </p:nvSpPr>
        <p:spPr>
          <a:xfrm>
            <a:off x="3017520" y="4791456"/>
            <a:ext cx="1920240" cy="566928"/>
          </a:xfrm>
          <a:prstGeom prst="roundRect">
            <a:avLst>
              <a:gd name="adj" fmla="val 8000"/>
            </a:avLst>
          </a:prstGeom>
          <a:solidFill>
            <a:srgbClr val="EB683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p>
        </p:txBody>
      </p:sp>
      <p:sp>
        <p:nvSpPr>
          <p:cNvPr id="19" name="TextBox 18"/>
          <p:cNvSpPr txBox="1"/>
          <p:nvPr/>
        </p:nvSpPr>
        <p:spPr>
          <a:xfrm>
            <a:off x="3063240" y="4791456"/>
            <a:ext cx="1828800" cy="566928"/>
          </a:xfrm>
          <a:prstGeom prst="rect">
            <a:avLst/>
          </a:prstGeom>
          <a:noFill/>
        </p:spPr>
        <p:txBody>
          <a:bodyPr wrap="square" lIns="0" rIns="0" tIns="0" bIns="0" anchor="ctr">
            <a:spAutoFit/>
          </a:bodyPr>
          <a:lstStyle/>
          <a:p>
            <a:pPr algn="ctr">
              <a:lnSpc>
                <a:spcPct val="100000"/>
              </a:lnSpc>
            </a:pPr>
            <a:r>
              <a:rPr sz="1600" b="1" i="0">
                <a:solidFill>
                  <a:srgbClr val="FFFFFF"/>
                </a:solidFill>
                <a:latin typeface="Calibri"/>
              </a:rPr>
              <a:t>OUI</a:t>
            </a:r>
            <a:r>
              <a:rPr sz="1600" b="0" i="0">
                <a:solidFill>
                  <a:srgbClr val="FFFFFF"/>
                </a:solidFill>
                <a:latin typeface="Calibri"/>
              </a:rPr>
              <a:t>  →  optimum</a:t>
            </a:r>
          </a:p>
        </p:txBody>
      </p:sp>
      <p:sp>
        <p:nvSpPr>
          <p:cNvPr id="20" name="TextBox 19"/>
          <p:cNvSpPr txBox="1"/>
          <p:nvPr/>
        </p:nvSpPr>
        <p:spPr>
          <a:xfrm>
            <a:off x="548640" y="5806440"/>
            <a:ext cx="4480560" cy="640080"/>
          </a:xfrm>
          <a:prstGeom prst="rect">
            <a:avLst/>
          </a:prstGeom>
          <a:noFill/>
        </p:spPr>
        <p:txBody>
          <a:bodyPr wrap="square" lIns="0" rIns="0" tIns="0" bIns="0" anchor="t">
            <a:spAutoFit/>
          </a:bodyPr>
          <a:lstStyle/>
          <a:p>
            <a:pPr algn="l">
              <a:lnSpc>
                <a:spcPct val="100000"/>
              </a:lnSpc>
            </a:pPr>
            <a:r>
              <a:rPr sz="1200" b="1" i="0">
                <a:solidFill>
                  <a:srgbClr val="0B1F2A"/>
                </a:solidFill>
                <a:latin typeface="Calibri"/>
              </a:rPr>
              <a:t>BFS</a:t>
            </a:r>
            <a:r>
              <a:rPr sz="1200" b="0" i="0">
                <a:solidFill>
                  <a:srgbClr val="5B636A"/>
                </a:solidFill>
                <a:latin typeface="Calibri"/>
              </a:rPr>
              <a:t> = distance minimale  ·  </a:t>
            </a:r>
            <a:r>
              <a:rPr sz="1200" b="1" i="0">
                <a:solidFill>
                  <a:srgbClr val="0B1F2A"/>
                </a:solidFill>
                <a:latin typeface="Calibri"/>
              </a:rPr>
              <a:t>Edmonds-Karp</a:t>
            </a:r>
            <a:r>
              <a:rPr sz="1200" b="0" i="0">
                <a:solidFill>
                  <a:srgbClr val="5B636A"/>
                </a:solidFill>
                <a:latin typeface="Calibri"/>
              </a:rPr>
              <a:t> = max-flow (BFS dans le graphe résiduel)  ·  </a:t>
            </a:r>
            <a:r>
              <a:rPr sz="1200" b="1" i="0">
                <a:solidFill>
                  <a:srgbClr val="0B1F2A"/>
                </a:solidFill>
                <a:latin typeface="Calibri"/>
              </a:rPr>
              <a:t>DFS</a:t>
            </a:r>
            <a:r>
              <a:rPr sz="1200" b="0" i="0">
                <a:solidFill>
                  <a:srgbClr val="5B636A"/>
                </a:solidFill>
                <a:latin typeface="Calibri"/>
              </a:rPr>
              <a:t> ne garantit pas le minimum</a:t>
            </a:r>
          </a:p>
        </p:txBody>
      </p:sp>
      <p:sp>
        <p:nvSpPr>
          <p:cNvPr id="21" name="TextBox 20"/>
          <p:cNvSpPr txBox="1"/>
          <p:nvPr/>
        </p:nvSpPr>
        <p:spPr>
          <a:xfrm>
            <a:off x="5394960" y="1554480"/>
            <a:ext cx="6309360" cy="320040"/>
          </a:xfrm>
          <a:prstGeom prst="rect">
            <a:avLst/>
          </a:prstGeom>
          <a:noFill/>
        </p:spPr>
        <p:txBody>
          <a:bodyPr wrap="square" lIns="0" rIns="0" tIns="0" bIns="0" anchor="t">
            <a:spAutoFit/>
          </a:bodyPr>
          <a:lstStyle/>
          <a:p>
            <a:pPr algn="l">
              <a:lnSpc>
                <a:spcPct val="100000"/>
              </a:lnSpc>
            </a:pPr>
            <a:r>
              <a:rPr sz="1300" b="1" i="0">
                <a:solidFill>
                  <a:srgbClr val="0B1F2A"/>
                </a:solidFill>
                <a:latin typeface="Calibri"/>
              </a:rPr>
              <a:t>Le graphe déplié </a:t>
            </a:r>
            <a:r>
              <a:rPr sz="1300" b="0" i="0">
                <a:solidFill>
                  <a:srgbClr val="5B636A"/>
                </a:solidFill>
                <a:latin typeface="Calibri"/>
              </a:rPr>
              <a:t>· exemple du sujet, 3 fourmis : flèche = attendre ou traverser un tunnel</a:t>
            </a:r>
          </a:p>
        </p:txBody>
      </p:sp>
      <p:pic>
        <p:nvPicPr>
          <p:cNvPr id="22" name="Picture 21" descr="time_expanded.png"/>
          <p:cNvPicPr>
            <a:picLocks noChangeAspect="1"/>
          </p:cNvPicPr>
          <p:nvPr/>
        </p:nvPicPr>
        <p:blipFill>
          <a:blip r:embed="rId2"/>
          <a:stretch>
            <a:fillRect/>
          </a:stretch>
        </p:blipFill>
        <p:spPr>
          <a:xfrm>
            <a:off x="6559269" y="1874519"/>
            <a:ext cx="3980742" cy="2286000"/>
          </a:xfrm>
          <a:prstGeom prst="rect">
            <a:avLst/>
          </a:prstGeom>
        </p:spPr>
      </p:pic>
      <p:sp>
        <p:nvSpPr>
          <p:cNvPr id="23" name="TextBox 22"/>
          <p:cNvSpPr txBox="1"/>
          <p:nvPr/>
        </p:nvSpPr>
        <p:spPr>
          <a:xfrm>
            <a:off x="5394960" y="4224528"/>
            <a:ext cx="6309360" cy="320040"/>
          </a:xfrm>
          <a:prstGeom prst="rect">
            <a:avLst/>
          </a:prstGeom>
          <a:noFill/>
        </p:spPr>
        <p:txBody>
          <a:bodyPr wrap="square" lIns="0" rIns="0" tIns="0" bIns="0" anchor="t">
            <a:spAutoFit/>
          </a:bodyPr>
          <a:lstStyle/>
          <a:p>
            <a:pPr algn="l">
              <a:lnSpc>
                <a:spcPct val="100000"/>
              </a:lnSpc>
            </a:pPr>
            <a:r>
              <a:rPr sz="1300" b="1" i="0">
                <a:solidFill>
                  <a:srgbClr val="0B1F2A"/>
                </a:solidFill>
                <a:latin typeface="Calibri"/>
              </a:rPr>
              <a:t>Max-flow selon T </a:t>
            </a:r>
            <a:r>
              <a:rPr sz="1300" b="0" i="0">
                <a:solidFill>
                  <a:srgbClr val="5B636A"/>
                </a:solidFill>
                <a:latin typeface="Calibri"/>
              </a:rPr>
              <a:t>· fourmiliere_cinq, F = 50 : le premier T qui atteint F est le minimum</a:t>
            </a:r>
          </a:p>
        </p:txBody>
      </p:sp>
      <p:graphicFrame>
        <p:nvGraphicFramePr>
          <p:cNvPr id="24" name="Chart 23"/>
          <p:cNvGraphicFramePr>
            <a:graphicFrameLocks noGrp="1"/>
          </p:cNvGraphicFramePr>
          <p:nvPr/>
        </p:nvGraphicFramePr>
        <p:xfrm>
          <a:off x="5394960" y="4526280"/>
          <a:ext cx="6309360" cy="1920240"/>
        </p:xfrm>
        <a:graphic>
          <a:graphicData uri="http://schemas.openxmlformats.org/drawingml/2006/chart">
            <c:chart xmlns:c="http://schemas.openxmlformats.org/drawingml/2006/chart" r:id="rId3"/>
          </a:graphicData>
        </a:graphic>
      </p:graphicFrame>
      <p:sp>
        <p:nvSpPr>
          <p:cNvPr id="25" name="TextBox 24"/>
          <p:cNvSpPr txBox="1"/>
          <p:nvPr/>
        </p:nvSpPr>
        <p:spPr>
          <a:xfrm>
            <a:off x="548640" y="6473952"/>
            <a:ext cx="5486400" cy="274320"/>
          </a:xfrm>
          <a:prstGeom prst="rect">
            <a:avLst/>
          </a:prstGeom>
          <a:noFill/>
        </p:spPr>
        <p:txBody>
          <a:bodyPr wrap="square" lIns="0" rIns="0" tIns="0" bIns="0" anchor="t">
            <a:spAutoFit/>
          </a:bodyPr>
          <a:lstStyle/>
          <a:p>
            <a:pPr algn="l">
              <a:lnSpc>
                <a:spcPct val="100000"/>
              </a:lnSpc>
            </a:pPr>
            <a:r>
              <a:rPr sz="1000" b="0" i="0">
                <a:solidFill>
                  <a:srgbClr val="5B636A"/>
                </a:solidFill>
                <a:latin typeface="Calibri"/>
              </a:rPr>
              <a:t>Une vie de fourmi · Romain · Lisa · Yannis</a:t>
            </a:r>
          </a:p>
        </p:txBody>
      </p:sp>
      <p:sp>
        <p:nvSpPr>
          <p:cNvPr id="26" name="TextBox 25"/>
          <p:cNvSpPr txBox="1"/>
          <p:nvPr/>
        </p:nvSpPr>
        <p:spPr>
          <a:xfrm>
            <a:off x="11185855" y="6473952"/>
            <a:ext cx="457200" cy="274320"/>
          </a:xfrm>
          <a:prstGeom prst="rect">
            <a:avLst/>
          </a:prstGeom>
          <a:noFill/>
        </p:spPr>
        <p:txBody>
          <a:bodyPr wrap="square" lIns="0" rIns="0" tIns="0" bIns="0" anchor="t">
            <a:spAutoFit/>
          </a:bodyPr>
          <a:lstStyle/>
          <a:p>
            <a:pPr algn="r">
              <a:lnSpc>
                <a:spcPct val="100000"/>
              </a:lnSpc>
            </a:pPr>
            <a:r>
              <a:rPr sz="1000" b="0" i="0">
                <a:solidFill>
                  <a:srgbClr val="5B636A"/>
                </a:solidFill>
                <a:latin typeface="Calibri"/>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9859975" y="384048"/>
            <a:ext cx="1920240" cy="384048"/>
          </a:xfrm>
          <a:prstGeom prst="roundRect">
            <a:avLst>
              <a:gd name="adj" fmla="val 50000"/>
            </a:avLst>
          </a:prstGeom>
          <a:solidFill>
            <a:srgbClr val="F3F5F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300" b="1">
                <a:solidFill>
                  <a:srgbClr val="5B636A"/>
                </a:solidFill>
                <a:latin typeface="Calibri"/>
              </a:rPr>
              <a:t>Lisa → Yannis · 55 s</a:t>
            </a:r>
          </a:p>
        </p:txBody>
      </p:sp>
      <p:sp>
        <p:nvSpPr>
          <p:cNvPr id="3" name="TextBox 2"/>
          <p:cNvSpPr txBox="1"/>
          <p:nvPr/>
        </p:nvSpPr>
        <p:spPr>
          <a:xfrm>
            <a:off x="548640" y="347472"/>
            <a:ext cx="9326880" cy="731520"/>
          </a:xfrm>
          <a:prstGeom prst="rect">
            <a:avLst/>
          </a:prstGeom>
          <a:noFill/>
        </p:spPr>
        <p:txBody>
          <a:bodyPr wrap="square" lIns="0" rIns="0" tIns="0" bIns="0" anchor="t">
            <a:spAutoFit/>
          </a:bodyPr>
          <a:lstStyle/>
          <a:p>
            <a:pPr algn="l">
              <a:lnSpc>
                <a:spcPct val="100000"/>
              </a:lnSpc>
            </a:pPr>
            <a:r>
              <a:rPr sz="3600" b="1" i="0">
                <a:solidFill>
                  <a:srgbClr val="0B1F2A"/>
                </a:solidFill>
                <a:latin typeface="Calibri"/>
              </a:rPr>
              <a:t>Voir les fourmis circuler</a:t>
            </a:r>
          </a:p>
        </p:txBody>
      </p:sp>
      <p:sp>
        <p:nvSpPr>
          <p:cNvPr id="4" name="TextBox 3"/>
          <p:cNvSpPr txBox="1"/>
          <p:nvPr/>
        </p:nvSpPr>
        <p:spPr>
          <a:xfrm>
            <a:off x="548640" y="1024128"/>
            <a:ext cx="9326880" cy="411480"/>
          </a:xfrm>
          <a:prstGeom prst="rect">
            <a:avLst/>
          </a:prstGeom>
          <a:noFill/>
        </p:spPr>
        <p:txBody>
          <a:bodyPr wrap="square" lIns="0" rIns="0" tIns="0" bIns="0" anchor="t">
            <a:spAutoFit/>
          </a:bodyPr>
          <a:lstStyle/>
          <a:p>
            <a:pPr algn="l">
              <a:lnSpc>
                <a:spcPct val="100000"/>
              </a:lnSpc>
            </a:pPr>
            <a:r>
              <a:rPr sz="1700" b="0" i="0">
                <a:solidFill>
                  <a:srgbClr val="5B636A"/>
                </a:solidFill>
                <a:latin typeface="Calibri"/>
              </a:rPr>
              <a:t>fourmiliere_cinq · graphe complet à chaque étape · orange = déplacements de l'étape</a:t>
            </a:r>
          </a:p>
        </p:txBody>
      </p:sp>
      <p:pic>
        <p:nvPicPr>
          <p:cNvPr id="5" name="Picture 4" descr="animation.gif"/>
          <p:cNvPicPr>
            <a:picLocks noChangeAspect="1"/>
          </p:cNvPicPr>
          <p:nvPr/>
        </p:nvPicPr>
        <p:blipFill>
          <a:blip r:embed="rId2"/>
          <a:stretch>
            <a:fillRect/>
          </a:stretch>
        </p:blipFill>
        <p:spPr>
          <a:xfrm>
            <a:off x="411480" y="1996492"/>
            <a:ext cx="7040880" cy="3962296"/>
          </a:xfrm>
          <a:prstGeom prst="rect">
            <a:avLst/>
          </a:prstGeom>
        </p:spPr>
      </p:pic>
      <p:sp>
        <p:nvSpPr>
          <p:cNvPr id="6" name="Rounded Rectangle 5"/>
          <p:cNvSpPr/>
          <p:nvPr/>
        </p:nvSpPr>
        <p:spPr>
          <a:xfrm>
            <a:off x="7635240" y="1554480"/>
            <a:ext cx="4114800" cy="1463040"/>
          </a:xfrm>
          <a:prstGeom prst="roundRect">
            <a:avLst>
              <a:gd name="adj" fmla="val 8000"/>
            </a:avLst>
          </a:prstGeom>
          <a:solidFill>
            <a:srgbClr val="0B1F2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p>
        </p:txBody>
      </p:sp>
      <p:sp>
        <p:nvSpPr>
          <p:cNvPr id="7" name="TextBox 6"/>
          <p:cNvSpPr txBox="1"/>
          <p:nvPr/>
        </p:nvSpPr>
        <p:spPr>
          <a:xfrm>
            <a:off x="7909560" y="1645920"/>
            <a:ext cx="3657600" cy="731520"/>
          </a:xfrm>
          <a:prstGeom prst="rect">
            <a:avLst/>
          </a:prstGeom>
          <a:noFill/>
        </p:spPr>
        <p:txBody>
          <a:bodyPr wrap="square" lIns="0" rIns="0" tIns="0" bIns="0" anchor="t">
            <a:spAutoFit/>
          </a:bodyPr>
          <a:lstStyle/>
          <a:p>
            <a:pPr algn="l">
              <a:lnSpc>
                <a:spcPct val="100000"/>
              </a:lnSpc>
            </a:pPr>
            <a:r>
              <a:rPr sz="3200" b="1" i="0">
                <a:solidFill>
                  <a:srgbClr val="FFFFFF"/>
                </a:solidFill>
                <a:latin typeface="Calibri"/>
              </a:rPr>
              <a:t>50 fourmis</a:t>
            </a:r>
            <a:r>
              <a:rPr sz="2000" b="1" i="0">
                <a:solidFill>
                  <a:srgbClr val="C9D4DA"/>
                </a:solidFill>
                <a:latin typeface="Calibri"/>
              </a:rPr>
              <a:t>  en  </a:t>
            </a:r>
            <a:r>
              <a:rPr sz="3200" b="1" i="0">
                <a:solidFill>
                  <a:srgbClr val="EB6834"/>
                </a:solidFill>
                <a:latin typeface="Calibri"/>
              </a:rPr>
              <a:t>11</a:t>
            </a:r>
          </a:p>
        </p:txBody>
      </p:sp>
      <p:sp>
        <p:nvSpPr>
          <p:cNvPr id="8" name="TextBox 7"/>
          <p:cNvSpPr txBox="1"/>
          <p:nvPr/>
        </p:nvSpPr>
        <p:spPr>
          <a:xfrm>
            <a:off x="7909560" y="2286000"/>
            <a:ext cx="3657600" cy="731520"/>
          </a:xfrm>
          <a:prstGeom prst="rect">
            <a:avLst/>
          </a:prstGeom>
          <a:noFill/>
        </p:spPr>
        <p:txBody>
          <a:bodyPr wrap="square" lIns="0" rIns="0" tIns="0" bIns="0" anchor="t">
            <a:spAutoFit/>
          </a:bodyPr>
          <a:lstStyle/>
          <a:p>
            <a:pPr algn="l">
              <a:lnSpc>
                <a:spcPct val="100000"/>
              </a:lnSpc>
            </a:pPr>
            <a:r>
              <a:rPr sz="1600" b="0" i="0">
                <a:solidFill>
                  <a:srgbClr val="C9D4DA"/>
                </a:solidFill>
                <a:latin typeface="Calibri"/>
              </a:rPr>
              <a:t>étapes : le minimum possible</a:t>
            </a:r>
          </a:p>
          <a:p>
            <a:pPr algn="l">
              <a:lnSpc>
                <a:spcPct val="100000"/>
              </a:lnSpc>
            </a:pPr>
            <a:r>
              <a:rPr sz="1600" b="1" i="0">
                <a:solidFill>
                  <a:srgbClr val="EB6834"/>
                </a:solidFill>
                <a:latin typeface="Calibri"/>
              </a:rPr>
              <a:t>premier T réalisable = optimum</a:t>
            </a:r>
          </a:p>
        </p:txBody>
      </p:sp>
      <p:sp>
        <p:nvSpPr>
          <p:cNvPr id="9" name="TextBox 8"/>
          <p:cNvSpPr txBox="1"/>
          <p:nvPr/>
        </p:nvSpPr>
        <p:spPr>
          <a:xfrm>
            <a:off x="7635240" y="3200400"/>
            <a:ext cx="4114800" cy="320040"/>
          </a:xfrm>
          <a:prstGeom prst="rect">
            <a:avLst/>
          </a:prstGeom>
          <a:noFill/>
        </p:spPr>
        <p:txBody>
          <a:bodyPr wrap="square" lIns="0" rIns="0" tIns="0" bIns="0" anchor="t">
            <a:spAutoFit/>
          </a:bodyPr>
          <a:lstStyle/>
          <a:p>
            <a:pPr algn="l">
              <a:lnSpc>
                <a:spcPct val="100000"/>
              </a:lnSpc>
            </a:pPr>
            <a:r>
              <a:rPr sz="1400" b="1" i="0">
                <a:solidFill>
                  <a:srgbClr val="0B1F2A"/>
                </a:solidFill>
                <a:latin typeface="Calibri"/>
              </a:rPr>
              <a:t>Trafic cumulé </a:t>
            </a:r>
            <a:r>
              <a:rPr sz="1400" b="0" i="0">
                <a:solidFill>
                  <a:srgbClr val="5B636A"/>
                </a:solidFill>
                <a:latin typeface="Calibri"/>
              </a:rPr>
              <a:t>· épaisseur = passages</a:t>
            </a:r>
          </a:p>
        </p:txBody>
      </p:sp>
      <p:pic>
        <p:nvPicPr>
          <p:cNvPr id="10" name="Picture 9" descr="demo_flow.png"/>
          <p:cNvPicPr>
            <a:picLocks noChangeAspect="1"/>
          </p:cNvPicPr>
          <p:nvPr/>
        </p:nvPicPr>
        <p:blipFill>
          <a:blip r:embed="rId3"/>
          <a:stretch>
            <a:fillRect/>
          </a:stretch>
        </p:blipFill>
        <p:spPr>
          <a:xfrm>
            <a:off x="7635240" y="3551532"/>
            <a:ext cx="4114800" cy="2315255"/>
          </a:xfrm>
          <a:prstGeom prst="rect">
            <a:avLst/>
          </a:prstGeom>
        </p:spPr>
      </p:pic>
      <p:sp>
        <p:nvSpPr>
          <p:cNvPr id="11" name="TextBox 10"/>
          <p:cNvSpPr txBox="1"/>
          <p:nvPr/>
        </p:nvSpPr>
        <p:spPr>
          <a:xfrm>
            <a:off x="7635240" y="5989320"/>
            <a:ext cx="4114800" cy="365760"/>
          </a:xfrm>
          <a:prstGeom prst="rect">
            <a:avLst/>
          </a:prstGeom>
          <a:noFill/>
        </p:spPr>
        <p:txBody>
          <a:bodyPr wrap="square" lIns="0" rIns="0" tIns="0" bIns="0" anchor="t">
            <a:spAutoFit/>
          </a:bodyPr>
          <a:lstStyle/>
          <a:p>
            <a:pPr algn="l">
              <a:lnSpc>
                <a:spcPct val="100000"/>
              </a:lnSpc>
            </a:pPr>
            <a:r>
              <a:rPr sz="1200" b="0" i="0">
                <a:solidFill>
                  <a:srgbClr val="5B636A"/>
                </a:solidFill>
                <a:latin typeface="Calibri"/>
              </a:rPr>
              <a:t>Goulot : au plus 8 arrivées par étape (coupe minimale)</a:t>
            </a:r>
          </a:p>
        </p:txBody>
      </p:sp>
      <p:sp>
        <p:nvSpPr>
          <p:cNvPr id="12" name="TextBox 11"/>
          <p:cNvSpPr txBox="1"/>
          <p:nvPr/>
        </p:nvSpPr>
        <p:spPr>
          <a:xfrm>
            <a:off x="548640" y="6473952"/>
            <a:ext cx="5486400" cy="274320"/>
          </a:xfrm>
          <a:prstGeom prst="rect">
            <a:avLst/>
          </a:prstGeom>
          <a:noFill/>
        </p:spPr>
        <p:txBody>
          <a:bodyPr wrap="square" lIns="0" rIns="0" tIns="0" bIns="0" anchor="t">
            <a:spAutoFit/>
          </a:bodyPr>
          <a:lstStyle/>
          <a:p>
            <a:pPr algn="l">
              <a:lnSpc>
                <a:spcPct val="100000"/>
              </a:lnSpc>
            </a:pPr>
            <a:r>
              <a:rPr sz="1000" b="0" i="0">
                <a:solidFill>
                  <a:srgbClr val="5B636A"/>
                </a:solidFill>
                <a:latin typeface="Calibri"/>
              </a:rPr>
              <a:t>Une vie de fourmi · Romain · Lisa · Yannis</a:t>
            </a:r>
          </a:p>
        </p:txBody>
      </p:sp>
      <p:sp>
        <p:nvSpPr>
          <p:cNvPr id="13" name="TextBox 12"/>
          <p:cNvSpPr txBox="1"/>
          <p:nvPr/>
        </p:nvSpPr>
        <p:spPr>
          <a:xfrm>
            <a:off x="11185855" y="6473952"/>
            <a:ext cx="457200" cy="274320"/>
          </a:xfrm>
          <a:prstGeom prst="rect">
            <a:avLst/>
          </a:prstGeom>
          <a:noFill/>
        </p:spPr>
        <p:txBody>
          <a:bodyPr wrap="square" lIns="0" rIns="0" tIns="0" bIns="0" anchor="t">
            <a:spAutoFit/>
          </a:bodyPr>
          <a:lstStyle/>
          <a:p>
            <a:pPr algn="r">
              <a:lnSpc>
                <a:spcPct val="100000"/>
              </a:lnSpc>
            </a:pPr>
            <a:r>
              <a:rPr sz="1000" b="0" i="0">
                <a:solidFill>
                  <a:srgbClr val="5B636A"/>
                </a:solidFill>
                <a:latin typeface="Calibri"/>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9859975" y="384048"/>
            <a:ext cx="1920240" cy="384048"/>
          </a:xfrm>
          <a:prstGeom prst="roundRect">
            <a:avLst>
              <a:gd name="adj" fmla="val 50000"/>
            </a:avLst>
          </a:prstGeom>
          <a:solidFill>
            <a:srgbClr val="F3F5F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300" b="1">
                <a:solidFill>
                  <a:srgbClr val="5B636A"/>
                </a:solidFill>
                <a:latin typeface="Calibri"/>
              </a:rPr>
              <a:t>Yannis · 45 s</a:t>
            </a:r>
          </a:p>
        </p:txBody>
      </p:sp>
      <p:sp>
        <p:nvSpPr>
          <p:cNvPr id="3" name="TextBox 2"/>
          <p:cNvSpPr txBox="1"/>
          <p:nvPr/>
        </p:nvSpPr>
        <p:spPr>
          <a:xfrm>
            <a:off x="548640" y="347472"/>
            <a:ext cx="9326880" cy="731520"/>
          </a:xfrm>
          <a:prstGeom prst="rect">
            <a:avLst/>
          </a:prstGeom>
          <a:noFill/>
        </p:spPr>
        <p:txBody>
          <a:bodyPr wrap="square" lIns="0" rIns="0" tIns="0" bIns="0" anchor="t">
            <a:spAutoFit/>
          </a:bodyPr>
          <a:lstStyle/>
          <a:p>
            <a:pPr algn="l">
              <a:lnSpc>
                <a:spcPct val="100000"/>
              </a:lnSpc>
            </a:pPr>
            <a:r>
              <a:rPr sz="3600" b="1" i="0">
                <a:solidFill>
                  <a:srgbClr val="0B1F2A"/>
                </a:solidFill>
                <a:latin typeface="Calibri"/>
              </a:rPr>
              <a:t>9 / 9 fourmilières officielles résolues</a:t>
            </a:r>
          </a:p>
        </p:txBody>
      </p:sp>
      <p:sp>
        <p:nvSpPr>
          <p:cNvPr id="4" name="TextBox 3"/>
          <p:cNvSpPr txBox="1"/>
          <p:nvPr/>
        </p:nvSpPr>
        <p:spPr>
          <a:xfrm>
            <a:off x="548640" y="1024128"/>
            <a:ext cx="9326880" cy="411480"/>
          </a:xfrm>
          <a:prstGeom prst="rect">
            <a:avLst/>
          </a:prstGeom>
          <a:noFill/>
        </p:spPr>
        <p:txBody>
          <a:bodyPr wrap="square" lIns="0" rIns="0" tIns="0" bIns="0" anchor="t">
            <a:spAutoFit/>
          </a:bodyPr>
          <a:lstStyle/>
          <a:p>
            <a:pPr algn="l">
              <a:lnSpc>
                <a:spcPct val="100000"/>
              </a:lnSpc>
            </a:pPr>
            <a:r>
              <a:rPr sz="1700" b="0" i="0">
                <a:solidFill>
                  <a:srgbClr val="5B636A"/>
                </a:solidFill>
                <a:latin typeface="Calibri"/>
              </a:rPr>
              <a:t>Même programme, aucun réglage par fichier</a:t>
            </a:r>
          </a:p>
        </p:txBody>
      </p:sp>
      <p:graphicFrame>
        <p:nvGraphicFramePr>
          <p:cNvPr id="5" name="Table 4"/>
          <p:cNvGraphicFramePr>
            <a:graphicFrameLocks noGrp="1"/>
          </p:cNvGraphicFramePr>
          <p:nvPr/>
        </p:nvGraphicFramePr>
        <p:xfrm>
          <a:off x="548640" y="1600200"/>
          <a:ext cx="7635240" cy="4297680"/>
        </p:xfrm>
        <a:graphic>
          <a:graphicData uri="http://schemas.openxmlformats.org/drawingml/2006/table">
            <a:tbl>
              <a:tblPr firstRow="1" bandRow="1">
                <a:tableStyleId>{5C22544A-7EE6-4342-B048-85BDC9FD1C3A}</a:tableStyleId>
              </a:tblPr>
              <a:tblGrid>
                <a:gridCol w="2743200"/>
                <a:gridCol w="960120"/>
                <a:gridCol w="868680"/>
                <a:gridCol w="914400"/>
                <a:gridCol w="960120"/>
                <a:gridCol w="1188720"/>
              </a:tblGrid>
              <a:tr h="429768">
                <a:tc>
                  <a:txBody>
                    <a:bodyPr wrap="square"/>
                    <a:lstStyle/>
                    <a:p>
                      <a:pPr algn="l"/>
                      <a:r>
                        <a:rPr sz="1500" b="1">
                          <a:solidFill>
                            <a:srgbClr val="FFFFFF"/>
                          </a:solidFill>
                          <a:latin typeface="Calibri"/>
                        </a:rPr>
                        <a:t>fichier</a:t>
                      </a:r>
                    </a:p>
                  </a:txBody>
                  <a:tcPr marL="91440" marR="91440" marT="27432" marB="27432" anchor="ctr">
                    <a:solidFill>
                      <a:srgbClr val="0B1F2A"/>
                    </a:solidFill>
                  </a:tcPr>
                </a:tc>
                <a:tc>
                  <a:txBody>
                    <a:bodyPr wrap="square"/>
                    <a:lstStyle/>
                    <a:p>
                      <a:pPr algn="ctr"/>
                      <a:r>
                        <a:rPr sz="1500" b="1">
                          <a:solidFill>
                            <a:srgbClr val="FFFFFF"/>
                          </a:solidFill>
                          <a:latin typeface="Calibri"/>
                        </a:rPr>
                        <a:t>fourmis</a:t>
                      </a:r>
                    </a:p>
                  </a:txBody>
                  <a:tcPr marL="91440" marR="91440" marT="27432" marB="27432" anchor="ctr">
                    <a:solidFill>
                      <a:srgbClr val="0B1F2A"/>
                    </a:solidFill>
                  </a:tcPr>
                </a:tc>
                <a:tc>
                  <a:txBody>
                    <a:bodyPr wrap="square"/>
                    <a:lstStyle/>
                    <a:p>
                      <a:pPr algn="ctr"/>
                      <a:r>
                        <a:rPr sz="1500" b="1">
                          <a:solidFill>
                            <a:srgbClr val="FFFFFF"/>
                          </a:solidFill>
                          <a:latin typeface="Calibri"/>
                        </a:rPr>
                        <a:t>salles</a:t>
                      </a:r>
                    </a:p>
                  </a:txBody>
                  <a:tcPr marL="91440" marR="91440" marT="27432" marB="27432" anchor="ctr">
                    <a:solidFill>
                      <a:srgbClr val="0B1F2A"/>
                    </a:solidFill>
                  </a:tcPr>
                </a:tc>
                <a:tc>
                  <a:txBody>
                    <a:bodyPr wrap="square"/>
                    <a:lstStyle/>
                    <a:p>
                      <a:pPr algn="ctr"/>
                      <a:r>
                        <a:rPr sz="1500" b="1">
                          <a:solidFill>
                            <a:srgbClr val="FFFFFF"/>
                          </a:solidFill>
                          <a:latin typeface="Calibri"/>
                        </a:rPr>
                        <a:t>tunnels</a:t>
                      </a:r>
                    </a:p>
                  </a:txBody>
                  <a:tcPr marL="91440" marR="91440" marT="27432" marB="27432" anchor="ctr">
                    <a:solidFill>
                      <a:srgbClr val="0B1F2A"/>
                    </a:solidFill>
                  </a:tcPr>
                </a:tc>
                <a:tc>
                  <a:txBody>
                    <a:bodyPr wrap="square"/>
                    <a:lstStyle/>
                    <a:p>
                      <a:pPr algn="ctr"/>
                      <a:r>
                        <a:rPr sz="1500" b="1">
                          <a:solidFill>
                            <a:srgbClr val="FFFFFF"/>
                          </a:solidFill>
                          <a:latin typeface="Calibri"/>
                        </a:rPr>
                        <a:t>d (BFS)</a:t>
                      </a:r>
                    </a:p>
                  </a:txBody>
                  <a:tcPr marL="91440" marR="91440" marT="27432" marB="27432" anchor="ctr">
                    <a:solidFill>
                      <a:srgbClr val="0B1F2A"/>
                    </a:solidFill>
                  </a:tcPr>
                </a:tc>
                <a:tc>
                  <a:txBody>
                    <a:bodyPr wrap="square"/>
                    <a:lstStyle/>
                    <a:p>
                      <a:pPr algn="ctr"/>
                      <a:r>
                        <a:rPr sz="1500" b="1">
                          <a:solidFill>
                            <a:srgbClr val="FFFFFF"/>
                          </a:solidFill>
                          <a:latin typeface="Calibri"/>
                        </a:rPr>
                        <a:t>T optimal</a:t>
                      </a:r>
                    </a:p>
                  </a:txBody>
                  <a:tcPr marL="91440" marR="91440" marT="27432" marB="27432" anchor="ctr">
                    <a:solidFill>
                      <a:srgbClr val="0B1F2A"/>
                    </a:solidFill>
                  </a:tcPr>
                </a:tc>
              </a:tr>
              <a:tr h="429768">
                <a:tc>
                  <a:txBody>
                    <a:bodyPr wrap="square"/>
                    <a:lstStyle/>
                    <a:p>
                      <a:pPr algn="l"/>
                      <a:r>
                        <a:rPr sz="1500" b="0">
                          <a:solidFill>
                            <a:srgbClr val="0B1F2A"/>
                          </a:solidFill>
                          <a:latin typeface="Calibri"/>
                        </a:rPr>
                        <a:t>fourmiliere_zero</a:t>
                      </a:r>
                    </a:p>
                  </a:txBody>
                  <a:tcPr marL="91440" marR="91440" marT="27432" marB="27432" anchor="ctr">
                    <a:solidFill>
                      <a:srgbClr val="FDE9E0"/>
                    </a:solidFill>
                  </a:tcPr>
                </a:tc>
                <a:tc>
                  <a:txBody>
                    <a:bodyPr wrap="square"/>
                    <a:lstStyle/>
                    <a:p>
                      <a:pPr algn="ctr"/>
                      <a:r>
                        <a:rPr sz="1500" b="0">
                          <a:solidFill>
                            <a:srgbClr val="0B1F2A"/>
                          </a:solidFill>
                          <a:latin typeface="Calibri"/>
                        </a:rPr>
                        <a:t>2</a:t>
                      </a:r>
                    </a:p>
                  </a:txBody>
                  <a:tcPr marL="91440" marR="91440" marT="27432" marB="27432" anchor="ctr">
                    <a:solidFill>
                      <a:srgbClr val="FDE9E0"/>
                    </a:solidFill>
                  </a:tcPr>
                </a:tc>
                <a:tc>
                  <a:txBody>
                    <a:bodyPr wrap="square"/>
                    <a:lstStyle/>
                    <a:p>
                      <a:pPr algn="ctr"/>
                      <a:r>
                        <a:rPr sz="1500" b="0">
                          <a:solidFill>
                            <a:srgbClr val="0B1F2A"/>
                          </a:solidFill>
                          <a:latin typeface="Calibri"/>
                        </a:rPr>
                        <a:t>2</a:t>
                      </a:r>
                    </a:p>
                  </a:txBody>
                  <a:tcPr marL="91440" marR="91440" marT="27432" marB="27432" anchor="ctr">
                    <a:solidFill>
                      <a:srgbClr val="FDE9E0"/>
                    </a:solidFill>
                  </a:tcPr>
                </a:tc>
                <a:tc>
                  <a:txBody>
                    <a:bodyPr wrap="square"/>
                    <a:lstStyle/>
                    <a:p>
                      <a:pPr algn="ctr"/>
                      <a:r>
                        <a:rPr sz="1500" b="0">
                          <a:solidFill>
                            <a:srgbClr val="0B1F2A"/>
                          </a:solidFill>
                          <a:latin typeface="Calibri"/>
                        </a:rPr>
                        <a:t>4</a:t>
                      </a:r>
                    </a:p>
                  </a:txBody>
                  <a:tcPr marL="91440" marR="91440" marT="27432" marB="27432" anchor="ctr">
                    <a:solidFill>
                      <a:srgbClr val="FDE9E0"/>
                    </a:solidFill>
                  </a:tcPr>
                </a:tc>
                <a:tc>
                  <a:txBody>
                    <a:bodyPr wrap="square"/>
                    <a:lstStyle/>
                    <a:p>
                      <a:pPr algn="ctr"/>
                      <a:r>
                        <a:rPr sz="1500" b="0">
                          <a:solidFill>
                            <a:srgbClr val="0B1F2A"/>
                          </a:solidFill>
                          <a:latin typeface="Calibri"/>
                        </a:rPr>
                        <a:t>2</a:t>
                      </a:r>
                    </a:p>
                  </a:txBody>
                  <a:tcPr marL="91440" marR="91440" marT="27432" marB="27432" anchor="ctr">
                    <a:solidFill>
                      <a:srgbClr val="FDE9E0"/>
                    </a:solidFill>
                  </a:tcPr>
                </a:tc>
                <a:tc>
                  <a:txBody>
                    <a:bodyPr wrap="square"/>
                    <a:lstStyle/>
                    <a:p>
                      <a:pPr algn="ctr"/>
                      <a:r>
                        <a:rPr sz="1500" b="1">
                          <a:solidFill>
                            <a:srgbClr val="0B1F2A"/>
                          </a:solidFill>
                          <a:latin typeface="Calibri"/>
                        </a:rPr>
                        <a:t>2</a:t>
                      </a:r>
                    </a:p>
                  </a:txBody>
                  <a:tcPr marL="91440" marR="91440" marT="27432" marB="27432" anchor="ctr">
                    <a:solidFill>
                      <a:srgbClr val="FDE9E0"/>
                    </a:solidFill>
                  </a:tcPr>
                </a:tc>
              </a:tr>
              <a:tr h="429768">
                <a:tc>
                  <a:txBody>
                    <a:bodyPr wrap="square"/>
                    <a:lstStyle/>
                    <a:p>
                      <a:pPr algn="l"/>
                      <a:r>
                        <a:rPr sz="1500" b="0">
                          <a:solidFill>
                            <a:srgbClr val="0B1F2A"/>
                          </a:solidFill>
                          <a:latin typeface="Calibri"/>
                        </a:rPr>
                        <a:t>fourmiliere_un</a:t>
                      </a:r>
                    </a:p>
                  </a:txBody>
                  <a:tcPr marL="91440" marR="91440" marT="27432" marB="27432" anchor="ctr">
                    <a:solidFill>
                      <a:srgbClr val="F3F5F7"/>
                    </a:solidFill>
                  </a:tcPr>
                </a:tc>
                <a:tc>
                  <a:txBody>
                    <a:bodyPr wrap="square"/>
                    <a:lstStyle/>
                    <a:p>
                      <a:pPr algn="ctr"/>
                      <a:r>
                        <a:rPr sz="1500" b="0">
                          <a:solidFill>
                            <a:srgbClr val="0B1F2A"/>
                          </a:solidFill>
                          <a:latin typeface="Calibri"/>
                        </a:rPr>
                        <a:t>5</a:t>
                      </a:r>
                    </a:p>
                  </a:txBody>
                  <a:tcPr marL="91440" marR="91440" marT="27432" marB="27432" anchor="ctr">
                    <a:solidFill>
                      <a:srgbClr val="F3F5F7"/>
                    </a:solidFill>
                  </a:tcPr>
                </a:tc>
                <a:tc>
                  <a:txBody>
                    <a:bodyPr wrap="square"/>
                    <a:lstStyle/>
                    <a:p>
                      <a:pPr algn="ctr"/>
                      <a:r>
                        <a:rPr sz="1500" b="0">
                          <a:solidFill>
                            <a:srgbClr val="0B1F2A"/>
                          </a:solidFill>
                          <a:latin typeface="Calibri"/>
                        </a:rPr>
                        <a:t>2</a:t>
                      </a:r>
                    </a:p>
                  </a:txBody>
                  <a:tcPr marL="91440" marR="91440" marT="27432" marB="27432" anchor="ctr">
                    <a:solidFill>
                      <a:srgbClr val="F3F5F7"/>
                    </a:solidFill>
                  </a:tcPr>
                </a:tc>
                <a:tc>
                  <a:txBody>
                    <a:bodyPr wrap="square"/>
                    <a:lstStyle/>
                    <a:p>
                      <a:pPr algn="ctr"/>
                      <a:r>
                        <a:rPr sz="1500" b="0">
                          <a:solidFill>
                            <a:srgbClr val="0B1F2A"/>
                          </a:solidFill>
                          <a:latin typeface="Calibri"/>
                        </a:rPr>
                        <a:t>3</a:t>
                      </a:r>
                    </a:p>
                  </a:txBody>
                  <a:tcPr marL="91440" marR="91440" marT="27432" marB="27432" anchor="ctr">
                    <a:solidFill>
                      <a:srgbClr val="F3F5F7"/>
                    </a:solidFill>
                  </a:tcPr>
                </a:tc>
                <a:tc>
                  <a:txBody>
                    <a:bodyPr wrap="square"/>
                    <a:lstStyle/>
                    <a:p>
                      <a:pPr algn="ctr"/>
                      <a:r>
                        <a:rPr sz="1500" b="0">
                          <a:solidFill>
                            <a:srgbClr val="0B1F2A"/>
                          </a:solidFill>
                          <a:latin typeface="Calibri"/>
                        </a:rPr>
                        <a:t>3</a:t>
                      </a:r>
                    </a:p>
                  </a:txBody>
                  <a:tcPr marL="91440" marR="91440" marT="27432" marB="27432" anchor="ctr">
                    <a:solidFill>
                      <a:srgbClr val="F3F5F7"/>
                    </a:solidFill>
                  </a:tcPr>
                </a:tc>
                <a:tc>
                  <a:txBody>
                    <a:bodyPr wrap="square"/>
                    <a:lstStyle/>
                    <a:p>
                      <a:pPr algn="ctr"/>
                      <a:r>
                        <a:rPr sz="1500" b="0">
                          <a:solidFill>
                            <a:srgbClr val="0B1F2A"/>
                          </a:solidFill>
                          <a:latin typeface="Calibri"/>
                        </a:rPr>
                        <a:t>7</a:t>
                      </a:r>
                    </a:p>
                  </a:txBody>
                  <a:tcPr marL="91440" marR="91440" marT="27432" marB="27432" anchor="ctr">
                    <a:solidFill>
                      <a:srgbClr val="F3F5F7"/>
                    </a:solidFill>
                  </a:tcPr>
                </a:tc>
              </a:tr>
              <a:tr h="429768">
                <a:tc>
                  <a:txBody>
                    <a:bodyPr wrap="square"/>
                    <a:lstStyle/>
                    <a:p>
                      <a:pPr algn="l"/>
                      <a:r>
                        <a:rPr sz="1500" b="0">
                          <a:solidFill>
                            <a:srgbClr val="0B1F2A"/>
                          </a:solidFill>
                          <a:latin typeface="Calibri"/>
                        </a:rPr>
                        <a:t>fourmiliere_deux</a:t>
                      </a:r>
                    </a:p>
                  </a:txBody>
                  <a:tcPr marL="91440" marR="91440" marT="27432" marB="27432" anchor="ctr">
                    <a:solidFill>
                      <a:srgbClr val="FFFFFF"/>
                    </a:solidFill>
                  </a:tcPr>
                </a:tc>
                <a:tc>
                  <a:txBody>
                    <a:bodyPr wrap="square"/>
                    <a:lstStyle/>
                    <a:p>
                      <a:pPr algn="ctr"/>
                      <a:r>
                        <a:rPr sz="1500" b="0">
                          <a:solidFill>
                            <a:srgbClr val="0B1F2A"/>
                          </a:solidFill>
                          <a:latin typeface="Calibri"/>
                        </a:rPr>
                        <a:t>5</a:t>
                      </a:r>
                    </a:p>
                  </a:txBody>
                  <a:tcPr marL="91440" marR="91440" marT="27432" marB="27432" anchor="ctr">
                    <a:solidFill>
                      <a:srgbClr val="FFFFFF"/>
                    </a:solidFill>
                  </a:tcPr>
                </a:tc>
                <a:tc>
                  <a:txBody>
                    <a:bodyPr wrap="square"/>
                    <a:lstStyle/>
                    <a:p>
                      <a:pPr algn="ctr"/>
                      <a:r>
                        <a:rPr sz="1500" b="0">
                          <a:solidFill>
                            <a:srgbClr val="0B1F2A"/>
                          </a:solidFill>
                          <a:latin typeface="Calibri"/>
                        </a:rPr>
                        <a:t>2</a:t>
                      </a:r>
                    </a:p>
                  </a:txBody>
                  <a:tcPr marL="91440" marR="91440" marT="27432" marB="27432" anchor="ctr">
                    <a:solidFill>
                      <a:srgbClr val="FFFFFF"/>
                    </a:solidFill>
                  </a:tcPr>
                </a:tc>
                <a:tc>
                  <a:txBody>
                    <a:bodyPr wrap="square"/>
                    <a:lstStyle/>
                    <a:p>
                      <a:pPr algn="ctr"/>
                      <a:r>
                        <a:rPr sz="1500" b="0">
                          <a:solidFill>
                            <a:srgbClr val="0B1F2A"/>
                          </a:solidFill>
                          <a:latin typeface="Calibri"/>
                        </a:rPr>
                        <a:t>4</a:t>
                      </a:r>
                    </a:p>
                  </a:txBody>
                  <a:tcPr marL="91440" marR="91440" marT="27432" marB="27432" anchor="ctr">
                    <a:solidFill>
                      <a:srgbClr val="FFFFFF"/>
                    </a:solidFill>
                  </a:tcPr>
                </a:tc>
                <a:tc>
                  <a:txBody>
                    <a:bodyPr wrap="square"/>
                    <a:lstStyle/>
                    <a:p>
                      <a:pPr algn="ctr"/>
                      <a:r>
                        <a:rPr sz="1500" b="0">
                          <a:solidFill>
                            <a:srgbClr val="0B1F2A"/>
                          </a:solidFill>
                          <a:latin typeface="Calibri"/>
                        </a:rPr>
                        <a:t>1</a:t>
                      </a:r>
                    </a:p>
                  </a:txBody>
                  <a:tcPr marL="91440" marR="91440" marT="27432" marB="27432" anchor="ctr">
                    <a:solidFill>
                      <a:srgbClr val="FFFFFF"/>
                    </a:solidFill>
                  </a:tcPr>
                </a:tc>
                <a:tc>
                  <a:txBody>
                    <a:bodyPr wrap="square"/>
                    <a:lstStyle/>
                    <a:p>
                      <a:pPr algn="ctr"/>
                      <a:r>
                        <a:rPr sz="1500" b="0">
                          <a:solidFill>
                            <a:srgbClr val="0B1F2A"/>
                          </a:solidFill>
                          <a:latin typeface="Calibri"/>
                        </a:rPr>
                        <a:t>1</a:t>
                      </a:r>
                    </a:p>
                  </a:txBody>
                  <a:tcPr marL="91440" marR="91440" marT="27432" marB="27432" anchor="ctr">
                    <a:solidFill>
                      <a:srgbClr val="FFFFFF"/>
                    </a:solidFill>
                  </a:tcPr>
                </a:tc>
              </a:tr>
              <a:tr h="429768">
                <a:tc>
                  <a:txBody>
                    <a:bodyPr wrap="square"/>
                    <a:lstStyle/>
                    <a:p>
                      <a:pPr algn="l"/>
                      <a:r>
                        <a:rPr sz="1500" b="0">
                          <a:solidFill>
                            <a:srgbClr val="0B1F2A"/>
                          </a:solidFill>
                          <a:latin typeface="Calibri"/>
                        </a:rPr>
                        <a:t>fourmiliere_trois</a:t>
                      </a:r>
                    </a:p>
                  </a:txBody>
                  <a:tcPr marL="91440" marR="91440" marT="27432" marB="27432" anchor="ctr">
                    <a:solidFill>
                      <a:srgbClr val="F3F5F7"/>
                    </a:solidFill>
                  </a:tcPr>
                </a:tc>
                <a:tc>
                  <a:txBody>
                    <a:bodyPr wrap="square"/>
                    <a:lstStyle/>
                    <a:p>
                      <a:pPr algn="ctr"/>
                      <a:r>
                        <a:rPr sz="1500" b="0">
                          <a:solidFill>
                            <a:srgbClr val="0B1F2A"/>
                          </a:solidFill>
                          <a:latin typeface="Calibri"/>
                        </a:rPr>
                        <a:t>5</a:t>
                      </a:r>
                    </a:p>
                  </a:txBody>
                  <a:tcPr marL="91440" marR="91440" marT="27432" marB="27432" anchor="ctr">
                    <a:solidFill>
                      <a:srgbClr val="F3F5F7"/>
                    </a:solidFill>
                  </a:tcPr>
                </a:tc>
                <a:tc>
                  <a:txBody>
                    <a:bodyPr wrap="square"/>
                    <a:lstStyle/>
                    <a:p>
                      <a:pPr algn="ctr"/>
                      <a:r>
                        <a:rPr sz="1500" b="0">
                          <a:solidFill>
                            <a:srgbClr val="0B1F2A"/>
                          </a:solidFill>
                          <a:latin typeface="Calibri"/>
                        </a:rPr>
                        <a:t>4</a:t>
                      </a:r>
                    </a:p>
                  </a:txBody>
                  <a:tcPr marL="91440" marR="91440" marT="27432" marB="27432" anchor="ctr">
                    <a:solidFill>
                      <a:srgbClr val="F3F5F7"/>
                    </a:solidFill>
                  </a:tcPr>
                </a:tc>
                <a:tc>
                  <a:txBody>
                    <a:bodyPr wrap="square"/>
                    <a:lstStyle/>
                    <a:p>
                      <a:pPr algn="ctr"/>
                      <a:r>
                        <a:rPr sz="1500" b="0">
                          <a:solidFill>
                            <a:srgbClr val="0B1F2A"/>
                          </a:solidFill>
                          <a:latin typeface="Calibri"/>
                        </a:rPr>
                        <a:t>5</a:t>
                      </a:r>
                    </a:p>
                  </a:txBody>
                  <a:tcPr marL="91440" marR="91440" marT="27432" marB="27432" anchor="ctr">
                    <a:solidFill>
                      <a:srgbClr val="F3F5F7"/>
                    </a:solidFill>
                  </a:tcPr>
                </a:tc>
                <a:tc>
                  <a:txBody>
                    <a:bodyPr wrap="square"/>
                    <a:lstStyle/>
                    <a:p>
                      <a:pPr algn="ctr"/>
                      <a:r>
                        <a:rPr sz="1500" b="0">
                          <a:solidFill>
                            <a:srgbClr val="0B1F2A"/>
                          </a:solidFill>
                          <a:latin typeface="Calibri"/>
                        </a:rPr>
                        <a:t>3</a:t>
                      </a:r>
                    </a:p>
                  </a:txBody>
                  <a:tcPr marL="91440" marR="91440" marT="27432" marB="27432" anchor="ctr">
                    <a:solidFill>
                      <a:srgbClr val="F3F5F7"/>
                    </a:solidFill>
                  </a:tcPr>
                </a:tc>
                <a:tc>
                  <a:txBody>
                    <a:bodyPr wrap="square"/>
                    <a:lstStyle/>
                    <a:p>
                      <a:pPr algn="ctr"/>
                      <a:r>
                        <a:rPr sz="1500" b="0">
                          <a:solidFill>
                            <a:srgbClr val="0B1F2A"/>
                          </a:solidFill>
                          <a:latin typeface="Calibri"/>
                        </a:rPr>
                        <a:t>7</a:t>
                      </a:r>
                    </a:p>
                  </a:txBody>
                  <a:tcPr marL="91440" marR="91440" marT="27432" marB="27432" anchor="ctr">
                    <a:solidFill>
                      <a:srgbClr val="F3F5F7"/>
                    </a:solidFill>
                  </a:tcPr>
                </a:tc>
              </a:tr>
              <a:tr h="429768">
                <a:tc>
                  <a:txBody>
                    <a:bodyPr wrap="square"/>
                    <a:lstStyle/>
                    <a:p>
                      <a:pPr algn="l"/>
                      <a:r>
                        <a:rPr sz="1500" b="0">
                          <a:solidFill>
                            <a:srgbClr val="0B1F2A"/>
                          </a:solidFill>
                          <a:latin typeface="Calibri"/>
                        </a:rPr>
                        <a:t>fourmiliere_quatre</a:t>
                      </a:r>
                    </a:p>
                  </a:txBody>
                  <a:tcPr marL="91440" marR="91440" marT="27432" marB="27432" anchor="ctr">
                    <a:solidFill>
                      <a:srgbClr val="FFFFFF"/>
                    </a:solidFill>
                  </a:tcPr>
                </a:tc>
                <a:tc>
                  <a:txBody>
                    <a:bodyPr wrap="square"/>
                    <a:lstStyle/>
                    <a:p>
                      <a:pPr algn="ctr"/>
                      <a:r>
                        <a:rPr sz="1500" b="0">
                          <a:solidFill>
                            <a:srgbClr val="0B1F2A"/>
                          </a:solidFill>
                          <a:latin typeface="Calibri"/>
                        </a:rPr>
                        <a:t>10</a:t>
                      </a:r>
                    </a:p>
                  </a:txBody>
                  <a:tcPr marL="91440" marR="91440" marT="27432" marB="27432" anchor="ctr">
                    <a:solidFill>
                      <a:srgbClr val="FFFFFF"/>
                    </a:solidFill>
                  </a:tcPr>
                </a:tc>
                <a:tc>
                  <a:txBody>
                    <a:bodyPr wrap="square"/>
                    <a:lstStyle/>
                    <a:p>
                      <a:pPr algn="ctr"/>
                      <a:r>
                        <a:rPr sz="1500" b="0">
                          <a:solidFill>
                            <a:srgbClr val="0B1F2A"/>
                          </a:solidFill>
                          <a:latin typeface="Calibri"/>
                        </a:rPr>
                        <a:t>6</a:t>
                      </a:r>
                    </a:p>
                  </a:txBody>
                  <a:tcPr marL="91440" marR="91440" marT="27432" marB="27432" anchor="ctr">
                    <a:solidFill>
                      <a:srgbClr val="FFFFFF"/>
                    </a:solidFill>
                  </a:tcPr>
                </a:tc>
                <a:tc>
                  <a:txBody>
                    <a:bodyPr wrap="square"/>
                    <a:lstStyle/>
                    <a:p>
                      <a:pPr algn="ctr"/>
                      <a:r>
                        <a:rPr sz="1500" b="0">
                          <a:solidFill>
                            <a:srgbClr val="0B1F2A"/>
                          </a:solidFill>
                          <a:latin typeface="Calibri"/>
                        </a:rPr>
                        <a:t>9</a:t>
                      </a:r>
                    </a:p>
                  </a:txBody>
                  <a:tcPr marL="91440" marR="91440" marT="27432" marB="27432" anchor="ctr">
                    <a:solidFill>
                      <a:srgbClr val="FFFFFF"/>
                    </a:solidFill>
                  </a:tcPr>
                </a:tc>
                <a:tc>
                  <a:txBody>
                    <a:bodyPr wrap="square"/>
                    <a:lstStyle/>
                    <a:p>
                      <a:pPr algn="ctr"/>
                      <a:r>
                        <a:rPr sz="1500" b="0">
                          <a:solidFill>
                            <a:srgbClr val="0B1F2A"/>
                          </a:solidFill>
                          <a:latin typeface="Calibri"/>
                        </a:rPr>
                        <a:t>5</a:t>
                      </a:r>
                    </a:p>
                  </a:txBody>
                  <a:tcPr marL="91440" marR="91440" marT="27432" marB="27432" anchor="ctr">
                    <a:solidFill>
                      <a:srgbClr val="FFFFFF"/>
                    </a:solidFill>
                  </a:tcPr>
                </a:tc>
                <a:tc>
                  <a:txBody>
                    <a:bodyPr wrap="square"/>
                    <a:lstStyle/>
                    <a:p>
                      <a:pPr algn="ctr"/>
                      <a:r>
                        <a:rPr sz="1500" b="0">
                          <a:solidFill>
                            <a:srgbClr val="0B1F2A"/>
                          </a:solidFill>
                          <a:latin typeface="Calibri"/>
                        </a:rPr>
                        <a:t>9</a:t>
                      </a:r>
                    </a:p>
                  </a:txBody>
                  <a:tcPr marL="91440" marR="91440" marT="27432" marB="27432" anchor="ctr">
                    <a:solidFill>
                      <a:srgbClr val="FFFFFF"/>
                    </a:solidFill>
                  </a:tcPr>
                </a:tc>
              </a:tr>
              <a:tr h="429768">
                <a:tc>
                  <a:txBody>
                    <a:bodyPr wrap="square"/>
                    <a:lstStyle/>
                    <a:p>
                      <a:pPr algn="l"/>
                      <a:r>
                        <a:rPr sz="1500" b="0">
                          <a:solidFill>
                            <a:srgbClr val="0B1F2A"/>
                          </a:solidFill>
                          <a:latin typeface="Calibri"/>
                        </a:rPr>
                        <a:t>fourmiliere_cinq</a:t>
                      </a:r>
                    </a:p>
                  </a:txBody>
                  <a:tcPr marL="91440" marR="91440" marT="27432" marB="27432" anchor="ctr">
                    <a:solidFill>
                      <a:srgbClr val="FDE9E0"/>
                    </a:solidFill>
                  </a:tcPr>
                </a:tc>
                <a:tc>
                  <a:txBody>
                    <a:bodyPr wrap="square"/>
                    <a:lstStyle/>
                    <a:p>
                      <a:pPr algn="ctr"/>
                      <a:r>
                        <a:rPr sz="1500" b="0">
                          <a:solidFill>
                            <a:srgbClr val="0B1F2A"/>
                          </a:solidFill>
                          <a:latin typeface="Calibri"/>
                        </a:rPr>
                        <a:t>50</a:t>
                      </a:r>
                    </a:p>
                  </a:txBody>
                  <a:tcPr marL="91440" marR="91440" marT="27432" marB="27432" anchor="ctr">
                    <a:solidFill>
                      <a:srgbClr val="FDE9E0"/>
                    </a:solidFill>
                  </a:tcPr>
                </a:tc>
                <a:tc>
                  <a:txBody>
                    <a:bodyPr wrap="square"/>
                    <a:lstStyle/>
                    <a:p>
                      <a:pPr algn="ctr"/>
                      <a:r>
                        <a:rPr sz="1500" b="0">
                          <a:solidFill>
                            <a:srgbClr val="0B1F2A"/>
                          </a:solidFill>
                          <a:latin typeface="Calibri"/>
                        </a:rPr>
                        <a:t>14</a:t>
                      </a:r>
                    </a:p>
                  </a:txBody>
                  <a:tcPr marL="91440" marR="91440" marT="27432" marB="27432" anchor="ctr">
                    <a:solidFill>
                      <a:srgbClr val="FDE9E0"/>
                    </a:solidFill>
                  </a:tcPr>
                </a:tc>
                <a:tc>
                  <a:txBody>
                    <a:bodyPr wrap="square"/>
                    <a:lstStyle/>
                    <a:p>
                      <a:pPr algn="ctr"/>
                      <a:r>
                        <a:rPr sz="1500" b="0">
                          <a:solidFill>
                            <a:srgbClr val="0B1F2A"/>
                          </a:solidFill>
                          <a:latin typeface="Calibri"/>
                        </a:rPr>
                        <a:t>20</a:t>
                      </a:r>
                    </a:p>
                  </a:txBody>
                  <a:tcPr marL="91440" marR="91440" marT="27432" marB="27432" anchor="ctr">
                    <a:solidFill>
                      <a:srgbClr val="FDE9E0"/>
                    </a:solidFill>
                  </a:tcPr>
                </a:tc>
                <a:tc>
                  <a:txBody>
                    <a:bodyPr wrap="square"/>
                    <a:lstStyle/>
                    <a:p>
                      <a:pPr algn="ctr"/>
                      <a:r>
                        <a:rPr sz="1500" b="0">
                          <a:solidFill>
                            <a:srgbClr val="0B1F2A"/>
                          </a:solidFill>
                          <a:latin typeface="Calibri"/>
                        </a:rPr>
                        <a:t>5</a:t>
                      </a:r>
                    </a:p>
                  </a:txBody>
                  <a:tcPr marL="91440" marR="91440" marT="27432" marB="27432" anchor="ctr">
                    <a:solidFill>
                      <a:srgbClr val="FDE9E0"/>
                    </a:solidFill>
                  </a:tcPr>
                </a:tc>
                <a:tc>
                  <a:txBody>
                    <a:bodyPr wrap="square"/>
                    <a:lstStyle/>
                    <a:p>
                      <a:pPr algn="ctr"/>
                      <a:r>
                        <a:rPr sz="1500" b="1">
                          <a:solidFill>
                            <a:srgbClr val="0B1F2A"/>
                          </a:solidFill>
                          <a:latin typeface="Calibri"/>
                        </a:rPr>
                        <a:t>11</a:t>
                      </a:r>
                    </a:p>
                  </a:txBody>
                  <a:tcPr marL="91440" marR="91440" marT="27432" marB="27432" anchor="ctr">
                    <a:solidFill>
                      <a:srgbClr val="FDE9E0"/>
                    </a:solidFill>
                  </a:tcPr>
                </a:tc>
              </a:tr>
              <a:tr h="429768">
                <a:tc>
                  <a:txBody>
                    <a:bodyPr wrap="square"/>
                    <a:lstStyle/>
                    <a:p>
                      <a:pPr algn="l"/>
                      <a:r>
                        <a:rPr sz="1500" b="0">
                          <a:solidFill>
                            <a:srgbClr val="0B1F2A"/>
                          </a:solidFill>
                          <a:latin typeface="Calibri"/>
                        </a:rPr>
                        <a:t>fourmiliere_3D</a:t>
                      </a:r>
                    </a:p>
                  </a:txBody>
                  <a:tcPr marL="91440" marR="91440" marT="27432" marB="27432" anchor="ctr">
                    <a:solidFill>
                      <a:srgbClr val="FFFFFF"/>
                    </a:solidFill>
                  </a:tcPr>
                </a:tc>
                <a:tc>
                  <a:txBody>
                    <a:bodyPr wrap="square"/>
                    <a:lstStyle/>
                    <a:p>
                      <a:pPr algn="ctr"/>
                      <a:r>
                        <a:rPr sz="1500" b="0">
                          <a:solidFill>
                            <a:srgbClr val="0B1F2A"/>
                          </a:solidFill>
                          <a:latin typeface="Calibri"/>
                        </a:rPr>
                        <a:t>50</a:t>
                      </a:r>
                    </a:p>
                  </a:txBody>
                  <a:tcPr marL="91440" marR="91440" marT="27432" marB="27432" anchor="ctr">
                    <a:solidFill>
                      <a:srgbClr val="FFFFFF"/>
                    </a:solidFill>
                  </a:tcPr>
                </a:tc>
                <a:tc>
                  <a:txBody>
                    <a:bodyPr wrap="square"/>
                    <a:lstStyle/>
                    <a:p>
                      <a:pPr algn="ctr"/>
                      <a:r>
                        <a:rPr sz="1500" b="0">
                          <a:solidFill>
                            <a:srgbClr val="0B1F2A"/>
                          </a:solidFill>
                          <a:latin typeface="Calibri"/>
                        </a:rPr>
                        <a:t>9</a:t>
                      </a:r>
                    </a:p>
                  </a:txBody>
                  <a:tcPr marL="91440" marR="91440" marT="27432" marB="27432" anchor="ctr">
                    <a:solidFill>
                      <a:srgbClr val="FFFFFF"/>
                    </a:solidFill>
                  </a:tcPr>
                </a:tc>
                <a:tc>
                  <a:txBody>
                    <a:bodyPr wrap="square"/>
                    <a:lstStyle/>
                    <a:p>
                      <a:pPr algn="ctr"/>
                      <a:r>
                        <a:rPr sz="1500" b="0">
                          <a:solidFill>
                            <a:srgbClr val="0B1F2A"/>
                          </a:solidFill>
                          <a:latin typeface="Calibri"/>
                        </a:rPr>
                        <a:t>15</a:t>
                      </a:r>
                    </a:p>
                  </a:txBody>
                  <a:tcPr marL="91440" marR="91440" marT="27432" marB="27432" anchor="ctr">
                    <a:solidFill>
                      <a:srgbClr val="FFFFFF"/>
                    </a:solidFill>
                  </a:tcPr>
                </a:tc>
                <a:tc>
                  <a:txBody>
                    <a:bodyPr wrap="square"/>
                    <a:lstStyle/>
                    <a:p>
                      <a:pPr algn="ctr"/>
                      <a:r>
                        <a:rPr sz="1500" b="0">
                          <a:solidFill>
                            <a:srgbClr val="0B1F2A"/>
                          </a:solidFill>
                          <a:latin typeface="Calibri"/>
                        </a:rPr>
                        <a:t>4</a:t>
                      </a:r>
                    </a:p>
                  </a:txBody>
                  <a:tcPr marL="91440" marR="91440" marT="27432" marB="27432" anchor="ctr">
                    <a:solidFill>
                      <a:srgbClr val="FFFFFF"/>
                    </a:solidFill>
                  </a:tcPr>
                </a:tc>
                <a:tc>
                  <a:txBody>
                    <a:bodyPr wrap="square"/>
                    <a:lstStyle/>
                    <a:p>
                      <a:pPr algn="ctr"/>
                      <a:r>
                        <a:rPr sz="1500" b="0">
                          <a:solidFill>
                            <a:srgbClr val="0B1F2A"/>
                          </a:solidFill>
                          <a:latin typeface="Calibri"/>
                        </a:rPr>
                        <a:t>14</a:t>
                      </a:r>
                    </a:p>
                  </a:txBody>
                  <a:tcPr marL="91440" marR="91440" marT="27432" marB="27432" anchor="ctr">
                    <a:solidFill>
                      <a:srgbClr val="FFFFFF"/>
                    </a:solidFill>
                  </a:tcPr>
                </a:tc>
              </a:tr>
              <a:tr h="429768">
                <a:tc>
                  <a:txBody>
                    <a:bodyPr wrap="square"/>
                    <a:lstStyle/>
                    <a:p>
                      <a:pPr algn="l"/>
                      <a:r>
                        <a:rPr sz="1500" b="0">
                          <a:solidFill>
                            <a:srgbClr val="0B1F2A"/>
                          </a:solidFill>
                          <a:latin typeface="Calibri"/>
                        </a:rPr>
                        <a:t>La_hormiguera_de_la_muerte</a:t>
                      </a:r>
                    </a:p>
                  </a:txBody>
                  <a:tcPr marL="91440" marR="91440" marT="27432" marB="27432" anchor="ctr">
                    <a:solidFill>
                      <a:srgbClr val="F3F5F7"/>
                    </a:solidFill>
                  </a:tcPr>
                </a:tc>
                <a:tc>
                  <a:txBody>
                    <a:bodyPr wrap="square"/>
                    <a:lstStyle/>
                    <a:p>
                      <a:pPr algn="ctr"/>
                      <a:r>
                        <a:rPr sz="1500" b="0">
                          <a:solidFill>
                            <a:srgbClr val="0B1F2A"/>
                          </a:solidFill>
                          <a:latin typeface="Calibri"/>
                        </a:rPr>
                        <a:t>30</a:t>
                      </a:r>
                    </a:p>
                  </a:txBody>
                  <a:tcPr marL="91440" marR="91440" marT="27432" marB="27432" anchor="ctr">
                    <a:solidFill>
                      <a:srgbClr val="F3F5F7"/>
                    </a:solidFill>
                  </a:tcPr>
                </a:tc>
                <a:tc>
                  <a:txBody>
                    <a:bodyPr wrap="square"/>
                    <a:lstStyle/>
                    <a:p>
                      <a:pPr algn="ctr"/>
                      <a:r>
                        <a:rPr sz="1500" b="0">
                          <a:solidFill>
                            <a:srgbClr val="0B1F2A"/>
                          </a:solidFill>
                          <a:latin typeface="Calibri"/>
                        </a:rPr>
                        <a:t>10</a:t>
                      </a:r>
                    </a:p>
                  </a:txBody>
                  <a:tcPr marL="91440" marR="91440" marT="27432" marB="27432" anchor="ctr">
                    <a:solidFill>
                      <a:srgbClr val="F3F5F7"/>
                    </a:solidFill>
                  </a:tcPr>
                </a:tc>
                <a:tc>
                  <a:txBody>
                    <a:bodyPr wrap="square"/>
                    <a:lstStyle/>
                    <a:p>
                      <a:pPr algn="ctr"/>
                      <a:r>
                        <a:rPr sz="1500" b="0">
                          <a:solidFill>
                            <a:srgbClr val="0B1F2A"/>
                          </a:solidFill>
                          <a:latin typeface="Calibri"/>
                        </a:rPr>
                        <a:t>46</a:t>
                      </a:r>
                    </a:p>
                  </a:txBody>
                  <a:tcPr marL="91440" marR="91440" marT="27432" marB="27432" anchor="ctr">
                    <a:solidFill>
                      <a:srgbClr val="F3F5F7"/>
                    </a:solidFill>
                  </a:tcPr>
                </a:tc>
                <a:tc>
                  <a:txBody>
                    <a:bodyPr wrap="square"/>
                    <a:lstStyle/>
                    <a:p>
                      <a:pPr algn="ctr"/>
                      <a:r>
                        <a:rPr sz="1500" b="0">
                          <a:solidFill>
                            <a:srgbClr val="0B1F2A"/>
                          </a:solidFill>
                          <a:latin typeface="Calibri"/>
                        </a:rPr>
                        <a:t>4</a:t>
                      </a:r>
                    </a:p>
                  </a:txBody>
                  <a:tcPr marL="91440" marR="91440" marT="27432" marB="27432" anchor="ctr">
                    <a:solidFill>
                      <a:srgbClr val="F3F5F7"/>
                    </a:solidFill>
                  </a:tcPr>
                </a:tc>
                <a:tc>
                  <a:txBody>
                    <a:bodyPr wrap="square"/>
                    <a:lstStyle/>
                    <a:p>
                      <a:pPr algn="ctr"/>
                      <a:r>
                        <a:rPr sz="1500" b="0">
                          <a:solidFill>
                            <a:srgbClr val="0B1F2A"/>
                          </a:solidFill>
                          <a:latin typeface="Calibri"/>
                        </a:rPr>
                        <a:t>9</a:t>
                      </a:r>
                    </a:p>
                  </a:txBody>
                  <a:tcPr marL="91440" marR="91440" marT="27432" marB="27432" anchor="ctr">
                    <a:solidFill>
                      <a:srgbClr val="F3F5F7"/>
                    </a:solidFill>
                  </a:tcPr>
                </a:tc>
              </a:tr>
              <a:tr h="429768">
                <a:tc>
                  <a:txBody>
                    <a:bodyPr wrap="square"/>
                    <a:lstStyle/>
                    <a:p>
                      <a:pPr algn="l"/>
                      <a:r>
                        <a:rPr sz="1500" b="0">
                          <a:solidFill>
                            <a:srgbClr val="0B1F2A"/>
                          </a:solidFill>
                          <a:latin typeface="Calibri"/>
                        </a:rPr>
                        <a:t>salle_d_at-ant</a:t>
                      </a:r>
                    </a:p>
                  </a:txBody>
                  <a:tcPr marL="91440" marR="91440" marT="27432" marB="27432" anchor="ctr">
                    <a:solidFill>
                      <a:srgbClr val="FDE9E0"/>
                    </a:solidFill>
                  </a:tcPr>
                </a:tc>
                <a:tc>
                  <a:txBody>
                    <a:bodyPr wrap="square"/>
                    <a:lstStyle/>
                    <a:p>
                      <a:pPr algn="ctr"/>
                      <a:r>
                        <a:rPr sz="1500" b="0">
                          <a:solidFill>
                            <a:srgbClr val="0B1F2A"/>
                          </a:solidFill>
                          <a:latin typeface="Calibri"/>
                        </a:rPr>
                        <a:t>100</a:t>
                      </a:r>
                    </a:p>
                  </a:txBody>
                  <a:tcPr marL="91440" marR="91440" marT="27432" marB="27432" anchor="ctr">
                    <a:solidFill>
                      <a:srgbClr val="FDE9E0"/>
                    </a:solidFill>
                  </a:tcPr>
                </a:tc>
                <a:tc>
                  <a:txBody>
                    <a:bodyPr wrap="square"/>
                    <a:lstStyle/>
                    <a:p>
                      <a:pPr algn="ctr"/>
                      <a:r>
                        <a:rPr sz="1500" b="0">
                          <a:solidFill>
                            <a:srgbClr val="0B1F2A"/>
                          </a:solidFill>
                          <a:latin typeface="Calibri"/>
                        </a:rPr>
                        <a:t>21</a:t>
                      </a:r>
                    </a:p>
                  </a:txBody>
                  <a:tcPr marL="91440" marR="91440" marT="27432" marB="27432" anchor="ctr">
                    <a:solidFill>
                      <a:srgbClr val="FDE9E0"/>
                    </a:solidFill>
                  </a:tcPr>
                </a:tc>
                <a:tc>
                  <a:txBody>
                    <a:bodyPr wrap="square"/>
                    <a:lstStyle/>
                    <a:p>
                      <a:pPr algn="ctr"/>
                      <a:r>
                        <a:rPr sz="1500" b="0">
                          <a:solidFill>
                            <a:srgbClr val="0B1F2A"/>
                          </a:solidFill>
                          <a:latin typeface="Calibri"/>
                        </a:rPr>
                        <a:t>28</a:t>
                      </a:r>
                    </a:p>
                  </a:txBody>
                  <a:tcPr marL="91440" marR="91440" marT="27432" marB="27432" anchor="ctr">
                    <a:solidFill>
                      <a:srgbClr val="FDE9E0"/>
                    </a:solidFill>
                  </a:tcPr>
                </a:tc>
                <a:tc>
                  <a:txBody>
                    <a:bodyPr wrap="square"/>
                    <a:lstStyle/>
                    <a:p>
                      <a:pPr algn="ctr"/>
                      <a:r>
                        <a:rPr sz="1500" b="0">
                          <a:solidFill>
                            <a:srgbClr val="0B1F2A"/>
                          </a:solidFill>
                          <a:latin typeface="Calibri"/>
                        </a:rPr>
                        <a:t>6</a:t>
                      </a:r>
                    </a:p>
                  </a:txBody>
                  <a:tcPr marL="91440" marR="91440" marT="27432" marB="27432" anchor="ctr">
                    <a:solidFill>
                      <a:srgbClr val="FDE9E0"/>
                    </a:solidFill>
                  </a:tcPr>
                </a:tc>
                <a:tc>
                  <a:txBody>
                    <a:bodyPr wrap="square"/>
                    <a:lstStyle/>
                    <a:p>
                      <a:pPr algn="ctr"/>
                      <a:r>
                        <a:rPr sz="1500" b="1">
                          <a:solidFill>
                            <a:srgbClr val="0B1F2A"/>
                          </a:solidFill>
                          <a:latin typeface="Calibri"/>
                        </a:rPr>
                        <a:t>15</a:t>
                      </a:r>
                    </a:p>
                  </a:txBody>
                  <a:tcPr marL="91440" marR="91440" marT="27432" marB="27432" anchor="ctr">
                    <a:solidFill>
                      <a:srgbClr val="FDE9E0"/>
                    </a:solidFill>
                  </a:tcPr>
                </a:tc>
              </a:tr>
            </a:tbl>
          </a:graphicData>
        </a:graphic>
      </p:graphicFrame>
      <p:sp>
        <p:nvSpPr>
          <p:cNvPr id="6" name="Rounded Rectangle 5"/>
          <p:cNvSpPr/>
          <p:nvPr/>
        </p:nvSpPr>
        <p:spPr>
          <a:xfrm>
            <a:off x="8549640" y="1600200"/>
            <a:ext cx="3200400" cy="1325880"/>
          </a:xfrm>
          <a:prstGeom prst="roundRect">
            <a:avLst>
              <a:gd name="adj" fmla="val 8000"/>
            </a:avLst>
          </a:prstGeom>
          <a:solidFill>
            <a:srgbClr val="F3F5F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p>
        </p:txBody>
      </p:sp>
      <p:sp>
        <p:nvSpPr>
          <p:cNvPr id="7" name="TextBox 6"/>
          <p:cNvSpPr txBox="1"/>
          <p:nvPr/>
        </p:nvSpPr>
        <p:spPr>
          <a:xfrm>
            <a:off x="8778240" y="1709928"/>
            <a:ext cx="2834640" cy="548640"/>
          </a:xfrm>
          <a:prstGeom prst="rect">
            <a:avLst/>
          </a:prstGeom>
          <a:noFill/>
        </p:spPr>
        <p:txBody>
          <a:bodyPr wrap="square" lIns="0" rIns="0" tIns="0" bIns="0" anchor="t">
            <a:spAutoFit/>
          </a:bodyPr>
          <a:lstStyle/>
          <a:p>
            <a:pPr algn="l">
              <a:lnSpc>
                <a:spcPct val="100000"/>
              </a:lnSpc>
            </a:pPr>
            <a:r>
              <a:rPr sz="3000" b="1" i="0">
                <a:solidFill>
                  <a:srgbClr val="EB6834"/>
                </a:solidFill>
                <a:latin typeface="Calibri"/>
              </a:rPr>
              <a:t>100 → 15</a:t>
            </a:r>
          </a:p>
        </p:txBody>
      </p:sp>
      <p:sp>
        <p:nvSpPr>
          <p:cNvPr id="8" name="TextBox 7"/>
          <p:cNvSpPr txBox="1"/>
          <p:nvPr/>
        </p:nvSpPr>
        <p:spPr>
          <a:xfrm>
            <a:off x="8778240" y="2286000"/>
            <a:ext cx="2834640" cy="594360"/>
          </a:xfrm>
          <a:prstGeom prst="rect">
            <a:avLst/>
          </a:prstGeom>
          <a:noFill/>
        </p:spPr>
        <p:txBody>
          <a:bodyPr wrap="square" lIns="0" rIns="0" tIns="0" bIns="0" anchor="t">
            <a:spAutoFit/>
          </a:bodyPr>
          <a:lstStyle/>
          <a:p>
            <a:pPr algn="l">
              <a:lnSpc>
                <a:spcPct val="100000"/>
              </a:lnSpc>
            </a:pPr>
            <a:r>
              <a:rPr sz="1250" b="0" i="0">
                <a:solidFill>
                  <a:srgbClr val="5B636A"/>
                </a:solidFill>
                <a:latin typeface="Calibri"/>
              </a:rPr>
              <a:t>100 fourmis en 15 étapes (salle_d_at-ant)</a:t>
            </a:r>
          </a:p>
        </p:txBody>
      </p:sp>
      <p:sp>
        <p:nvSpPr>
          <p:cNvPr id="9" name="Rounded Rectangle 8"/>
          <p:cNvSpPr/>
          <p:nvPr/>
        </p:nvSpPr>
        <p:spPr>
          <a:xfrm>
            <a:off x="8549640" y="3081528"/>
            <a:ext cx="3200400" cy="1325880"/>
          </a:xfrm>
          <a:prstGeom prst="roundRect">
            <a:avLst>
              <a:gd name="adj" fmla="val 8000"/>
            </a:avLst>
          </a:prstGeom>
          <a:solidFill>
            <a:srgbClr val="F3F5F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p>
        </p:txBody>
      </p:sp>
      <p:sp>
        <p:nvSpPr>
          <p:cNvPr id="10" name="TextBox 9"/>
          <p:cNvSpPr txBox="1"/>
          <p:nvPr/>
        </p:nvSpPr>
        <p:spPr>
          <a:xfrm>
            <a:off x="8778240" y="3191256"/>
            <a:ext cx="2834640" cy="548640"/>
          </a:xfrm>
          <a:prstGeom prst="rect">
            <a:avLst/>
          </a:prstGeom>
          <a:noFill/>
        </p:spPr>
        <p:txBody>
          <a:bodyPr wrap="square" lIns="0" rIns="0" tIns="0" bIns="0" anchor="t">
            <a:spAutoFit/>
          </a:bodyPr>
          <a:lstStyle/>
          <a:p>
            <a:pPr algn="l">
              <a:lnSpc>
                <a:spcPct val="100000"/>
              </a:lnSpc>
            </a:pPr>
            <a:r>
              <a:rPr sz="3000" b="1" i="0">
                <a:solidFill>
                  <a:srgbClr val="0B1F2A"/>
                </a:solidFill>
                <a:latin typeface="Calibri"/>
              </a:rPr>
              <a:t>400 / 400</a:t>
            </a:r>
          </a:p>
        </p:txBody>
      </p:sp>
      <p:sp>
        <p:nvSpPr>
          <p:cNvPr id="11" name="TextBox 10"/>
          <p:cNvSpPr txBox="1"/>
          <p:nvPr/>
        </p:nvSpPr>
        <p:spPr>
          <a:xfrm>
            <a:off x="8778240" y="3767328"/>
            <a:ext cx="2834640" cy="594360"/>
          </a:xfrm>
          <a:prstGeom prst="rect">
            <a:avLst/>
          </a:prstGeom>
          <a:noFill/>
        </p:spPr>
        <p:txBody>
          <a:bodyPr wrap="square" lIns="0" rIns="0" tIns="0" bIns="0" anchor="t">
            <a:spAutoFit/>
          </a:bodyPr>
          <a:lstStyle/>
          <a:p>
            <a:pPr algn="l">
              <a:lnSpc>
                <a:spcPct val="100000"/>
              </a:lnSpc>
            </a:pPr>
            <a:r>
              <a:rPr sz="1250" b="0" i="0">
                <a:solidFill>
                  <a:srgbClr val="5B636A"/>
                </a:solidFill>
                <a:latin typeface="Calibri"/>
              </a:rPr>
              <a:t>graphes aléatoires : même minimum que
l'exploration exhaustive (BFS sur les états)</a:t>
            </a:r>
          </a:p>
        </p:txBody>
      </p:sp>
      <p:sp>
        <p:nvSpPr>
          <p:cNvPr id="12" name="Rounded Rectangle 11"/>
          <p:cNvSpPr/>
          <p:nvPr/>
        </p:nvSpPr>
        <p:spPr>
          <a:xfrm>
            <a:off x="8549640" y="4562856"/>
            <a:ext cx="3200400" cy="1325880"/>
          </a:xfrm>
          <a:prstGeom prst="roundRect">
            <a:avLst>
              <a:gd name="adj" fmla="val 8000"/>
            </a:avLst>
          </a:prstGeom>
          <a:solidFill>
            <a:srgbClr val="F3F5F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p>
        </p:txBody>
      </p:sp>
      <p:sp>
        <p:nvSpPr>
          <p:cNvPr id="13" name="TextBox 12"/>
          <p:cNvSpPr txBox="1"/>
          <p:nvPr/>
        </p:nvSpPr>
        <p:spPr>
          <a:xfrm>
            <a:off x="8778240" y="4672584"/>
            <a:ext cx="2834640" cy="548640"/>
          </a:xfrm>
          <a:prstGeom prst="rect">
            <a:avLst/>
          </a:prstGeom>
          <a:noFill/>
        </p:spPr>
        <p:txBody>
          <a:bodyPr wrap="square" lIns="0" rIns="0" tIns="0" bIns="0" anchor="t">
            <a:spAutoFit/>
          </a:bodyPr>
          <a:lstStyle/>
          <a:p>
            <a:pPr algn="l">
              <a:lnSpc>
                <a:spcPct val="100000"/>
              </a:lnSpc>
            </a:pPr>
            <a:r>
              <a:rPr sz="3000" b="1" i="0">
                <a:solidFill>
                  <a:srgbClr val="0B1F2A"/>
                </a:solidFill>
                <a:latin typeface="Calibri"/>
              </a:rPr>
              <a:t>56</a:t>
            </a:r>
          </a:p>
        </p:txBody>
      </p:sp>
      <p:sp>
        <p:nvSpPr>
          <p:cNvPr id="14" name="TextBox 13"/>
          <p:cNvSpPr txBox="1"/>
          <p:nvPr/>
        </p:nvSpPr>
        <p:spPr>
          <a:xfrm>
            <a:off x="8778240" y="5248656"/>
            <a:ext cx="2834640" cy="594360"/>
          </a:xfrm>
          <a:prstGeom prst="rect">
            <a:avLst/>
          </a:prstGeom>
          <a:noFill/>
        </p:spPr>
        <p:txBody>
          <a:bodyPr wrap="square" lIns="0" rIns="0" tIns="0" bIns="0" anchor="t">
            <a:spAutoFit/>
          </a:bodyPr>
          <a:lstStyle/>
          <a:p>
            <a:pPr algn="l">
              <a:lnSpc>
                <a:spcPct val="100000"/>
              </a:lnSpc>
            </a:pPr>
            <a:r>
              <a:rPr sz="1250" b="0" i="0">
                <a:solidFill>
                  <a:srgbClr val="5B636A"/>
                </a:solidFill>
                <a:latin typeface="Calibri"/>
              </a:rPr>
              <a:t>tests automatiques : parseur, règles,
cas limites, optimalité</a:t>
            </a:r>
          </a:p>
        </p:txBody>
      </p:sp>
      <p:sp>
        <p:nvSpPr>
          <p:cNvPr id="15" name="TextBox 14"/>
          <p:cNvSpPr txBox="1"/>
          <p:nvPr/>
        </p:nvSpPr>
        <p:spPr>
          <a:xfrm>
            <a:off x="548640" y="6473952"/>
            <a:ext cx="5486400" cy="274320"/>
          </a:xfrm>
          <a:prstGeom prst="rect">
            <a:avLst/>
          </a:prstGeom>
          <a:noFill/>
        </p:spPr>
        <p:txBody>
          <a:bodyPr wrap="square" lIns="0" rIns="0" tIns="0" bIns="0" anchor="t">
            <a:spAutoFit/>
          </a:bodyPr>
          <a:lstStyle/>
          <a:p>
            <a:pPr algn="l">
              <a:lnSpc>
                <a:spcPct val="100000"/>
              </a:lnSpc>
            </a:pPr>
            <a:r>
              <a:rPr sz="1000" b="0" i="0">
                <a:solidFill>
                  <a:srgbClr val="5B636A"/>
                </a:solidFill>
                <a:latin typeface="Calibri"/>
              </a:rPr>
              <a:t>Une vie de fourmi · Romain · Lisa · Yannis</a:t>
            </a:r>
          </a:p>
        </p:txBody>
      </p:sp>
      <p:sp>
        <p:nvSpPr>
          <p:cNvPr id="16" name="TextBox 15"/>
          <p:cNvSpPr txBox="1"/>
          <p:nvPr/>
        </p:nvSpPr>
        <p:spPr>
          <a:xfrm>
            <a:off x="11185855" y="6473952"/>
            <a:ext cx="457200" cy="274320"/>
          </a:xfrm>
          <a:prstGeom prst="rect">
            <a:avLst/>
          </a:prstGeom>
          <a:noFill/>
        </p:spPr>
        <p:txBody>
          <a:bodyPr wrap="square" lIns="0" rIns="0" tIns="0" bIns="0" anchor="t">
            <a:spAutoFit/>
          </a:bodyPr>
          <a:lstStyle/>
          <a:p>
            <a:pPr algn="r">
              <a:lnSpc>
                <a:spcPct val="100000"/>
              </a:lnSpc>
            </a:pPr>
            <a:r>
              <a:rPr sz="1000" b="0" i="0">
                <a:solidFill>
                  <a:srgbClr val="5B636A"/>
                </a:solidFill>
                <a:latin typeface="Calibri"/>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B1F2A"/>
        </a:solidFill>
        <a:effectLst/>
      </p:bgPr>
    </p:bg>
    <p:spTree>
      <p:nvGrpSpPr>
        <p:cNvPr id="1" name=""/>
        <p:cNvGrpSpPr/>
        <p:nvPr/>
      </p:nvGrpSpPr>
      <p:grpSpPr/>
      <p:sp>
        <p:nvSpPr>
          <p:cNvPr id="2" name="Rounded Rectangle 1"/>
          <p:cNvSpPr/>
          <p:nvPr/>
        </p:nvSpPr>
        <p:spPr>
          <a:xfrm>
            <a:off x="9859975" y="384048"/>
            <a:ext cx="1920240" cy="384048"/>
          </a:xfrm>
          <a:prstGeom prst="roundRect">
            <a:avLst>
              <a:gd name="adj" fmla="val 50000"/>
            </a:avLst>
          </a:prstGeom>
          <a:solidFill>
            <a:srgbClr val="16324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300" b="1">
                <a:solidFill>
                  <a:srgbClr val="C9D4DA"/>
                </a:solidFill>
                <a:latin typeface="Calibri"/>
              </a:rPr>
              <a:t>Yannis · 25 s</a:t>
            </a:r>
          </a:p>
        </p:txBody>
      </p:sp>
      <p:sp>
        <p:nvSpPr>
          <p:cNvPr id="3" name="TextBox 2"/>
          <p:cNvSpPr txBox="1"/>
          <p:nvPr/>
        </p:nvSpPr>
        <p:spPr>
          <a:xfrm>
            <a:off x="548640" y="457200"/>
            <a:ext cx="7315200" cy="731520"/>
          </a:xfrm>
          <a:prstGeom prst="rect">
            <a:avLst/>
          </a:prstGeom>
          <a:noFill/>
        </p:spPr>
        <p:txBody>
          <a:bodyPr wrap="square" lIns="0" rIns="0" tIns="0" bIns="0" anchor="t">
            <a:spAutoFit/>
          </a:bodyPr>
          <a:lstStyle/>
          <a:p>
            <a:pPr algn="l">
              <a:lnSpc>
                <a:spcPct val="100000"/>
              </a:lnSpc>
            </a:pPr>
            <a:r>
              <a:rPr sz="3600" b="1" i="0">
                <a:solidFill>
                  <a:srgbClr val="FFFFFF"/>
                </a:solidFill>
                <a:latin typeface="Calibri"/>
              </a:rPr>
              <a:t>Ce qu'on a construit</a:t>
            </a:r>
          </a:p>
        </p:txBody>
      </p:sp>
      <p:sp>
        <p:nvSpPr>
          <p:cNvPr id="4" name="Rounded Rectangle 3"/>
          <p:cNvSpPr/>
          <p:nvPr/>
        </p:nvSpPr>
        <p:spPr>
          <a:xfrm>
            <a:off x="548640" y="1554480"/>
            <a:ext cx="3520440" cy="1920240"/>
          </a:xfrm>
          <a:prstGeom prst="roundRect">
            <a:avLst>
              <a:gd name="adj" fmla="val 8000"/>
            </a:avLst>
          </a:prstGeom>
          <a:solidFill>
            <a:srgbClr val="16324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p>
        </p:txBody>
      </p:sp>
      <p:sp>
        <p:nvSpPr>
          <p:cNvPr id="5" name="TextBox 4"/>
          <p:cNvSpPr txBox="1"/>
          <p:nvPr/>
        </p:nvSpPr>
        <p:spPr>
          <a:xfrm>
            <a:off x="822960" y="1783080"/>
            <a:ext cx="3017520" cy="457200"/>
          </a:xfrm>
          <a:prstGeom prst="rect">
            <a:avLst/>
          </a:prstGeom>
          <a:noFill/>
        </p:spPr>
        <p:txBody>
          <a:bodyPr wrap="square" lIns="0" rIns="0" tIns="0" bIns="0" anchor="t">
            <a:spAutoFit/>
          </a:bodyPr>
          <a:lstStyle/>
          <a:p>
            <a:pPr algn="l">
              <a:lnSpc>
                <a:spcPct val="100000"/>
              </a:lnSpc>
            </a:pPr>
            <a:r>
              <a:rPr sz="2400" b="1" i="0">
                <a:solidFill>
                  <a:srgbClr val="EB6834"/>
                </a:solidFill>
                <a:latin typeface="Calibri"/>
              </a:rPr>
              <a:t>CORRECT</a:t>
            </a:r>
          </a:p>
        </p:txBody>
      </p:sp>
      <p:sp>
        <p:nvSpPr>
          <p:cNvPr id="6" name="TextBox 5"/>
          <p:cNvSpPr txBox="1"/>
          <p:nvPr/>
        </p:nvSpPr>
        <p:spPr>
          <a:xfrm>
            <a:off x="822960" y="2377440"/>
            <a:ext cx="3017520" cy="1005840"/>
          </a:xfrm>
          <a:prstGeom prst="rect">
            <a:avLst/>
          </a:prstGeom>
          <a:noFill/>
        </p:spPr>
        <p:txBody>
          <a:bodyPr wrap="square" lIns="0" rIns="0" tIns="0" bIns="0" anchor="t">
            <a:spAutoFit/>
          </a:bodyPr>
          <a:lstStyle/>
          <a:p>
            <a:pPr algn="l">
              <a:lnSpc>
                <a:spcPct val="100000"/>
              </a:lnSpc>
            </a:pPr>
            <a:r>
              <a:rPr sz="1600" b="0" i="0">
                <a:solidFill>
                  <a:srgbClr val="C9D4DA"/>
                </a:solidFill>
                <a:latin typeface="Calibri"/>
              </a:rPr>
              <a:t>capacités et simultanéité respectées, vérifiées sur chaque étape</a:t>
            </a:r>
          </a:p>
        </p:txBody>
      </p:sp>
      <p:sp>
        <p:nvSpPr>
          <p:cNvPr id="7" name="Rounded Rectangle 6"/>
          <p:cNvSpPr/>
          <p:nvPr/>
        </p:nvSpPr>
        <p:spPr>
          <a:xfrm>
            <a:off x="4297679" y="1554480"/>
            <a:ext cx="3520440" cy="1920240"/>
          </a:xfrm>
          <a:prstGeom prst="roundRect">
            <a:avLst>
              <a:gd name="adj" fmla="val 8000"/>
            </a:avLst>
          </a:prstGeom>
          <a:solidFill>
            <a:srgbClr val="16324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p>
        </p:txBody>
      </p:sp>
      <p:sp>
        <p:nvSpPr>
          <p:cNvPr id="8" name="TextBox 7"/>
          <p:cNvSpPr txBox="1"/>
          <p:nvPr/>
        </p:nvSpPr>
        <p:spPr>
          <a:xfrm>
            <a:off x="4571999" y="1783080"/>
            <a:ext cx="3017520" cy="457200"/>
          </a:xfrm>
          <a:prstGeom prst="rect">
            <a:avLst/>
          </a:prstGeom>
          <a:noFill/>
        </p:spPr>
        <p:txBody>
          <a:bodyPr wrap="square" lIns="0" rIns="0" tIns="0" bIns="0" anchor="t">
            <a:spAutoFit/>
          </a:bodyPr>
          <a:lstStyle/>
          <a:p>
            <a:pPr algn="l">
              <a:lnSpc>
                <a:spcPct val="100000"/>
              </a:lnSpc>
            </a:pPr>
            <a:r>
              <a:rPr sz="2400" b="1" i="0">
                <a:solidFill>
                  <a:srgbClr val="EB6834"/>
                </a:solidFill>
                <a:latin typeface="Calibri"/>
              </a:rPr>
              <a:t>OPTIMAL</a:t>
            </a:r>
          </a:p>
        </p:txBody>
      </p:sp>
      <p:sp>
        <p:nvSpPr>
          <p:cNvPr id="9" name="TextBox 8"/>
          <p:cNvSpPr txBox="1"/>
          <p:nvPr/>
        </p:nvSpPr>
        <p:spPr>
          <a:xfrm>
            <a:off x="4571999" y="2377440"/>
            <a:ext cx="3017520" cy="1005840"/>
          </a:xfrm>
          <a:prstGeom prst="rect">
            <a:avLst/>
          </a:prstGeom>
          <a:noFill/>
        </p:spPr>
        <p:txBody>
          <a:bodyPr wrap="square" lIns="0" rIns="0" tIns="0" bIns="0" anchor="t">
            <a:spAutoFit/>
          </a:bodyPr>
          <a:lstStyle/>
          <a:p>
            <a:pPr algn="l">
              <a:lnSpc>
                <a:spcPct val="100000"/>
              </a:lnSpc>
            </a:pPr>
            <a:r>
              <a:rPr sz="1600" b="0" i="0">
                <a:solidFill>
                  <a:srgbClr val="C9D4DA"/>
                </a:solidFill>
                <a:latin typeface="Calibri"/>
              </a:rPr>
              <a:t>minimum d'étapes prouvé par le max-flow et recoupé par recherche exhaustive</a:t>
            </a:r>
          </a:p>
        </p:txBody>
      </p:sp>
      <p:sp>
        <p:nvSpPr>
          <p:cNvPr id="10" name="Rounded Rectangle 9"/>
          <p:cNvSpPr/>
          <p:nvPr/>
        </p:nvSpPr>
        <p:spPr>
          <a:xfrm>
            <a:off x="8046718" y="1554480"/>
            <a:ext cx="3520440" cy="1920240"/>
          </a:xfrm>
          <a:prstGeom prst="roundRect">
            <a:avLst>
              <a:gd name="adj" fmla="val 8000"/>
            </a:avLst>
          </a:prstGeom>
          <a:solidFill>
            <a:srgbClr val="16324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p>
        </p:txBody>
      </p:sp>
      <p:sp>
        <p:nvSpPr>
          <p:cNvPr id="11" name="TextBox 10"/>
          <p:cNvSpPr txBox="1"/>
          <p:nvPr/>
        </p:nvSpPr>
        <p:spPr>
          <a:xfrm>
            <a:off x="8321038" y="1783080"/>
            <a:ext cx="3017520" cy="457200"/>
          </a:xfrm>
          <a:prstGeom prst="rect">
            <a:avLst/>
          </a:prstGeom>
          <a:noFill/>
        </p:spPr>
        <p:txBody>
          <a:bodyPr wrap="square" lIns="0" rIns="0" tIns="0" bIns="0" anchor="t">
            <a:spAutoFit/>
          </a:bodyPr>
          <a:lstStyle/>
          <a:p>
            <a:pPr algn="l">
              <a:lnSpc>
                <a:spcPct val="100000"/>
              </a:lnSpc>
            </a:pPr>
            <a:r>
              <a:rPr sz="2400" b="1" i="0">
                <a:solidFill>
                  <a:srgbClr val="EB6834"/>
                </a:solidFill>
                <a:latin typeface="Calibri"/>
              </a:rPr>
              <a:t>VISUEL</a:t>
            </a:r>
          </a:p>
        </p:txBody>
      </p:sp>
      <p:sp>
        <p:nvSpPr>
          <p:cNvPr id="12" name="TextBox 11"/>
          <p:cNvSpPr txBox="1"/>
          <p:nvPr/>
        </p:nvSpPr>
        <p:spPr>
          <a:xfrm>
            <a:off x="8321038" y="2377440"/>
            <a:ext cx="3017520" cy="1005840"/>
          </a:xfrm>
          <a:prstGeom prst="rect">
            <a:avLst/>
          </a:prstGeom>
          <a:noFill/>
        </p:spPr>
        <p:txBody>
          <a:bodyPr wrap="square" lIns="0" rIns="0" tIns="0" bIns="0" anchor="t">
            <a:spAutoFit/>
          </a:bodyPr>
          <a:lstStyle/>
          <a:p>
            <a:pPr algn="l">
              <a:lnSpc>
                <a:spcPct val="100000"/>
              </a:lnSpc>
            </a:pPr>
            <a:r>
              <a:rPr sz="1600" b="0" i="0">
                <a:solidFill>
                  <a:srgbClr val="C9D4DA"/>
                </a:solidFill>
                <a:latin typeface="Calibri"/>
              </a:rPr>
              <a:t>graphe complet, étapes, GIF et trafic cumulé générés automatiquement</a:t>
            </a:r>
          </a:p>
        </p:txBody>
      </p:sp>
      <p:sp>
        <p:nvSpPr>
          <p:cNvPr id="13" name="TextBox 12"/>
          <p:cNvSpPr txBox="1"/>
          <p:nvPr/>
        </p:nvSpPr>
        <p:spPr>
          <a:xfrm>
            <a:off x="548640" y="3977639"/>
            <a:ext cx="11064240" cy="1280160"/>
          </a:xfrm>
          <a:prstGeom prst="rect">
            <a:avLst/>
          </a:prstGeom>
          <a:noFill/>
        </p:spPr>
        <p:txBody>
          <a:bodyPr wrap="square" lIns="0" rIns="0" tIns="0" bIns="0" anchor="t">
            <a:spAutoFit/>
          </a:bodyPr>
          <a:lstStyle/>
          <a:p>
            <a:pPr algn="l">
              <a:lnSpc>
                <a:spcPct val="110000"/>
              </a:lnSpc>
            </a:pPr>
            <a:r>
              <a:rPr sz="3000" b="0" i="0">
                <a:solidFill>
                  <a:srgbClr val="C9D4DA"/>
                </a:solidFill>
                <a:latin typeface="Calibri"/>
              </a:rPr>
              <a:t>Le plus court chemin optimise une fourmi.</a:t>
            </a:r>
          </a:p>
          <a:p>
            <a:pPr algn="l">
              <a:lnSpc>
                <a:spcPct val="110000"/>
              </a:lnSpc>
            </a:pPr>
            <a:r>
              <a:rPr sz="3000" b="1" i="0">
                <a:solidFill>
                  <a:srgbClr val="FFFFFF"/>
                </a:solidFill>
                <a:latin typeface="Calibri"/>
              </a:rPr>
              <a:t>Notre solution optimise toute la colonie.</a:t>
            </a:r>
          </a:p>
        </p:txBody>
      </p:sp>
      <p:sp>
        <p:nvSpPr>
          <p:cNvPr id="14" name="TextBox 13"/>
          <p:cNvSpPr txBox="1"/>
          <p:nvPr/>
        </p:nvSpPr>
        <p:spPr>
          <a:xfrm>
            <a:off x="548640" y="5486400"/>
            <a:ext cx="5486400" cy="548640"/>
          </a:xfrm>
          <a:prstGeom prst="rect">
            <a:avLst/>
          </a:prstGeom>
          <a:noFill/>
        </p:spPr>
        <p:txBody>
          <a:bodyPr wrap="square" lIns="0" rIns="0" tIns="0" bIns="0" anchor="t">
            <a:spAutoFit/>
          </a:bodyPr>
          <a:lstStyle/>
          <a:p>
            <a:pPr algn="l">
              <a:lnSpc>
                <a:spcPct val="100000"/>
              </a:lnSpc>
            </a:pPr>
            <a:r>
              <a:rPr sz="2800" b="1" i="0">
                <a:solidFill>
                  <a:srgbClr val="EB6834"/>
                </a:solidFill>
                <a:latin typeface="Calibri"/>
              </a:rPr>
              <a:t>Questions ?</a:t>
            </a:r>
          </a:p>
        </p:txBody>
      </p:sp>
      <p:sp>
        <p:nvSpPr>
          <p:cNvPr id="15" name="TextBox 14"/>
          <p:cNvSpPr txBox="1"/>
          <p:nvPr/>
        </p:nvSpPr>
        <p:spPr>
          <a:xfrm>
            <a:off x="6217920" y="5623560"/>
            <a:ext cx="5394960" cy="365760"/>
          </a:xfrm>
          <a:prstGeom prst="rect">
            <a:avLst/>
          </a:prstGeom>
          <a:noFill/>
        </p:spPr>
        <p:txBody>
          <a:bodyPr wrap="square" lIns="0" rIns="0" tIns="0" bIns="0" anchor="t">
            <a:spAutoFit/>
          </a:bodyPr>
          <a:lstStyle/>
          <a:p>
            <a:pPr algn="r">
              <a:lnSpc>
                <a:spcPct val="100000"/>
              </a:lnSpc>
            </a:pPr>
            <a:r>
              <a:rPr sz="1400" b="0" i="0">
                <a:solidFill>
                  <a:srgbClr val="C9D4DA"/>
                </a:solidFill>
                <a:latin typeface="Calibri"/>
              </a:rPr>
              <a:t>github.com/RomainJazzar/uneviedefourmi</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10317176" y="384048"/>
            <a:ext cx="1463040" cy="384048"/>
          </a:xfrm>
          <a:prstGeom prst="roundRect">
            <a:avLst>
              <a:gd name="adj" fmla="val 50000"/>
            </a:avLst>
          </a:prstGeom>
          <a:solidFill>
            <a:srgbClr val="F3F5F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300" b="1">
                <a:solidFill>
                  <a:srgbClr val="5B636A"/>
                </a:solidFill>
                <a:latin typeface="Calibri"/>
              </a:rPr>
              <a:t>ANNEXE</a:t>
            </a:r>
          </a:p>
        </p:txBody>
      </p:sp>
      <p:sp>
        <p:nvSpPr>
          <p:cNvPr id="3" name="TextBox 2"/>
          <p:cNvSpPr txBox="1"/>
          <p:nvPr/>
        </p:nvSpPr>
        <p:spPr>
          <a:xfrm>
            <a:off x="548640" y="347472"/>
            <a:ext cx="9326880" cy="731520"/>
          </a:xfrm>
          <a:prstGeom prst="rect">
            <a:avLst/>
          </a:prstGeom>
          <a:noFill/>
        </p:spPr>
        <p:txBody>
          <a:bodyPr wrap="square" lIns="0" rIns="0" tIns="0" bIns="0" anchor="t">
            <a:spAutoFit/>
          </a:bodyPr>
          <a:lstStyle/>
          <a:p>
            <a:pPr algn="l">
              <a:lnSpc>
                <a:spcPct val="100000"/>
              </a:lnSpc>
            </a:pPr>
            <a:r>
              <a:rPr sz="3000" b="1" i="0">
                <a:solidFill>
                  <a:srgbClr val="0B1F2A"/>
                </a:solidFill>
                <a:latin typeface="Calibri"/>
              </a:rPr>
              <a:t>Architecture du code</a:t>
            </a:r>
          </a:p>
        </p:txBody>
      </p:sp>
      <p:sp>
        <p:nvSpPr>
          <p:cNvPr id="4" name="TextBox 3"/>
          <p:cNvSpPr txBox="1"/>
          <p:nvPr/>
        </p:nvSpPr>
        <p:spPr>
          <a:xfrm>
            <a:off x="548640" y="1024128"/>
            <a:ext cx="9326880" cy="411480"/>
          </a:xfrm>
          <a:prstGeom prst="rect">
            <a:avLst/>
          </a:prstGeom>
          <a:noFill/>
        </p:spPr>
        <p:txBody>
          <a:bodyPr wrap="square" lIns="0" rIns="0" tIns="0" bIns="0" anchor="t">
            <a:spAutoFit/>
          </a:bodyPr>
          <a:lstStyle/>
          <a:p>
            <a:pPr algn="l">
              <a:lnSpc>
                <a:spcPct val="100000"/>
              </a:lnSpc>
            </a:pPr>
            <a:r>
              <a:rPr sz="1700" b="0" i="0">
                <a:solidFill>
                  <a:srgbClr val="5B636A"/>
                </a:solidFill>
                <a:latin typeface="Calibri"/>
              </a:rPr>
              <a:t>Chaque fichier a un rôle ; tout est relancé par la CI GitHub Actions</a:t>
            </a:r>
          </a:p>
        </p:txBody>
      </p:sp>
      <p:sp>
        <p:nvSpPr>
          <p:cNvPr id="5" name="TextBox 4"/>
          <p:cNvSpPr txBox="1"/>
          <p:nvPr/>
        </p:nvSpPr>
        <p:spPr>
          <a:xfrm>
            <a:off x="548640" y="6473952"/>
            <a:ext cx="5486400" cy="274320"/>
          </a:xfrm>
          <a:prstGeom prst="rect">
            <a:avLst/>
          </a:prstGeom>
          <a:noFill/>
        </p:spPr>
        <p:txBody>
          <a:bodyPr wrap="square" lIns="0" rIns="0" tIns="0" bIns="0" anchor="t">
            <a:spAutoFit/>
          </a:bodyPr>
          <a:lstStyle/>
          <a:p>
            <a:pPr algn="l">
              <a:lnSpc>
                <a:spcPct val="100000"/>
              </a:lnSpc>
            </a:pPr>
            <a:r>
              <a:rPr sz="1000" b="0" i="0">
                <a:solidFill>
                  <a:srgbClr val="5B636A"/>
                </a:solidFill>
                <a:latin typeface="Calibri"/>
              </a:rPr>
              <a:t>Une vie de fourmi · Romain · Lisa · Yannis</a:t>
            </a:r>
          </a:p>
        </p:txBody>
      </p:sp>
      <p:sp>
        <p:nvSpPr>
          <p:cNvPr id="6" name="TextBox 5"/>
          <p:cNvSpPr txBox="1"/>
          <p:nvPr/>
        </p:nvSpPr>
        <p:spPr>
          <a:xfrm>
            <a:off x="11185855" y="6473952"/>
            <a:ext cx="457200" cy="274320"/>
          </a:xfrm>
          <a:prstGeom prst="rect">
            <a:avLst/>
          </a:prstGeom>
          <a:noFill/>
        </p:spPr>
        <p:txBody>
          <a:bodyPr wrap="square" lIns="0" rIns="0" tIns="0" bIns="0" anchor="t">
            <a:spAutoFit/>
          </a:bodyPr>
          <a:lstStyle/>
          <a:p>
            <a:pPr algn="r">
              <a:lnSpc>
                <a:spcPct val="100000"/>
              </a:lnSpc>
            </a:pPr>
            <a:r>
              <a:rPr sz="1000" b="0" i="0">
                <a:solidFill>
                  <a:srgbClr val="5B636A"/>
                </a:solidFill>
                <a:latin typeface="Calibri"/>
              </a:rPr>
              <a:t>7</a:t>
            </a:r>
          </a:p>
        </p:txBody>
      </p:sp>
      <p:sp>
        <p:nvSpPr>
          <p:cNvPr id="7" name="Rounded Rectangle 6"/>
          <p:cNvSpPr/>
          <p:nvPr/>
        </p:nvSpPr>
        <p:spPr>
          <a:xfrm>
            <a:off x="548640" y="1828800"/>
            <a:ext cx="2377440" cy="2377440"/>
          </a:xfrm>
          <a:prstGeom prst="roundRect">
            <a:avLst>
              <a:gd name="adj" fmla="val 8000"/>
            </a:avLst>
          </a:prstGeom>
          <a:solidFill>
            <a:srgbClr val="F3F5F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p>
        </p:txBody>
      </p:sp>
      <p:sp>
        <p:nvSpPr>
          <p:cNvPr id="8" name="TextBox 7"/>
          <p:cNvSpPr txBox="1"/>
          <p:nvPr/>
        </p:nvSpPr>
        <p:spPr>
          <a:xfrm>
            <a:off x="731520" y="1965960"/>
            <a:ext cx="2103120" cy="457200"/>
          </a:xfrm>
          <a:prstGeom prst="rect">
            <a:avLst/>
          </a:prstGeom>
          <a:noFill/>
        </p:spPr>
        <p:txBody>
          <a:bodyPr wrap="square" lIns="0" rIns="0" tIns="0" bIns="0" anchor="t">
            <a:spAutoFit/>
          </a:bodyPr>
          <a:lstStyle/>
          <a:p>
            <a:pPr algn="l">
              <a:lnSpc>
                <a:spcPct val="100000"/>
              </a:lnSpc>
            </a:pPr>
            <a:r>
              <a:rPr sz="2000" b="1" i="0">
                <a:solidFill>
                  <a:srgbClr val="0B1F2A"/>
                </a:solidFill>
                <a:latin typeface="Calibri"/>
              </a:rPr>
              <a:t>inputs/</a:t>
            </a:r>
          </a:p>
        </p:txBody>
      </p:sp>
      <p:sp>
        <p:nvSpPr>
          <p:cNvPr id="9" name="TextBox 8"/>
          <p:cNvSpPr txBox="1"/>
          <p:nvPr/>
        </p:nvSpPr>
        <p:spPr>
          <a:xfrm>
            <a:off x="731520" y="2468880"/>
            <a:ext cx="2103120" cy="1645920"/>
          </a:xfrm>
          <a:prstGeom prst="rect">
            <a:avLst/>
          </a:prstGeom>
          <a:noFill/>
        </p:spPr>
        <p:txBody>
          <a:bodyPr wrap="square" lIns="0" rIns="0" tIns="0" bIns="0" anchor="t">
            <a:spAutoFit/>
          </a:bodyPr>
          <a:lstStyle/>
          <a:p>
            <a:pPr algn="l">
              <a:lnSpc>
                <a:spcPct val="100000"/>
              </a:lnSpc>
            </a:pPr>
            <a:r>
              <a:rPr sz="1350" b="0" i="0">
                <a:solidFill>
                  <a:srgbClr val="5B636A"/>
                </a:solidFill>
                <a:latin typeface="Calibri"/>
              </a:rPr>
              <a:t>officiels/ (9 fichiers)
exemples/</a:t>
            </a:r>
          </a:p>
        </p:txBody>
      </p:sp>
      <p:sp>
        <p:nvSpPr>
          <p:cNvPr id="10" name="Rounded Rectangle 9"/>
          <p:cNvSpPr/>
          <p:nvPr/>
        </p:nvSpPr>
        <p:spPr>
          <a:xfrm>
            <a:off x="3246120" y="1828800"/>
            <a:ext cx="2377440" cy="2377440"/>
          </a:xfrm>
          <a:prstGeom prst="roundRect">
            <a:avLst>
              <a:gd name="adj" fmla="val 8000"/>
            </a:avLst>
          </a:prstGeom>
          <a:solidFill>
            <a:srgbClr val="F3F5F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p>
        </p:txBody>
      </p:sp>
      <p:sp>
        <p:nvSpPr>
          <p:cNvPr id="11" name="TextBox 10"/>
          <p:cNvSpPr txBox="1"/>
          <p:nvPr/>
        </p:nvSpPr>
        <p:spPr>
          <a:xfrm>
            <a:off x="3429000" y="1965960"/>
            <a:ext cx="2103120" cy="457200"/>
          </a:xfrm>
          <a:prstGeom prst="rect">
            <a:avLst/>
          </a:prstGeom>
          <a:noFill/>
        </p:spPr>
        <p:txBody>
          <a:bodyPr wrap="square" lIns="0" rIns="0" tIns="0" bIns="0" anchor="t">
            <a:spAutoFit/>
          </a:bodyPr>
          <a:lstStyle/>
          <a:p>
            <a:pPr algn="l">
              <a:lnSpc>
                <a:spcPct val="100000"/>
              </a:lnSpc>
            </a:pPr>
            <a:r>
              <a:rPr sz="2000" b="1" i="0">
                <a:solidFill>
                  <a:srgbClr val="EB6834"/>
                </a:solidFill>
                <a:latin typeface="Calibri"/>
              </a:rPr>
              <a:t>ants.py</a:t>
            </a:r>
          </a:p>
        </p:txBody>
      </p:sp>
      <p:sp>
        <p:nvSpPr>
          <p:cNvPr id="12" name="TextBox 11"/>
          <p:cNvSpPr txBox="1"/>
          <p:nvPr/>
        </p:nvSpPr>
        <p:spPr>
          <a:xfrm>
            <a:off x="3429000" y="2468880"/>
            <a:ext cx="2103120" cy="1645920"/>
          </a:xfrm>
          <a:prstGeom prst="rect">
            <a:avLst/>
          </a:prstGeom>
          <a:noFill/>
        </p:spPr>
        <p:txBody>
          <a:bodyPr wrap="square" lIns="0" rIns="0" tIns="0" bIns="0" anchor="t">
            <a:spAutoFit/>
          </a:bodyPr>
          <a:lstStyle/>
          <a:p>
            <a:pPr algn="l">
              <a:lnSpc>
                <a:spcPct val="100000"/>
              </a:lnSpc>
            </a:pPr>
            <a:r>
              <a:rPr sz="1350" b="0" i="0">
                <a:solidFill>
                  <a:srgbClr val="5B636A"/>
                </a:solidFill>
                <a:latin typeface="Calibri"/>
              </a:rPr>
              <a:t>lecture du fichier
modèle Anthill
BFS · graphe temporel
max-flow · min-cost
décomposition · vérification</a:t>
            </a:r>
          </a:p>
        </p:txBody>
      </p:sp>
      <p:sp>
        <p:nvSpPr>
          <p:cNvPr id="13" name="Rounded Rectangle 12"/>
          <p:cNvSpPr/>
          <p:nvPr/>
        </p:nvSpPr>
        <p:spPr>
          <a:xfrm>
            <a:off x="5943600" y="1828800"/>
            <a:ext cx="2377440" cy="2377440"/>
          </a:xfrm>
          <a:prstGeom prst="roundRect">
            <a:avLst>
              <a:gd name="adj" fmla="val 8000"/>
            </a:avLst>
          </a:prstGeom>
          <a:solidFill>
            <a:srgbClr val="F3F5F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p>
        </p:txBody>
      </p:sp>
      <p:sp>
        <p:nvSpPr>
          <p:cNvPr id="14" name="TextBox 13"/>
          <p:cNvSpPr txBox="1"/>
          <p:nvPr/>
        </p:nvSpPr>
        <p:spPr>
          <a:xfrm>
            <a:off x="6126480" y="1965960"/>
            <a:ext cx="2103120" cy="457200"/>
          </a:xfrm>
          <a:prstGeom prst="rect">
            <a:avLst/>
          </a:prstGeom>
          <a:noFill/>
        </p:spPr>
        <p:txBody>
          <a:bodyPr wrap="square" lIns="0" rIns="0" tIns="0" bIns="0" anchor="t">
            <a:spAutoFit/>
          </a:bodyPr>
          <a:lstStyle/>
          <a:p>
            <a:pPr algn="l">
              <a:lnSpc>
                <a:spcPct val="100000"/>
              </a:lnSpc>
            </a:pPr>
            <a:r>
              <a:rPr sz="2000" b="1" i="0">
                <a:solidFill>
                  <a:srgbClr val="0B1F2A"/>
                </a:solidFill>
                <a:latin typeface="Calibri"/>
              </a:rPr>
              <a:t>main.py</a:t>
            </a:r>
          </a:p>
        </p:txBody>
      </p:sp>
      <p:sp>
        <p:nvSpPr>
          <p:cNvPr id="15" name="TextBox 14"/>
          <p:cNvSpPr txBox="1"/>
          <p:nvPr/>
        </p:nvSpPr>
        <p:spPr>
          <a:xfrm>
            <a:off x="6126480" y="2468880"/>
            <a:ext cx="2103120" cy="1645920"/>
          </a:xfrm>
          <a:prstGeom prst="rect">
            <a:avLst/>
          </a:prstGeom>
          <a:noFill/>
        </p:spPr>
        <p:txBody>
          <a:bodyPr wrap="square" lIns="0" rIns="0" tIns="0" bIns="0" anchor="t">
            <a:spAutoFit/>
          </a:bodyPr>
          <a:lstStyle/>
          <a:p>
            <a:pPr algn="l">
              <a:lnSpc>
                <a:spcPct val="100000"/>
              </a:lnSpc>
            </a:pPr>
            <a:r>
              <a:rPr sz="1350" b="0" i="0">
                <a:solidFill>
                  <a:srgbClr val="5B636A"/>
                </a:solidFill>
                <a:latin typeface="Calibri"/>
              </a:rPr>
              <a:t>résout un fichier
ou un dossier
écrit les sorties</a:t>
            </a:r>
          </a:p>
        </p:txBody>
      </p:sp>
      <p:sp>
        <p:nvSpPr>
          <p:cNvPr id="16" name="Rounded Rectangle 15"/>
          <p:cNvSpPr/>
          <p:nvPr/>
        </p:nvSpPr>
        <p:spPr>
          <a:xfrm>
            <a:off x="8641080" y="1828800"/>
            <a:ext cx="2377440" cy="2377440"/>
          </a:xfrm>
          <a:prstGeom prst="roundRect">
            <a:avLst>
              <a:gd name="adj" fmla="val 8000"/>
            </a:avLst>
          </a:prstGeom>
          <a:solidFill>
            <a:srgbClr val="F3F5F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p>
        </p:txBody>
      </p:sp>
      <p:sp>
        <p:nvSpPr>
          <p:cNvPr id="17" name="TextBox 16"/>
          <p:cNvSpPr txBox="1"/>
          <p:nvPr/>
        </p:nvSpPr>
        <p:spPr>
          <a:xfrm>
            <a:off x="8823960" y="1965960"/>
            <a:ext cx="2103120" cy="457200"/>
          </a:xfrm>
          <a:prstGeom prst="rect">
            <a:avLst/>
          </a:prstGeom>
          <a:noFill/>
        </p:spPr>
        <p:txBody>
          <a:bodyPr wrap="square" lIns="0" rIns="0" tIns="0" bIns="0" anchor="t">
            <a:spAutoFit/>
          </a:bodyPr>
          <a:lstStyle/>
          <a:p>
            <a:pPr algn="l">
              <a:lnSpc>
                <a:spcPct val="100000"/>
              </a:lnSpc>
            </a:pPr>
            <a:r>
              <a:rPr sz="2000" b="1" i="0">
                <a:solidFill>
                  <a:srgbClr val="0B1F2A"/>
                </a:solidFill>
                <a:latin typeface="Calibri"/>
              </a:rPr>
              <a:t>outputs/</a:t>
            </a:r>
          </a:p>
        </p:txBody>
      </p:sp>
      <p:sp>
        <p:nvSpPr>
          <p:cNvPr id="18" name="TextBox 17"/>
          <p:cNvSpPr txBox="1"/>
          <p:nvPr/>
        </p:nvSpPr>
        <p:spPr>
          <a:xfrm>
            <a:off x="8823960" y="2468880"/>
            <a:ext cx="2103120" cy="1645920"/>
          </a:xfrm>
          <a:prstGeom prst="rect">
            <a:avLst/>
          </a:prstGeom>
          <a:noFill/>
        </p:spPr>
        <p:txBody>
          <a:bodyPr wrap="square" lIns="0" rIns="0" tIns="0" bIns="0" anchor="t">
            <a:spAutoFit/>
          </a:bodyPr>
          <a:lstStyle/>
          <a:p>
            <a:pPr algn="l">
              <a:lnSpc>
                <a:spcPct val="100000"/>
              </a:lnSpc>
            </a:pPr>
            <a:r>
              <a:rPr sz="1350" b="0" i="0">
                <a:solidFill>
                  <a:srgbClr val="5B636A"/>
                </a:solidFill>
                <a:latin typeface="Calibri"/>
              </a:rPr>
              <a:t>solution.txt · stats.json
graphe.png · flow_cumule.png
etapes/*.png · animation.gif</a:t>
            </a:r>
          </a:p>
        </p:txBody>
      </p:sp>
      <p:cxnSp>
        <p:nvCxnSpPr>
          <p:cNvPr id="19" name="Connector 18"/>
          <p:cNvCxnSpPr/>
          <p:nvPr/>
        </p:nvCxnSpPr>
        <p:spPr>
          <a:xfrm>
            <a:off x="2971800" y="3017520"/>
            <a:ext cx="256032" cy="0"/>
          </a:xfrm>
          <a:prstGeom prst="line">
            <a:avLst/>
          </a:prstGeom>
          <a:ln w="31750">
            <a:solidFill>
              <a:srgbClr val="EB6834"/>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5669280" y="3017520"/>
            <a:ext cx="256032" cy="0"/>
          </a:xfrm>
          <a:prstGeom prst="line">
            <a:avLst/>
          </a:prstGeom>
          <a:ln w="31750">
            <a:solidFill>
              <a:srgbClr val="EB6834"/>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8366760" y="3017520"/>
            <a:ext cx="256032" cy="0"/>
          </a:xfrm>
          <a:prstGeom prst="line">
            <a:avLst/>
          </a:prstGeom>
          <a:ln w="31750">
            <a:solidFill>
              <a:srgbClr val="EB6834"/>
            </a:solidFill>
            <a:tailEnd type="triangle" w="med" len="med"/>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548640" y="4663440"/>
            <a:ext cx="2697480" cy="1097280"/>
          </a:xfrm>
          <a:prstGeom prst="rect">
            <a:avLst/>
          </a:prstGeom>
          <a:noFill/>
        </p:spPr>
        <p:txBody>
          <a:bodyPr wrap="square" lIns="0" rIns="0" tIns="0" bIns="0" anchor="t">
            <a:spAutoFit/>
          </a:bodyPr>
          <a:lstStyle/>
          <a:p>
            <a:pPr algn="l">
              <a:lnSpc>
                <a:spcPct val="100000"/>
              </a:lnSpc>
            </a:pPr>
            <a:r>
              <a:rPr sz="1500" b="1" i="0">
                <a:solidFill>
                  <a:srgbClr val="0B1F2A"/>
                </a:solidFill>
                <a:latin typeface="Calibri"/>
              </a:rPr>
              <a:t>visualization.py</a:t>
            </a:r>
          </a:p>
          <a:p>
            <a:pPr algn="l">
              <a:lnSpc>
                <a:spcPct val="100000"/>
              </a:lnSpc>
            </a:pPr>
            <a:r>
              <a:rPr sz="1300" b="0" i="0">
                <a:solidFill>
                  <a:srgbClr val="5B636A"/>
                </a:solidFill>
                <a:latin typeface="Calibri"/>
              </a:rPr>
              <a:t>layout déterministe, frames, GIF, trafic cumulé</a:t>
            </a:r>
          </a:p>
        </p:txBody>
      </p:sp>
      <p:sp>
        <p:nvSpPr>
          <p:cNvPr id="23" name="TextBox 22"/>
          <p:cNvSpPr txBox="1"/>
          <p:nvPr/>
        </p:nvSpPr>
        <p:spPr>
          <a:xfrm>
            <a:off x="3383280" y="4663440"/>
            <a:ext cx="2697480" cy="1097280"/>
          </a:xfrm>
          <a:prstGeom prst="rect">
            <a:avLst/>
          </a:prstGeom>
          <a:noFill/>
        </p:spPr>
        <p:txBody>
          <a:bodyPr wrap="square" lIns="0" rIns="0" tIns="0" bIns="0" anchor="t">
            <a:spAutoFit/>
          </a:bodyPr>
          <a:lstStyle/>
          <a:p>
            <a:pPr algn="l">
              <a:lnSpc>
                <a:spcPct val="100000"/>
              </a:lnSpc>
            </a:pPr>
            <a:r>
              <a:rPr sz="1500" b="1" i="0">
                <a:solidFill>
                  <a:srgbClr val="0B1F2A"/>
                </a:solidFill>
                <a:latin typeface="Calibri"/>
              </a:rPr>
              <a:t>tools/analyze_inputs.py</a:t>
            </a:r>
          </a:p>
          <a:p>
            <a:pPr algn="l">
              <a:lnSpc>
                <a:spcPct val="100000"/>
              </a:lnSpc>
            </a:pPr>
            <a:r>
              <a:rPr sz="1300" b="0" i="0">
                <a:solidFill>
                  <a:srgbClr val="5B636A"/>
                </a:solidFill>
                <a:latin typeface="Calibri"/>
              </a:rPr>
              <a:t>tableau et graphique des 9 fichiers</a:t>
            </a:r>
          </a:p>
        </p:txBody>
      </p:sp>
      <p:sp>
        <p:nvSpPr>
          <p:cNvPr id="24" name="TextBox 23"/>
          <p:cNvSpPr txBox="1"/>
          <p:nvPr/>
        </p:nvSpPr>
        <p:spPr>
          <a:xfrm>
            <a:off x="6217920" y="4663440"/>
            <a:ext cx="2697480" cy="1097280"/>
          </a:xfrm>
          <a:prstGeom prst="rect">
            <a:avLst/>
          </a:prstGeom>
          <a:noFill/>
        </p:spPr>
        <p:txBody>
          <a:bodyPr wrap="square" lIns="0" rIns="0" tIns="0" bIns="0" anchor="t">
            <a:spAutoFit/>
          </a:bodyPr>
          <a:lstStyle/>
          <a:p>
            <a:pPr algn="l">
              <a:lnSpc>
                <a:spcPct val="100000"/>
              </a:lnSpc>
            </a:pPr>
            <a:r>
              <a:rPr sz="1500" b="1" i="0">
                <a:solidFill>
                  <a:srgbClr val="0B1F2A"/>
                </a:solidFill>
                <a:latin typeface="Calibri"/>
              </a:rPr>
              <a:t>tests/</a:t>
            </a:r>
          </a:p>
          <a:p>
            <a:pPr algn="l">
              <a:lnSpc>
                <a:spcPct val="100000"/>
              </a:lnSpc>
            </a:pPr>
            <a:r>
              <a:rPr sz="1300" b="0" i="0">
                <a:solidFill>
                  <a:srgbClr val="5B636A"/>
                </a:solidFill>
                <a:latin typeface="Calibri"/>
              </a:rPr>
              <a:t>56 tests : parseur, solveur, officiels, BFS exhaustif</a:t>
            </a:r>
          </a:p>
        </p:txBody>
      </p:sp>
      <p:sp>
        <p:nvSpPr>
          <p:cNvPr id="25" name="TextBox 24"/>
          <p:cNvSpPr txBox="1"/>
          <p:nvPr/>
        </p:nvSpPr>
        <p:spPr>
          <a:xfrm>
            <a:off x="9052560" y="4663440"/>
            <a:ext cx="2697480" cy="1097280"/>
          </a:xfrm>
          <a:prstGeom prst="rect">
            <a:avLst/>
          </a:prstGeom>
          <a:noFill/>
        </p:spPr>
        <p:txBody>
          <a:bodyPr wrap="square" lIns="0" rIns="0" tIns="0" bIns="0" anchor="t">
            <a:spAutoFit/>
          </a:bodyPr>
          <a:lstStyle/>
          <a:p>
            <a:pPr algn="l">
              <a:lnSpc>
                <a:spcPct val="100000"/>
              </a:lnSpc>
            </a:pPr>
            <a:r>
              <a:rPr sz="1500" b="1" i="0">
                <a:solidFill>
                  <a:srgbClr val="0B1F2A"/>
                </a:solidFill>
                <a:latin typeface="Calibri"/>
              </a:rPr>
              <a:t>tools/build_*.py</a:t>
            </a:r>
          </a:p>
          <a:p>
            <a:pPr algn="l">
              <a:lnSpc>
                <a:spcPct val="100000"/>
              </a:lnSpc>
            </a:pPr>
            <a:r>
              <a:rPr sz="1300" b="0" i="0">
                <a:solidFill>
                  <a:srgbClr val="5B636A"/>
                </a:solidFill>
                <a:latin typeface="Calibri"/>
              </a:rPr>
              <a:t>présentation, script, fiche, ZIP</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10317176" y="384048"/>
            <a:ext cx="1463040" cy="384048"/>
          </a:xfrm>
          <a:prstGeom prst="roundRect">
            <a:avLst>
              <a:gd name="adj" fmla="val 50000"/>
            </a:avLst>
          </a:prstGeom>
          <a:solidFill>
            <a:srgbClr val="F3F5F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300" b="1">
                <a:solidFill>
                  <a:srgbClr val="5B636A"/>
                </a:solidFill>
                <a:latin typeface="Calibri"/>
              </a:rPr>
              <a:t>ANNEXE</a:t>
            </a:r>
          </a:p>
        </p:txBody>
      </p:sp>
      <p:sp>
        <p:nvSpPr>
          <p:cNvPr id="3" name="TextBox 2"/>
          <p:cNvSpPr txBox="1"/>
          <p:nvPr/>
        </p:nvSpPr>
        <p:spPr>
          <a:xfrm>
            <a:off x="548640" y="347472"/>
            <a:ext cx="9326880" cy="731520"/>
          </a:xfrm>
          <a:prstGeom prst="rect">
            <a:avLst/>
          </a:prstGeom>
          <a:noFill/>
        </p:spPr>
        <p:txBody>
          <a:bodyPr wrap="square" lIns="0" rIns="0" tIns="0" bIns="0" anchor="t">
            <a:spAutoFit/>
          </a:bodyPr>
          <a:lstStyle/>
          <a:p>
            <a:pPr algn="l">
              <a:lnSpc>
                <a:spcPct val="100000"/>
              </a:lnSpc>
            </a:pPr>
            <a:r>
              <a:rPr sz="3000" b="1" i="0">
                <a:solidFill>
                  <a:srgbClr val="0B1F2A"/>
                </a:solidFill>
                <a:latin typeface="Calibri"/>
              </a:rPr>
              <a:t>BFS, DFS, Dijkstra, Floyd-Warshall : lequel et pourquoi ?</a:t>
            </a:r>
          </a:p>
        </p:txBody>
      </p:sp>
      <p:sp>
        <p:nvSpPr>
          <p:cNvPr id="4" name="TextBox 3"/>
          <p:cNvSpPr txBox="1"/>
          <p:nvPr/>
        </p:nvSpPr>
        <p:spPr>
          <a:xfrm>
            <a:off x="548640" y="1024128"/>
            <a:ext cx="9326880" cy="411480"/>
          </a:xfrm>
          <a:prstGeom prst="rect">
            <a:avLst/>
          </a:prstGeom>
          <a:noFill/>
        </p:spPr>
        <p:txBody>
          <a:bodyPr wrap="square" lIns="0" rIns="0" tIns="0" bIns="0" anchor="t">
            <a:spAutoFit/>
          </a:bodyPr>
          <a:lstStyle/>
          <a:p>
            <a:pPr algn="l">
              <a:lnSpc>
                <a:spcPct val="100000"/>
              </a:lnSpc>
            </a:pPr>
            <a:r>
              <a:rPr sz="1700" b="0" i="0">
                <a:solidFill>
                  <a:srgbClr val="5B636A"/>
                </a:solidFill>
                <a:latin typeface="Calibri"/>
              </a:rPr>
              <a:t>On n'ajoute pas d'algorithme pour faire joli : chacun a un rôle ou une raison d'être absent</a:t>
            </a:r>
          </a:p>
        </p:txBody>
      </p:sp>
      <p:sp>
        <p:nvSpPr>
          <p:cNvPr id="5" name="TextBox 4"/>
          <p:cNvSpPr txBox="1"/>
          <p:nvPr/>
        </p:nvSpPr>
        <p:spPr>
          <a:xfrm>
            <a:off x="548640" y="6473952"/>
            <a:ext cx="5486400" cy="274320"/>
          </a:xfrm>
          <a:prstGeom prst="rect">
            <a:avLst/>
          </a:prstGeom>
          <a:noFill/>
        </p:spPr>
        <p:txBody>
          <a:bodyPr wrap="square" lIns="0" rIns="0" tIns="0" bIns="0" anchor="t">
            <a:spAutoFit/>
          </a:bodyPr>
          <a:lstStyle/>
          <a:p>
            <a:pPr algn="l">
              <a:lnSpc>
                <a:spcPct val="100000"/>
              </a:lnSpc>
            </a:pPr>
            <a:r>
              <a:rPr sz="1000" b="0" i="0">
                <a:solidFill>
                  <a:srgbClr val="5B636A"/>
                </a:solidFill>
                <a:latin typeface="Calibri"/>
              </a:rPr>
              <a:t>Une vie de fourmi · Romain · Lisa · Yannis</a:t>
            </a:r>
          </a:p>
        </p:txBody>
      </p:sp>
      <p:sp>
        <p:nvSpPr>
          <p:cNvPr id="6" name="TextBox 5"/>
          <p:cNvSpPr txBox="1"/>
          <p:nvPr/>
        </p:nvSpPr>
        <p:spPr>
          <a:xfrm>
            <a:off x="11185855" y="6473952"/>
            <a:ext cx="457200" cy="274320"/>
          </a:xfrm>
          <a:prstGeom prst="rect">
            <a:avLst/>
          </a:prstGeom>
          <a:noFill/>
        </p:spPr>
        <p:txBody>
          <a:bodyPr wrap="square" lIns="0" rIns="0" tIns="0" bIns="0" anchor="t">
            <a:spAutoFit/>
          </a:bodyPr>
          <a:lstStyle/>
          <a:p>
            <a:pPr algn="r">
              <a:lnSpc>
                <a:spcPct val="100000"/>
              </a:lnSpc>
            </a:pPr>
            <a:r>
              <a:rPr sz="1000" b="0" i="0">
                <a:solidFill>
                  <a:srgbClr val="5B636A"/>
                </a:solidFill>
                <a:latin typeface="Calibri"/>
              </a:rPr>
              <a:t>8</a:t>
            </a:r>
          </a:p>
        </p:txBody>
      </p:sp>
      <p:graphicFrame>
        <p:nvGraphicFramePr>
          <p:cNvPr id="7" name="Table 6"/>
          <p:cNvGraphicFramePr>
            <a:graphicFrameLocks noGrp="1"/>
          </p:cNvGraphicFramePr>
          <p:nvPr/>
        </p:nvGraphicFramePr>
        <p:xfrm>
          <a:off x="548640" y="1600200"/>
          <a:ext cx="11064240" cy="3968496"/>
        </p:xfrm>
        <a:graphic>
          <a:graphicData uri="http://schemas.openxmlformats.org/drawingml/2006/table">
            <a:tbl>
              <a:tblPr firstRow="1" bandRow="1">
                <a:tableStyleId>{5C22544A-7EE6-4342-B048-85BDC9FD1C3A}</a:tableStyleId>
              </a:tblPr>
              <a:tblGrid>
                <a:gridCol w="2743200"/>
                <a:gridCol w="3657600"/>
                <a:gridCol w="4663440"/>
              </a:tblGrid>
              <a:tr h="566928">
                <a:tc>
                  <a:txBody>
                    <a:bodyPr wrap="square"/>
                    <a:lstStyle/>
                    <a:p>
                      <a:pPr algn="l"/>
                      <a:r>
                        <a:rPr sz="1400" b="1">
                          <a:solidFill>
                            <a:srgbClr val="FFFFFF"/>
                          </a:solidFill>
                          <a:latin typeface="Calibri"/>
                        </a:rPr>
                        <a:t>Algorithme</a:t>
                      </a:r>
                    </a:p>
                  </a:txBody>
                  <a:tcPr marL="91440" marR="91440" marT="27432" marB="27432" anchor="ctr">
                    <a:solidFill>
                      <a:srgbClr val="0B1F2A"/>
                    </a:solidFill>
                  </a:tcPr>
                </a:tc>
                <a:tc>
                  <a:txBody>
                    <a:bodyPr wrap="square"/>
                    <a:lstStyle/>
                    <a:p>
                      <a:pPr algn="l"/>
                      <a:r>
                        <a:rPr sz="1400" b="1">
                          <a:solidFill>
                            <a:srgbClr val="FFFFFF"/>
                          </a:solidFill>
                          <a:latin typeface="Calibri"/>
                        </a:rPr>
                        <a:t>Ce qu'il sait faire</a:t>
                      </a:r>
                    </a:p>
                  </a:txBody>
                  <a:tcPr marL="91440" marR="91440" marT="27432" marB="27432" anchor="ctr">
                    <a:solidFill>
                      <a:srgbClr val="0B1F2A"/>
                    </a:solidFill>
                  </a:tcPr>
                </a:tc>
                <a:tc>
                  <a:txBody>
                    <a:bodyPr wrap="square"/>
                    <a:lstStyle/>
                    <a:p>
                      <a:pPr algn="l"/>
                      <a:r>
                        <a:rPr sz="1400" b="1">
                          <a:solidFill>
                            <a:srgbClr val="FFFFFF"/>
                          </a:solidFill>
                          <a:latin typeface="Calibri"/>
                        </a:rPr>
                        <a:t>Dans notre projet</a:t>
                      </a:r>
                    </a:p>
                  </a:txBody>
                  <a:tcPr marL="91440" marR="91440" marT="27432" marB="27432" anchor="ctr">
                    <a:solidFill>
                      <a:srgbClr val="0B1F2A"/>
                    </a:solidFill>
                  </a:tcPr>
                </a:tc>
              </a:tr>
              <a:tr h="566928">
                <a:tc>
                  <a:txBody>
                    <a:bodyPr wrap="square"/>
                    <a:lstStyle/>
                    <a:p>
                      <a:pPr algn="l"/>
                      <a:r>
                        <a:rPr sz="1400" b="0">
                          <a:solidFill>
                            <a:srgbClr val="0B1F2A"/>
                          </a:solidFill>
                          <a:latin typeface="Calibri"/>
                        </a:rPr>
                        <a:t>BFS (parcours en largeur)</a:t>
                      </a:r>
                    </a:p>
                  </a:txBody>
                  <a:tcPr marL="91440" marR="91440" marT="27432" marB="27432" anchor="ctr">
                    <a:solidFill>
                      <a:srgbClr val="FDE9E0"/>
                    </a:solidFill>
                  </a:tcPr>
                </a:tc>
                <a:tc>
                  <a:txBody>
                    <a:bodyPr wrap="square"/>
                    <a:lstStyle/>
                    <a:p>
                      <a:pPr algn="l"/>
                      <a:r>
                        <a:rPr sz="1400" b="0">
                          <a:solidFill>
                            <a:srgbClr val="0B1F2A"/>
                          </a:solidFill>
                          <a:latin typeface="Calibri"/>
                        </a:rPr>
                        <a:t>plus court chemin dans un graphe non pondéré</a:t>
                      </a:r>
                    </a:p>
                  </a:txBody>
                  <a:tcPr marL="91440" marR="91440" marT="27432" marB="27432" anchor="ctr">
                    <a:solidFill>
                      <a:srgbClr val="FDE9E0"/>
                    </a:solidFill>
                  </a:tcPr>
                </a:tc>
                <a:tc>
                  <a:txBody>
                    <a:bodyPr wrap="square"/>
                    <a:lstStyle/>
                    <a:p>
                      <a:pPr algn="l"/>
                      <a:r>
                        <a:rPr sz="1400" b="1">
                          <a:solidFill>
                            <a:srgbClr val="0B1F2A"/>
                          </a:solidFill>
                          <a:latin typeface="Calibri"/>
                        </a:rPr>
                        <a:t>UTILISÉ : borne basse d (ants.bfs_distances) et dans Edmonds-Karp</a:t>
                      </a:r>
                    </a:p>
                  </a:txBody>
                  <a:tcPr marL="91440" marR="91440" marT="27432" marB="27432" anchor="ctr">
                    <a:solidFill>
                      <a:srgbClr val="FDE9E0"/>
                    </a:solidFill>
                  </a:tcPr>
                </a:tc>
              </a:tr>
              <a:tr h="566928">
                <a:tc>
                  <a:txBody>
                    <a:bodyPr wrap="square"/>
                    <a:lstStyle/>
                    <a:p>
                      <a:pPr algn="l"/>
                      <a:r>
                        <a:rPr sz="1400" b="0">
                          <a:solidFill>
                            <a:srgbClr val="0B1F2A"/>
                          </a:solidFill>
                          <a:latin typeface="Calibri"/>
                        </a:rPr>
                        <a:t>Edmonds-Karp (max-flow)</a:t>
                      </a:r>
                    </a:p>
                  </a:txBody>
                  <a:tcPr marL="91440" marR="91440" marT="27432" marB="27432" anchor="ctr">
                    <a:solidFill>
                      <a:srgbClr val="FDE9E0"/>
                    </a:solidFill>
                  </a:tcPr>
                </a:tc>
                <a:tc>
                  <a:txBody>
                    <a:bodyPr wrap="square"/>
                    <a:lstStyle/>
                    <a:p>
                      <a:pPr algn="l"/>
                      <a:r>
                        <a:rPr sz="1400" b="0">
                          <a:solidFill>
                            <a:srgbClr val="0B1F2A"/>
                          </a:solidFill>
                          <a:latin typeface="Calibri"/>
                        </a:rPr>
                        <a:t>flot maximal ; chemins augmentants trouvés par BFS</a:t>
                      </a:r>
                    </a:p>
                  </a:txBody>
                  <a:tcPr marL="91440" marR="91440" marT="27432" marB="27432" anchor="ctr">
                    <a:solidFill>
                      <a:srgbClr val="FDE9E0"/>
                    </a:solidFill>
                  </a:tcPr>
                </a:tc>
                <a:tc>
                  <a:txBody>
                    <a:bodyPr wrap="square"/>
                    <a:lstStyle/>
                    <a:p>
                      <a:pPr algn="l"/>
                      <a:r>
                        <a:rPr sz="1400" b="1">
                          <a:solidFill>
                            <a:srgbClr val="0B1F2A"/>
                          </a:solidFill>
                          <a:latin typeface="Calibri"/>
                        </a:rPr>
                        <a:t>UTILISÉ : « F fourmis en T étapes ? » sur le graphe temporel</a:t>
                      </a:r>
                    </a:p>
                  </a:txBody>
                  <a:tcPr marL="91440" marR="91440" marT="27432" marB="27432" anchor="ctr">
                    <a:solidFill>
                      <a:srgbClr val="FDE9E0"/>
                    </a:solidFill>
                  </a:tcPr>
                </a:tc>
              </a:tr>
              <a:tr h="566928">
                <a:tc>
                  <a:txBody>
                    <a:bodyPr wrap="square"/>
                    <a:lstStyle/>
                    <a:p>
                      <a:pPr algn="l"/>
                      <a:r>
                        <a:rPr sz="1400" b="0">
                          <a:solidFill>
                            <a:srgbClr val="0B1F2A"/>
                          </a:solidFill>
                          <a:latin typeface="Calibri"/>
                        </a:rPr>
                        <a:t>Min-cost flow (simplexe réseau)</a:t>
                      </a:r>
                    </a:p>
                  </a:txBody>
                  <a:tcPr marL="91440" marR="91440" marT="27432" marB="27432" anchor="ctr">
                    <a:solidFill>
                      <a:srgbClr val="FDE9E0"/>
                    </a:solidFill>
                  </a:tcPr>
                </a:tc>
                <a:tc>
                  <a:txBody>
                    <a:bodyPr wrap="square"/>
                    <a:lstStyle/>
                    <a:p>
                      <a:pPr algn="l"/>
                      <a:r>
                        <a:rPr sz="1400" b="0">
                          <a:solidFill>
                            <a:srgbClr val="0B1F2A"/>
                          </a:solidFill>
                          <a:latin typeface="Calibri"/>
                        </a:rPr>
                        <a:t>flot de coût minimal</a:t>
                      </a:r>
                    </a:p>
                  </a:txBody>
                  <a:tcPr marL="91440" marR="91440" marT="27432" marB="27432" anchor="ctr">
                    <a:solidFill>
                      <a:srgbClr val="FDE9E0"/>
                    </a:solidFill>
                  </a:tcPr>
                </a:tc>
                <a:tc>
                  <a:txBody>
                    <a:bodyPr wrap="square"/>
                    <a:lstStyle/>
                    <a:p>
                      <a:pPr algn="l"/>
                      <a:r>
                        <a:rPr sz="1400" b="1">
                          <a:solidFill>
                            <a:srgbClr val="0B1F2A"/>
                          </a:solidFill>
                          <a:latin typeface="Calibri"/>
                        </a:rPr>
                        <a:t>UTILISÉ : seulement à T fixé, pour des trajets propres</a:t>
                      </a:r>
                    </a:p>
                  </a:txBody>
                  <a:tcPr marL="91440" marR="91440" marT="27432" marB="27432" anchor="ctr">
                    <a:solidFill>
                      <a:srgbClr val="FDE9E0"/>
                    </a:solidFill>
                  </a:tcPr>
                </a:tc>
              </a:tr>
              <a:tr h="566928">
                <a:tc>
                  <a:txBody>
                    <a:bodyPr wrap="square"/>
                    <a:lstStyle/>
                    <a:p>
                      <a:pPr algn="l"/>
                      <a:r>
                        <a:rPr sz="1400" b="0">
                          <a:solidFill>
                            <a:srgbClr val="0B1F2A"/>
                          </a:solidFill>
                          <a:latin typeface="Calibri"/>
                        </a:rPr>
                        <a:t>DFS (parcours en profondeur)</a:t>
                      </a:r>
                    </a:p>
                  </a:txBody>
                  <a:tcPr marL="91440" marR="91440" marT="27432" marB="27432" anchor="ctr">
                    <a:solidFill>
                      <a:srgbClr val="F3F5F7"/>
                    </a:solidFill>
                  </a:tcPr>
                </a:tc>
                <a:tc>
                  <a:txBody>
                    <a:bodyPr wrap="square"/>
                    <a:lstStyle/>
                    <a:p>
                      <a:pPr algn="l"/>
                      <a:r>
                        <a:rPr sz="1400" b="0">
                          <a:solidFill>
                            <a:srgbClr val="0B1F2A"/>
                          </a:solidFill>
                          <a:latin typeface="Calibri"/>
                        </a:rPr>
                        <a:t>parcourir, tester la connexité</a:t>
                      </a:r>
                    </a:p>
                  </a:txBody>
                  <a:tcPr marL="91440" marR="91440" marT="27432" marB="27432" anchor="ctr">
                    <a:solidFill>
                      <a:srgbClr val="F3F5F7"/>
                    </a:solidFill>
                  </a:tcPr>
                </a:tc>
                <a:tc>
                  <a:txBody>
                    <a:bodyPr wrap="square"/>
                    <a:lstStyle/>
                    <a:p>
                      <a:pPr algn="l"/>
                      <a:r>
                        <a:rPr sz="1400" b="0">
                          <a:solidFill>
                            <a:srgbClr val="0B1F2A"/>
                          </a:solidFill>
                          <a:latin typeface="Calibri"/>
                        </a:rPr>
                        <a:t>NON : ne garantit pas le plus court chemin, ne gère pas le trafic</a:t>
                      </a:r>
                    </a:p>
                  </a:txBody>
                  <a:tcPr marL="91440" marR="91440" marT="27432" marB="27432" anchor="ctr">
                    <a:solidFill>
                      <a:srgbClr val="F3F5F7"/>
                    </a:solidFill>
                  </a:tcPr>
                </a:tc>
              </a:tr>
              <a:tr h="566928">
                <a:tc>
                  <a:txBody>
                    <a:bodyPr wrap="square"/>
                    <a:lstStyle/>
                    <a:p>
                      <a:pPr algn="l"/>
                      <a:r>
                        <a:rPr sz="1400" b="0">
                          <a:solidFill>
                            <a:srgbClr val="0B1F2A"/>
                          </a:solidFill>
                          <a:latin typeface="Calibri"/>
                        </a:rPr>
                        <a:t>Dijkstra</a:t>
                      </a:r>
                    </a:p>
                  </a:txBody>
                  <a:tcPr marL="91440" marR="91440" marT="27432" marB="27432" anchor="ctr">
                    <a:solidFill>
                      <a:srgbClr val="FFFFFF"/>
                    </a:solidFill>
                  </a:tcPr>
                </a:tc>
                <a:tc>
                  <a:txBody>
                    <a:bodyPr wrap="square"/>
                    <a:lstStyle/>
                    <a:p>
                      <a:pPr algn="l"/>
                      <a:r>
                        <a:rPr sz="1400" b="0">
                          <a:solidFill>
                            <a:srgbClr val="0B1F2A"/>
                          </a:solidFill>
                          <a:latin typeface="Calibri"/>
                        </a:rPr>
                        <a:t>plus courts chemins avec poids</a:t>
                      </a:r>
                    </a:p>
                  </a:txBody>
                  <a:tcPr marL="91440" marR="91440" marT="27432" marB="27432" anchor="ctr">
                    <a:solidFill>
                      <a:srgbClr val="FFFFFF"/>
                    </a:solidFill>
                  </a:tcPr>
                </a:tc>
                <a:tc>
                  <a:txBody>
                    <a:bodyPr wrap="square"/>
                    <a:lstStyle/>
                    <a:p>
                      <a:pPr algn="l"/>
                      <a:r>
                        <a:rPr sz="1400" b="0">
                          <a:solidFill>
                            <a:srgbClr val="0B1F2A"/>
                          </a:solidFill>
                          <a:latin typeface="Calibri"/>
                        </a:rPr>
                        <a:t>NON : tous les tunnels valent 1 étape, BFS suffit</a:t>
                      </a:r>
                    </a:p>
                  </a:txBody>
                  <a:tcPr marL="91440" marR="91440" marT="27432" marB="27432" anchor="ctr">
                    <a:solidFill>
                      <a:srgbClr val="FFFFFF"/>
                    </a:solidFill>
                  </a:tcPr>
                </a:tc>
              </a:tr>
              <a:tr h="566928">
                <a:tc>
                  <a:txBody>
                    <a:bodyPr wrap="square"/>
                    <a:lstStyle/>
                    <a:p>
                      <a:pPr algn="l"/>
                      <a:r>
                        <a:rPr sz="1400" b="0">
                          <a:solidFill>
                            <a:srgbClr val="0B1F2A"/>
                          </a:solidFill>
                          <a:latin typeface="Calibri"/>
                        </a:rPr>
                        <a:t>Floyd-Warshall</a:t>
                      </a:r>
                    </a:p>
                  </a:txBody>
                  <a:tcPr marL="91440" marR="91440" marT="27432" marB="27432" anchor="ctr">
                    <a:solidFill>
                      <a:srgbClr val="F3F5F7"/>
                    </a:solidFill>
                  </a:tcPr>
                </a:tc>
                <a:tc>
                  <a:txBody>
                    <a:bodyPr wrap="square"/>
                    <a:lstStyle/>
                    <a:p>
                      <a:pPr algn="l"/>
                      <a:r>
                        <a:rPr sz="1400" b="0">
                          <a:solidFill>
                            <a:srgbClr val="0B1F2A"/>
                          </a:solidFill>
                          <a:latin typeface="Calibri"/>
                        </a:rPr>
                        <a:t>distances entre toutes les paires</a:t>
                      </a:r>
                    </a:p>
                  </a:txBody>
                  <a:tcPr marL="91440" marR="91440" marT="27432" marB="27432" anchor="ctr">
                    <a:solidFill>
                      <a:srgbClr val="F3F5F7"/>
                    </a:solidFill>
                  </a:tcPr>
                </a:tc>
                <a:tc>
                  <a:txBody>
                    <a:bodyPr wrap="square"/>
                    <a:lstStyle/>
                    <a:p>
                      <a:pPr algn="l"/>
                      <a:r>
                        <a:rPr sz="1400" b="0">
                          <a:solidFill>
                            <a:srgbClr val="0B1F2A"/>
                          </a:solidFill>
                          <a:latin typeface="Calibri"/>
                        </a:rPr>
                        <a:t>NON : on n'a besoin que des distances depuis Sv et Sd</a:t>
                      </a:r>
                    </a:p>
                  </a:txBody>
                  <a:tcPr marL="91440" marR="91440" marT="27432" marB="27432" anchor="ctr">
                    <a:solidFill>
                      <a:srgbClr val="F3F5F7"/>
                    </a:solidFill>
                  </a:tcPr>
                </a:tc>
              </a:tr>
            </a:tbl>
          </a:graphicData>
        </a:graphic>
      </p:graphicFrame>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10317176" y="384048"/>
            <a:ext cx="1463040" cy="384048"/>
          </a:xfrm>
          <a:prstGeom prst="roundRect">
            <a:avLst>
              <a:gd name="adj" fmla="val 50000"/>
            </a:avLst>
          </a:prstGeom>
          <a:solidFill>
            <a:srgbClr val="F3F5F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300" b="1">
                <a:solidFill>
                  <a:srgbClr val="5B636A"/>
                </a:solidFill>
                <a:latin typeface="Calibri"/>
              </a:rPr>
              <a:t>ANNEXE</a:t>
            </a:r>
          </a:p>
        </p:txBody>
      </p:sp>
      <p:sp>
        <p:nvSpPr>
          <p:cNvPr id="3" name="TextBox 2"/>
          <p:cNvSpPr txBox="1"/>
          <p:nvPr/>
        </p:nvSpPr>
        <p:spPr>
          <a:xfrm>
            <a:off x="548640" y="347472"/>
            <a:ext cx="9326880" cy="731520"/>
          </a:xfrm>
          <a:prstGeom prst="rect">
            <a:avLst/>
          </a:prstGeom>
          <a:noFill/>
        </p:spPr>
        <p:txBody>
          <a:bodyPr wrap="square" lIns="0" rIns="0" tIns="0" bIns="0" anchor="t">
            <a:spAutoFit/>
          </a:bodyPr>
          <a:lstStyle/>
          <a:p>
            <a:pPr algn="l">
              <a:lnSpc>
                <a:spcPct val="100000"/>
              </a:lnSpc>
            </a:pPr>
            <a:r>
              <a:rPr sz="3000" b="1" i="0">
                <a:solidFill>
                  <a:srgbClr val="0B1F2A"/>
                </a:solidFill>
                <a:latin typeface="Calibri"/>
              </a:rPr>
              <a:t>Graphe temporel et découpage des salles</a:t>
            </a:r>
          </a:p>
        </p:txBody>
      </p:sp>
      <p:sp>
        <p:nvSpPr>
          <p:cNvPr id="4" name="TextBox 3"/>
          <p:cNvSpPr txBox="1"/>
          <p:nvPr/>
        </p:nvSpPr>
        <p:spPr>
          <a:xfrm>
            <a:off x="548640" y="1024128"/>
            <a:ext cx="9326880" cy="411480"/>
          </a:xfrm>
          <a:prstGeom prst="rect">
            <a:avLst/>
          </a:prstGeom>
          <a:noFill/>
        </p:spPr>
        <p:txBody>
          <a:bodyPr wrap="square" lIns="0" rIns="0" tIns="0" bIns="0" anchor="t">
            <a:spAutoFit/>
          </a:bodyPr>
          <a:lstStyle/>
          <a:p>
            <a:pPr algn="l">
              <a:lnSpc>
                <a:spcPct val="100000"/>
              </a:lnSpc>
            </a:pPr>
            <a:r>
              <a:rPr sz="1700" b="0" i="0">
                <a:solidFill>
                  <a:srgbClr val="5B636A"/>
                </a:solidFill>
                <a:latin typeface="Calibri"/>
              </a:rPr>
              <a:t>Transformer « position + temps » en un problème de flot statique</a:t>
            </a:r>
          </a:p>
        </p:txBody>
      </p:sp>
      <p:sp>
        <p:nvSpPr>
          <p:cNvPr id="5" name="TextBox 4"/>
          <p:cNvSpPr txBox="1"/>
          <p:nvPr/>
        </p:nvSpPr>
        <p:spPr>
          <a:xfrm>
            <a:off x="548640" y="6473952"/>
            <a:ext cx="5486400" cy="274320"/>
          </a:xfrm>
          <a:prstGeom prst="rect">
            <a:avLst/>
          </a:prstGeom>
          <a:noFill/>
        </p:spPr>
        <p:txBody>
          <a:bodyPr wrap="square" lIns="0" rIns="0" tIns="0" bIns="0" anchor="t">
            <a:spAutoFit/>
          </a:bodyPr>
          <a:lstStyle/>
          <a:p>
            <a:pPr algn="l">
              <a:lnSpc>
                <a:spcPct val="100000"/>
              </a:lnSpc>
            </a:pPr>
            <a:r>
              <a:rPr sz="1000" b="0" i="0">
                <a:solidFill>
                  <a:srgbClr val="5B636A"/>
                </a:solidFill>
                <a:latin typeface="Calibri"/>
              </a:rPr>
              <a:t>Une vie de fourmi · Romain · Lisa · Yannis</a:t>
            </a:r>
          </a:p>
        </p:txBody>
      </p:sp>
      <p:sp>
        <p:nvSpPr>
          <p:cNvPr id="6" name="TextBox 5"/>
          <p:cNvSpPr txBox="1"/>
          <p:nvPr/>
        </p:nvSpPr>
        <p:spPr>
          <a:xfrm>
            <a:off x="11185855" y="6473952"/>
            <a:ext cx="457200" cy="274320"/>
          </a:xfrm>
          <a:prstGeom prst="rect">
            <a:avLst/>
          </a:prstGeom>
          <a:noFill/>
        </p:spPr>
        <p:txBody>
          <a:bodyPr wrap="square" lIns="0" rIns="0" tIns="0" bIns="0" anchor="t">
            <a:spAutoFit/>
          </a:bodyPr>
          <a:lstStyle/>
          <a:p>
            <a:pPr algn="r">
              <a:lnSpc>
                <a:spcPct val="100000"/>
              </a:lnSpc>
            </a:pPr>
            <a:r>
              <a:rPr sz="1000" b="0" i="0">
                <a:solidFill>
                  <a:srgbClr val="5B636A"/>
                </a:solidFill>
                <a:latin typeface="Calibri"/>
              </a:rPr>
              <a:t>9</a:t>
            </a:r>
          </a:p>
        </p:txBody>
      </p:sp>
      <p:pic>
        <p:nvPicPr>
          <p:cNvPr id="7" name="Picture 6" descr="time_expanded.png"/>
          <p:cNvPicPr>
            <a:picLocks noChangeAspect="1"/>
          </p:cNvPicPr>
          <p:nvPr/>
        </p:nvPicPr>
        <p:blipFill>
          <a:blip r:embed="rId2"/>
          <a:stretch>
            <a:fillRect/>
          </a:stretch>
        </p:blipFill>
        <p:spPr>
          <a:xfrm>
            <a:off x="457200" y="1617379"/>
            <a:ext cx="6309360" cy="3623242"/>
          </a:xfrm>
          <a:prstGeom prst="rect">
            <a:avLst/>
          </a:prstGeom>
        </p:spPr>
      </p:pic>
      <p:sp>
        <p:nvSpPr>
          <p:cNvPr id="8" name="TextBox 7"/>
          <p:cNvSpPr txBox="1"/>
          <p:nvPr/>
        </p:nvSpPr>
        <p:spPr>
          <a:xfrm>
            <a:off x="7040880" y="1645920"/>
            <a:ext cx="4663440" cy="731520"/>
          </a:xfrm>
          <a:prstGeom prst="rect">
            <a:avLst/>
          </a:prstGeom>
          <a:noFill/>
        </p:spPr>
        <p:txBody>
          <a:bodyPr wrap="square" lIns="0" rIns="0" tIns="0" bIns="0" anchor="t">
            <a:spAutoFit/>
          </a:bodyPr>
          <a:lstStyle/>
          <a:p>
            <a:pPr algn="l">
              <a:lnSpc>
                <a:spcPct val="100000"/>
              </a:lnSpc>
            </a:pPr>
            <a:r>
              <a:rPr sz="1600" b="1" i="0">
                <a:solidFill>
                  <a:srgbClr val="0B1F2A"/>
                </a:solidFill>
                <a:latin typeface="Calibri"/>
              </a:rPr>
              <a:t>Sommets</a:t>
            </a:r>
          </a:p>
          <a:p>
            <a:pPr algn="l">
              <a:lnSpc>
                <a:spcPct val="100000"/>
              </a:lnSpc>
            </a:pPr>
            <a:r>
              <a:rPr sz="1350" b="0" i="0">
                <a:solidFill>
                  <a:srgbClr val="5B636A"/>
                </a:solidFill>
                <a:latin typeface="Calibri"/>
              </a:rPr>
              <a:t>(salle, t) pour chaque salle et chaque instant 0 … T</a:t>
            </a:r>
          </a:p>
        </p:txBody>
      </p:sp>
      <p:sp>
        <p:nvSpPr>
          <p:cNvPr id="9" name="TextBox 8"/>
          <p:cNvSpPr txBox="1"/>
          <p:nvPr/>
        </p:nvSpPr>
        <p:spPr>
          <a:xfrm>
            <a:off x="7040880" y="2395728"/>
            <a:ext cx="4663440" cy="731520"/>
          </a:xfrm>
          <a:prstGeom prst="rect">
            <a:avLst/>
          </a:prstGeom>
          <a:noFill/>
        </p:spPr>
        <p:txBody>
          <a:bodyPr wrap="square" lIns="0" rIns="0" tIns="0" bIns="0" anchor="t">
            <a:spAutoFit/>
          </a:bodyPr>
          <a:lstStyle/>
          <a:p>
            <a:pPr algn="l">
              <a:lnSpc>
                <a:spcPct val="100000"/>
              </a:lnSpc>
            </a:pPr>
            <a:r>
              <a:rPr sz="1600" b="1" i="0">
                <a:solidFill>
                  <a:srgbClr val="0B1F2A"/>
                </a:solidFill>
                <a:latin typeface="Calibri"/>
              </a:rPr>
              <a:t>Attendre</a:t>
            </a:r>
          </a:p>
          <a:p>
            <a:pPr algn="l">
              <a:lnSpc>
                <a:spcPct val="100000"/>
              </a:lnSpc>
            </a:pPr>
            <a:r>
              <a:rPr sz="1350" b="0" i="0">
                <a:solidFill>
                  <a:srgbClr val="5B636A"/>
                </a:solidFill>
                <a:latin typeface="Calibri"/>
              </a:rPr>
              <a:t>(salle, t) → (salle, t+1)</a:t>
            </a:r>
          </a:p>
        </p:txBody>
      </p:sp>
      <p:sp>
        <p:nvSpPr>
          <p:cNvPr id="10" name="TextBox 9"/>
          <p:cNvSpPr txBox="1"/>
          <p:nvPr/>
        </p:nvSpPr>
        <p:spPr>
          <a:xfrm>
            <a:off x="7040880" y="3145536"/>
            <a:ext cx="4663440" cy="731520"/>
          </a:xfrm>
          <a:prstGeom prst="rect">
            <a:avLst/>
          </a:prstGeom>
          <a:noFill/>
        </p:spPr>
        <p:txBody>
          <a:bodyPr wrap="square" lIns="0" rIns="0" tIns="0" bIns="0" anchor="t">
            <a:spAutoFit/>
          </a:bodyPr>
          <a:lstStyle/>
          <a:p>
            <a:pPr algn="l">
              <a:lnSpc>
                <a:spcPct val="100000"/>
              </a:lnSpc>
            </a:pPr>
            <a:r>
              <a:rPr sz="1600" b="1" i="0">
                <a:solidFill>
                  <a:srgbClr val="0B1F2A"/>
                </a:solidFill>
                <a:latin typeface="Calibri"/>
              </a:rPr>
              <a:t>Se déplacer</a:t>
            </a:r>
          </a:p>
          <a:p>
            <a:pPr algn="l">
              <a:lnSpc>
                <a:spcPct val="100000"/>
              </a:lnSpc>
            </a:pPr>
            <a:r>
              <a:rPr sz="1350" b="0" i="0">
                <a:solidFill>
                  <a:srgbClr val="5B636A"/>
                </a:solidFill>
                <a:latin typeface="Calibri"/>
              </a:rPr>
              <a:t>(a, t) → (b, t+1) si le tunnel a–b existe ; capacité illimitée</a:t>
            </a:r>
          </a:p>
        </p:txBody>
      </p:sp>
      <p:sp>
        <p:nvSpPr>
          <p:cNvPr id="11" name="TextBox 10"/>
          <p:cNvSpPr txBox="1"/>
          <p:nvPr/>
        </p:nvSpPr>
        <p:spPr>
          <a:xfrm>
            <a:off x="7040880" y="3895344"/>
            <a:ext cx="4663440" cy="731520"/>
          </a:xfrm>
          <a:prstGeom prst="rect">
            <a:avLst/>
          </a:prstGeom>
          <a:noFill/>
        </p:spPr>
        <p:txBody>
          <a:bodyPr wrap="square" lIns="0" rIns="0" tIns="0" bIns="0" anchor="t">
            <a:spAutoFit/>
          </a:bodyPr>
          <a:lstStyle/>
          <a:p>
            <a:pPr algn="l">
              <a:lnSpc>
                <a:spcPct val="100000"/>
              </a:lnSpc>
            </a:pPr>
            <a:r>
              <a:rPr sz="1600" b="1" i="0">
                <a:solidFill>
                  <a:srgbClr val="0B1F2A"/>
                </a:solidFill>
                <a:latin typeface="Calibri"/>
              </a:rPr>
              <a:t>Capacité SN{X}</a:t>
            </a:r>
          </a:p>
          <a:p>
            <a:pPr algn="l">
              <a:lnSpc>
                <a:spcPct val="100000"/>
              </a:lnSpc>
            </a:pPr>
            <a:r>
              <a:rPr sz="1350" b="0" i="0">
                <a:solidFill>
                  <a:srgbClr val="5B636A"/>
                </a:solidFill>
                <a:latin typeface="Calibri"/>
              </a:rPr>
              <a:t>chaque (salle, t) est coupé en entrée → sortie de capacité X : c'est le node splitting</a:t>
            </a:r>
          </a:p>
        </p:txBody>
      </p:sp>
      <p:sp>
        <p:nvSpPr>
          <p:cNvPr id="12" name="TextBox 11"/>
          <p:cNvSpPr txBox="1"/>
          <p:nvPr/>
        </p:nvSpPr>
        <p:spPr>
          <a:xfrm>
            <a:off x="7040880" y="4645152"/>
            <a:ext cx="4663440" cy="731520"/>
          </a:xfrm>
          <a:prstGeom prst="rect">
            <a:avLst/>
          </a:prstGeom>
          <a:noFill/>
        </p:spPr>
        <p:txBody>
          <a:bodyPr wrap="square" lIns="0" rIns="0" tIns="0" bIns="0" anchor="t">
            <a:spAutoFit/>
          </a:bodyPr>
          <a:lstStyle/>
          <a:p>
            <a:pPr algn="l">
              <a:lnSpc>
                <a:spcPct val="100000"/>
              </a:lnSpc>
            </a:pPr>
            <a:r>
              <a:rPr sz="1600" b="1" i="0">
                <a:solidFill>
                  <a:srgbClr val="0B1F2A"/>
                </a:solidFill>
                <a:latin typeface="Calibri"/>
              </a:rPr>
              <a:t>Sv et Sd</a:t>
            </a:r>
          </a:p>
          <a:p>
            <a:pPr algn="l">
              <a:lnSpc>
                <a:spcPct val="100000"/>
              </a:lnSpc>
            </a:pPr>
            <a:r>
              <a:rPr sz="1350" b="0" i="0">
                <a:solidFill>
                  <a:srgbClr val="5B636A"/>
                </a:solidFill>
                <a:latin typeface="Calibri"/>
              </a:rPr>
              <a:t>capacité F : jamais limitants ; Sd absorbant (on n'en ressort pas)</a:t>
            </a:r>
          </a:p>
        </p:txBody>
      </p:sp>
      <p:sp>
        <p:nvSpPr>
          <p:cNvPr id="13" name="TextBox 12"/>
          <p:cNvSpPr txBox="1"/>
          <p:nvPr/>
        </p:nvSpPr>
        <p:spPr>
          <a:xfrm>
            <a:off x="7040880" y="5394960"/>
            <a:ext cx="4663440" cy="731520"/>
          </a:xfrm>
          <a:prstGeom prst="rect">
            <a:avLst/>
          </a:prstGeom>
          <a:noFill/>
        </p:spPr>
        <p:txBody>
          <a:bodyPr wrap="square" lIns="0" rIns="0" tIns="0" bIns="0" anchor="t">
            <a:spAutoFit/>
          </a:bodyPr>
          <a:lstStyle/>
          <a:p>
            <a:pPr algn="l">
              <a:lnSpc>
                <a:spcPct val="100000"/>
              </a:lnSpc>
            </a:pPr>
            <a:r>
              <a:rPr sz="1600" b="1" i="0">
                <a:solidFill>
                  <a:srgbClr val="0B1F2A"/>
                </a:solidFill>
                <a:latin typeface="Calibri"/>
              </a:rPr>
              <a:t>Une unité de flot</a:t>
            </a:r>
          </a:p>
          <a:p>
            <a:pPr algn="l">
              <a:lnSpc>
                <a:spcPct val="100000"/>
              </a:lnSpc>
            </a:pPr>
            <a:r>
              <a:rPr sz="1350" b="0" i="0">
                <a:solidFill>
                  <a:srgbClr val="5B636A"/>
                </a:solidFill>
                <a:latin typeface="Calibri"/>
              </a:rPr>
              <a:t>= une fourmi ; flot de valeur F = toutes les fourmis arrivent en T étapes</a:t>
            </a:r>
          </a:p>
        </p:txBody>
      </p:sp>
      <p:sp>
        <p:nvSpPr>
          <p:cNvPr id="14" name="TextBox 13"/>
          <p:cNvSpPr txBox="1"/>
          <p:nvPr/>
        </p:nvSpPr>
        <p:spPr>
          <a:xfrm>
            <a:off x="548640" y="5669280"/>
            <a:ext cx="6217920" cy="548640"/>
          </a:xfrm>
          <a:prstGeom prst="rect">
            <a:avLst/>
          </a:prstGeom>
          <a:noFill/>
        </p:spPr>
        <p:txBody>
          <a:bodyPr wrap="square" lIns="0" rIns="0" tIns="0" bIns="0" anchor="t">
            <a:spAutoFit/>
          </a:bodyPr>
          <a:lstStyle/>
          <a:p>
            <a:pPr algn="l">
              <a:lnSpc>
                <a:spcPct val="100000"/>
              </a:lnSpc>
            </a:pPr>
            <a:r>
              <a:rPr sz="1300" b="0" i="0">
                <a:solidFill>
                  <a:srgbClr val="0B1F2A"/>
                </a:solidFill>
                <a:latin typeface="Calibri"/>
              </a:rPr>
              <a:t>Premier T faisable = optimum : si T marche, T+1 marche aussi (on attend dans Sd), et on teste T = d, d+1, … dans l'ordre.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10317176" y="384048"/>
            <a:ext cx="1463040" cy="384048"/>
          </a:xfrm>
          <a:prstGeom prst="roundRect">
            <a:avLst>
              <a:gd name="adj" fmla="val 50000"/>
            </a:avLst>
          </a:prstGeom>
          <a:solidFill>
            <a:srgbClr val="F3F5F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300" b="1">
                <a:solidFill>
                  <a:srgbClr val="5B636A"/>
                </a:solidFill>
                <a:latin typeface="Calibri"/>
              </a:rPr>
              <a:t>ANNEXE</a:t>
            </a:r>
          </a:p>
        </p:txBody>
      </p:sp>
      <p:sp>
        <p:nvSpPr>
          <p:cNvPr id="3" name="TextBox 2"/>
          <p:cNvSpPr txBox="1"/>
          <p:nvPr/>
        </p:nvSpPr>
        <p:spPr>
          <a:xfrm>
            <a:off x="548640" y="347472"/>
            <a:ext cx="9326880" cy="731520"/>
          </a:xfrm>
          <a:prstGeom prst="rect">
            <a:avLst/>
          </a:prstGeom>
          <a:noFill/>
        </p:spPr>
        <p:txBody>
          <a:bodyPr wrap="square" lIns="0" rIns="0" tIns="0" bIns="0" anchor="t">
            <a:spAutoFit/>
          </a:bodyPr>
          <a:lstStyle/>
          <a:p>
            <a:pPr algn="l">
              <a:lnSpc>
                <a:spcPct val="100000"/>
              </a:lnSpc>
            </a:pPr>
            <a:r>
              <a:rPr sz="3000" b="1" i="0">
                <a:solidFill>
                  <a:srgbClr val="0B1F2A"/>
                </a:solidFill>
                <a:latin typeface="Calibri"/>
              </a:rPr>
              <a:t>Min-cost flow : des trajets propres, sans changer T</a:t>
            </a:r>
          </a:p>
        </p:txBody>
      </p:sp>
      <p:sp>
        <p:nvSpPr>
          <p:cNvPr id="4" name="TextBox 3"/>
          <p:cNvSpPr txBox="1"/>
          <p:nvPr/>
        </p:nvSpPr>
        <p:spPr>
          <a:xfrm>
            <a:off x="548640" y="1024128"/>
            <a:ext cx="9326880" cy="411480"/>
          </a:xfrm>
          <a:prstGeom prst="rect">
            <a:avLst/>
          </a:prstGeom>
          <a:noFill/>
        </p:spPr>
        <p:txBody>
          <a:bodyPr wrap="square" lIns="0" rIns="0" tIns="0" bIns="0" anchor="t">
            <a:spAutoFit/>
          </a:bodyPr>
          <a:lstStyle/>
          <a:p>
            <a:pPr algn="l">
              <a:lnSpc>
                <a:spcPct val="100000"/>
              </a:lnSpc>
            </a:pPr>
            <a:r>
              <a:rPr sz="1700" b="0" i="0">
                <a:solidFill>
                  <a:srgbClr val="5B636A"/>
                </a:solidFill>
                <a:latin typeface="Calibri"/>
              </a:rPr>
              <a:t>Optimisation lexicographique : chaque niveau pèse plus que tous les suivants réunis</a:t>
            </a:r>
          </a:p>
        </p:txBody>
      </p:sp>
      <p:sp>
        <p:nvSpPr>
          <p:cNvPr id="5" name="TextBox 4"/>
          <p:cNvSpPr txBox="1"/>
          <p:nvPr/>
        </p:nvSpPr>
        <p:spPr>
          <a:xfrm>
            <a:off x="548640" y="6473952"/>
            <a:ext cx="5486400" cy="274320"/>
          </a:xfrm>
          <a:prstGeom prst="rect">
            <a:avLst/>
          </a:prstGeom>
          <a:noFill/>
        </p:spPr>
        <p:txBody>
          <a:bodyPr wrap="square" lIns="0" rIns="0" tIns="0" bIns="0" anchor="t">
            <a:spAutoFit/>
          </a:bodyPr>
          <a:lstStyle/>
          <a:p>
            <a:pPr algn="l">
              <a:lnSpc>
                <a:spcPct val="100000"/>
              </a:lnSpc>
            </a:pPr>
            <a:r>
              <a:rPr sz="1000" b="0" i="0">
                <a:solidFill>
                  <a:srgbClr val="5B636A"/>
                </a:solidFill>
                <a:latin typeface="Calibri"/>
              </a:rPr>
              <a:t>Une vie de fourmi · Romain · Lisa · Yannis</a:t>
            </a:r>
          </a:p>
        </p:txBody>
      </p:sp>
      <p:sp>
        <p:nvSpPr>
          <p:cNvPr id="6" name="TextBox 5"/>
          <p:cNvSpPr txBox="1"/>
          <p:nvPr/>
        </p:nvSpPr>
        <p:spPr>
          <a:xfrm>
            <a:off x="11185855" y="6473952"/>
            <a:ext cx="457200" cy="274320"/>
          </a:xfrm>
          <a:prstGeom prst="rect">
            <a:avLst/>
          </a:prstGeom>
          <a:noFill/>
        </p:spPr>
        <p:txBody>
          <a:bodyPr wrap="square" lIns="0" rIns="0" tIns="0" bIns="0" anchor="t">
            <a:spAutoFit/>
          </a:bodyPr>
          <a:lstStyle/>
          <a:p>
            <a:pPr algn="r">
              <a:lnSpc>
                <a:spcPct val="100000"/>
              </a:lnSpc>
            </a:pPr>
            <a:r>
              <a:rPr sz="1000" b="0" i="0">
                <a:solidFill>
                  <a:srgbClr val="5B636A"/>
                </a:solidFill>
                <a:latin typeface="Calibri"/>
              </a:rPr>
              <a:t>10</a:t>
            </a:r>
          </a:p>
        </p:txBody>
      </p:sp>
      <p:graphicFrame>
        <p:nvGraphicFramePr>
          <p:cNvPr id="7" name="Table 6"/>
          <p:cNvGraphicFramePr>
            <a:graphicFrameLocks noGrp="1"/>
          </p:cNvGraphicFramePr>
          <p:nvPr/>
        </p:nvGraphicFramePr>
        <p:xfrm>
          <a:off x="548640" y="1600200"/>
          <a:ext cx="11064240" cy="2651760"/>
        </p:xfrm>
        <a:graphic>
          <a:graphicData uri="http://schemas.openxmlformats.org/drawingml/2006/table">
            <a:tbl>
              <a:tblPr firstRow="1" bandRow="1">
                <a:tableStyleId>{5C22544A-7EE6-4342-B048-85BDC9FD1C3A}</a:tableStyleId>
              </a:tblPr>
              <a:tblGrid>
                <a:gridCol w="1188720"/>
                <a:gridCol w="3474720"/>
                <a:gridCol w="4846320"/>
                <a:gridCol w="1554480"/>
              </a:tblGrid>
              <a:tr h="530352">
                <a:tc>
                  <a:txBody>
                    <a:bodyPr wrap="square"/>
                    <a:lstStyle/>
                    <a:p>
                      <a:pPr algn="l"/>
                      <a:r>
                        <a:rPr sz="1600" b="1">
                          <a:solidFill>
                            <a:srgbClr val="FFFFFF"/>
                          </a:solidFill>
                          <a:latin typeface="Calibri"/>
                        </a:rPr>
                        <a:t>Priorité</a:t>
                      </a:r>
                    </a:p>
                  </a:txBody>
                  <a:tcPr marL="91440" marR="91440" marT="27432" marB="27432" anchor="ctr">
                    <a:solidFill>
                      <a:srgbClr val="0B1F2A"/>
                    </a:solidFill>
                  </a:tcPr>
                </a:tc>
                <a:tc>
                  <a:txBody>
                    <a:bodyPr wrap="square"/>
                    <a:lstStyle/>
                    <a:p>
                      <a:pPr algn="ctr"/>
                      <a:r>
                        <a:rPr sz="1600" b="1">
                          <a:solidFill>
                            <a:srgbClr val="FFFFFF"/>
                          </a:solidFill>
                          <a:latin typeface="Calibri"/>
                        </a:rPr>
                        <a:t>Objectif</a:t>
                      </a:r>
                    </a:p>
                  </a:txBody>
                  <a:tcPr marL="91440" marR="91440" marT="27432" marB="27432" anchor="ctr">
                    <a:solidFill>
                      <a:srgbClr val="0B1F2A"/>
                    </a:solidFill>
                  </a:tcPr>
                </a:tc>
                <a:tc>
                  <a:txBody>
                    <a:bodyPr wrap="square"/>
                    <a:lstStyle/>
                    <a:p>
                      <a:pPr algn="ctr"/>
                      <a:r>
                        <a:rPr sz="1600" b="1">
                          <a:solidFill>
                            <a:srgbClr val="FFFFFF"/>
                          </a:solidFill>
                          <a:latin typeface="Calibri"/>
                        </a:rPr>
                        <a:t>Comment</a:t>
                      </a:r>
                    </a:p>
                  </a:txBody>
                  <a:tcPr marL="91440" marR="91440" marT="27432" marB="27432" anchor="ctr">
                    <a:solidFill>
                      <a:srgbClr val="0B1F2A"/>
                    </a:solidFill>
                  </a:tcPr>
                </a:tc>
                <a:tc>
                  <a:txBody>
                    <a:bodyPr wrap="square"/>
                    <a:lstStyle/>
                    <a:p>
                      <a:pPr algn="ctr"/>
                      <a:r>
                        <a:rPr sz="1600" b="1">
                          <a:solidFill>
                            <a:srgbClr val="FFFFFF"/>
                          </a:solidFill>
                          <a:latin typeface="Calibri"/>
                        </a:rPr>
                        <a:t>Poids</a:t>
                      </a:r>
                    </a:p>
                  </a:txBody>
                  <a:tcPr marL="91440" marR="91440" marT="27432" marB="27432" anchor="ctr">
                    <a:solidFill>
                      <a:srgbClr val="0B1F2A"/>
                    </a:solidFill>
                  </a:tcPr>
                </a:tc>
              </a:tr>
              <a:tr h="530352">
                <a:tc>
                  <a:txBody>
                    <a:bodyPr wrap="square"/>
                    <a:lstStyle/>
                    <a:p>
                      <a:pPr algn="l"/>
                      <a:r>
                        <a:rPr sz="1600" b="0">
                          <a:solidFill>
                            <a:srgbClr val="0B1F2A"/>
                          </a:solidFill>
                          <a:latin typeface="Calibri"/>
                        </a:rPr>
                        <a:t>1</a:t>
                      </a:r>
                    </a:p>
                  </a:txBody>
                  <a:tcPr marL="91440" marR="91440" marT="27432" marB="27432" anchor="ctr">
                    <a:solidFill>
                      <a:srgbClr val="FFFFFF"/>
                    </a:solidFill>
                  </a:tcPr>
                </a:tc>
                <a:tc>
                  <a:txBody>
                    <a:bodyPr wrap="square"/>
                    <a:lstStyle/>
                    <a:p>
                      <a:pPr algn="ctr"/>
                      <a:r>
                        <a:rPr sz="1600" b="0">
                          <a:solidFill>
                            <a:srgbClr val="0B1F2A"/>
                          </a:solidFill>
                          <a:latin typeface="Calibri"/>
                        </a:rPr>
                        <a:t>minimiser T (dernière arrivée)</a:t>
                      </a:r>
                    </a:p>
                  </a:txBody>
                  <a:tcPr marL="91440" marR="91440" marT="27432" marB="27432" anchor="ctr">
                    <a:solidFill>
                      <a:srgbClr val="FFFFFF"/>
                    </a:solidFill>
                  </a:tcPr>
                </a:tc>
                <a:tc>
                  <a:txBody>
                    <a:bodyPr wrap="square"/>
                    <a:lstStyle/>
                    <a:p>
                      <a:pPr algn="ctr"/>
                      <a:r>
                        <a:rPr sz="1600" b="0">
                          <a:solidFill>
                            <a:srgbClr val="0B1F2A"/>
                          </a:solidFill>
                          <a:latin typeface="Calibri"/>
                        </a:rPr>
                        <a:t>déjà fixé par le max-flow</a:t>
                      </a:r>
                    </a:p>
                  </a:txBody>
                  <a:tcPr marL="91440" marR="91440" marT="27432" marB="27432" anchor="ctr">
                    <a:solidFill>
                      <a:srgbClr val="FFFFFF"/>
                    </a:solidFill>
                  </a:tcPr>
                </a:tc>
                <a:tc>
                  <a:txBody>
                    <a:bodyPr wrap="square"/>
                    <a:lstStyle/>
                    <a:p>
                      <a:pPr algn="ctr"/>
                      <a:r>
                        <a:rPr sz="1600" b="0">
                          <a:solidFill>
                            <a:srgbClr val="0B1F2A"/>
                          </a:solidFill>
                          <a:latin typeface="Calibri"/>
                        </a:rPr>
                        <a:t>—</a:t>
                      </a:r>
                    </a:p>
                  </a:txBody>
                  <a:tcPr marL="91440" marR="91440" marT="27432" marB="27432" anchor="ctr">
                    <a:solidFill>
                      <a:srgbClr val="FFFFFF"/>
                    </a:solidFill>
                  </a:tcPr>
                </a:tc>
              </a:tr>
              <a:tr h="530352">
                <a:tc>
                  <a:txBody>
                    <a:bodyPr wrap="square"/>
                    <a:lstStyle/>
                    <a:p>
                      <a:pPr algn="l"/>
                      <a:r>
                        <a:rPr sz="1600" b="0">
                          <a:solidFill>
                            <a:srgbClr val="0B1F2A"/>
                          </a:solidFill>
                          <a:latin typeface="Calibri"/>
                        </a:rPr>
                        <a:t>2</a:t>
                      </a:r>
                    </a:p>
                  </a:txBody>
                  <a:tcPr marL="91440" marR="91440" marT="27432" marB="27432" anchor="ctr">
                    <a:solidFill>
                      <a:srgbClr val="F3F5F7"/>
                    </a:solidFill>
                  </a:tcPr>
                </a:tc>
                <a:tc>
                  <a:txBody>
                    <a:bodyPr wrap="square"/>
                    <a:lstStyle/>
                    <a:p>
                      <a:pPr algn="ctr"/>
                      <a:r>
                        <a:rPr sz="1600" b="0">
                          <a:solidFill>
                            <a:srgbClr val="0B1F2A"/>
                          </a:solidFill>
                          <a:latin typeface="Calibri"/>
                        </a:rPr>
                        <a:t>arrivées au plus tôt</a:t>
                      </a:r>
                    </a:p>
                  </a:txBody>
                  <a:tcPr marL="91440" marR="91440" marT="27432" marB="27432" anchor="ctr">
                    <a:solidFill>
                      <a:srgbClr val="F3F5F7"/>
                    </a:solidFill>
                  </a:tcPr>
                </a:tc>
                <a:tc>
                  <a:txBody>
                    <a:bodyPr wrap="square"/>
                    <a:lstStyle/>
                    <a:p>
                      <a:pPr algn="ctr"/>
                      <a:r>
                        <a:rPr sz="1600" b="0">
                          <a:solidFill>
                            <a:srgbClr val="0B1F2A"/>
                          </a:solidFill>
                          <a:latin typeface="Calibri"/>
                        </a:rPr>
                        <a:t>chaque étape hors de Sd coûte</a:t>
                      </a:r>
                    </a:p>
                  </a:txBody>
                  <a:tcPr marL="91440" marR="91440" marT="27432" marB="27432" anchor="ctr">
                    <a:solidFill>
                      <a:srgbClr val="F3F5F7"/>
                    </a:solidFill>
                  </a:tcPr>
                </a:tc>
                <a:tc>
                  <a:txBody>
                    <a:bodyPr wrap="square"/>
                    <a:lstStyle/>
                    <a:p>
                      <a:pPr algn="ctr"/>
                      <a:r>
                        <a:rPr sz="1600" b="0">
                          <a:solidFill>
                            <a:srgbClr val="0B1F2A"/>
                          </a:solidFill>
                          <a:latin typeface="Calibri"/>
                        </a:rPr>
                        <a:t>M²</a:t>
                      </a:r>
                    </a:p>
                  </a:txBody>
                  <a:tcPr marL="91440" marR="91440" marT="27432" marB="27432" anchor="ctr">
                    <a:solidFill>
                      <a:srgbClr val="F3F5F7"/>
                    </a:solidFill>
                  </a:tcPr>
                </a:tc>
              </a:tr>
              <a:tr h="530352">
                <a:tc>
                  <a:txBody>
                    <a:bodyPr wrap="square"/>
                    <a:lstStyle/>
                    <a:p>
                      <a:pPr algn="l"/>
                      <a:r>
                        <a:rPr sz="1600" b="0">
                          <a:solidFill>
                            <a:srgbClr val="0B1F2A"/>
                          </a:solidFill>
                          <a:latin typeface="Calibri"/>
                        </a:rPr>
                        <a:t>3</a:t>
                      </a:r>
                    </a:p>
                  </a:txBody>
                  <a:tcPr marL="91440" marR="91440" marT="27432" marB="27432" anchor="ctr">
                    <a:solidFill>
                      <a:srgbClr val="FFFFFF"/>
                    </a:solidFill>
                  </a:tcPr>
                </a:tc>
                <a:tc>
                  <a:txBody>
                    <a:bodyPr wrap="square"/>
                    <a:lstStyle/>
                    <a:p>
                      <a:pPr algn="ctr"/>
                      <a:r>
                        <a:rPr sz="1600" b="0">
                          <a:solidFill>
                            <a:srgbClr val="0B1F2A"/>
                          </a:solidFill>
                          <a:latin typeface="Calibri"/>
                        </a:rPr>
                        <a:t>le moins de mouvements</a:t>
                      </a:r>
                    </a:p>
                  </a:txBody>
                  <a:tcPr marL="91440" marR="91440" marT="27432" marB="27432" anchor="ctr">
                    <a:solidFill>
                      <a:srgbClr val="FFFFFF"/>
                    </a:solidFill>
                  </a:tcPr>
                </a:tc>
                <a:tc>
                  <a:txBody>
                    <a:bodyPr wrap="square"/>
                    <a:lstStyle/>
                    <a:p>
                      <a:pPr algn="ctr"/>
                      <a:r>
                        <a:rPr sz="1600" b="0">
                          <a:solidFill>
                            <a:srgbClr val="0B1F2A"/>
                          </a:solidFill>
                          <a:latin typeface="Calibri"/>
                        </a:rPr>
                        <a:t>chaque déplacement coûte en plus</a:t>
                      </a:r>
                    </a:p>
                  </a:txBody>
                  <a:tcPr marL="91440" marR="91440" marT="27432" marB="27432" anchor="ctr">
                    <a:solidFill>
                      <a:srgbClr val="FFFFFF"/>
                    </a:solidFill>
                  </a:tcPr>
                </a:tc>
                <a:tc>
                  <a:txBody>
                    <a:bodyPr wrap="square"/>
                    <a:lstStyle/>
                    <a:p>
                      <a:pPr algn="ctr"/>
                      <a:r>
                        <a:rPr sz="1600" b="0">
                          <a:solidFill>
                            <a:srgbClr val="0B1F2A"/>
                          </a:solidFill>
                          <a:latin typeface="Calibri"/>
                        </a:rPr>
                        <a:t>M</a:t>
                      </a:r>
                    </a:p>
                  </a:txBody>
                  <a:tcPr marL="91440" marR="91440" marT="27432" marB="27432" anchor="ctr">
                    <a:solidFill>
                      <a:srgbClr val="FFFFFF"/>
                    </a:solidFill>
                  </a:tcPr>
                </a:tc>
              </a:tr>
              <a:tr h="530352">
                <a:tc>
                  <a:txBody>
                    <a:bodyPr wrap="square"/>
                    <a:lstStyle/>
                    <a:p>
                      <a:pPr algn="l"/>
                      <a:r>
                        <a:rPr sz="1600" b="0">
                          <a:solidFill>
                            <a:srgbClr val="0B1F2A"/>
                          </a:solidFill>
                          <a:latin typeface="Calibri"/>
                        </a:rPr>
                        <a:t>4</a:t>
                      </a:r>
                    </a:p>
                  </a:txBody>
                  <a:tcPr marL="91440" marR="91440" marT="27432" marB="27432" anchor="ctr">
                    <a:solidFill>
                      <a:srgbClr val="F3F5F7"/>
                    </a:solidFill>
                  </a:tcPr>
                </a:tc>
                <a:tc>
                  <a:txBody>
                    <a:bodyPr wrap="square"/>
                    <a:lstStyle/>
                    <a:p>
                      <a:pPr algn="ctr"/>
                      <a:r>
                        <a:rPr sz="1600" b="0">
                          <a:solidFill>
                            <a:srgbClr val="0B1F2A"/>
                          </a:solidFill>
                          <a:latin typeface="Calibri"/>
                        </a:rPr>
                        <a:t>pas de pas inutiles</a:t>
                      </a:r>
                    </a:p>
                  </a:txBody>
                  <a:tcPr marL="91440" marR="91440" marT="27432" marB="27432" anchor="ctr">
                    <a:solidFill>
                      <a:srgbClr val="F3F5F7"/>
                    </a:solidFill>
                  </a:tcPr>
                </a:tc>
                <a:tc>
                  <a:txBody>
                    <a:bodyPr wrap="square"/>
                    <a:lstStyle/>
                    <a:p>
                      <a:pPr algn="ctr"/>
                      <a:r>
                        <a:rPr sz="1600" b="0">
                          <a:solidFill>
                            <a:srgbClr val="0B1F2A"/>
                          </a:solidFill>
                          <a:latin typeface="Calibri"/>
                        </a:rPr>
                        <a:t>un pas qui ne rapproche pas de Sd coûte</a:t>
                      </a:r>
                    </a:p>
                  </a:txBody>
                  <a:tcPr marL="91440" marR="91440" marT="27432" marB="27432" anchor="ctr">
                    <a:solidFill>
                      <a:srgbClr val="F3F5F7"/>
                    </a:solidFill>
                  </a:tcPr>
                </a:tc>
                <a:tc>
                  <a:txBody>
                    <a:bodyPr wrap="square"/>
                    <a:lstStyle/>
                    <a:p>
                      <a:pPr algn="ctr"/>
                      <a:r>
                        <a:rPr sz="1600" b="0">
                          <a:solidFill>
                            <a:srgbClr val="0B1F2A"/>
                          </a:solidFill>
                          <a:latin typeface="Calibri"/>
                        </a:rPr>
                        <a:t>1</a:t>
                      </a:r>
                    </a:p>
                  </a:txBody>
                  <a:tcPr marL="91440" marR="91440" marT="27432" marB="27432" anchor="ctr">
                    <a:solidFill>
                      <a:srgbClr val="F3F5F7"/>
                    </a:solidFill>
                  </a:tcPr>
                </a:tc>
              </a:tr>
            </a:tbl>
          </a:graphicData>
        </a:graphic>
      </p:graphicFrame>
      <p:sp>
        <p:nvSpPr>
          <p:cNvPr id="8" name="TextBox 7"/>
          <p:cNvSpPr txBox="1"/>
          <p:nvPr/>
        </p:nvSpPr>
        <p:spPr>
          <a:xfrm>
            <a:off x="548640" y="4526280"/>
            <a:ext cx="11064240" cy="1371600"/>
          </a:xfrm>
          <a:prstGeom prst="rect">
            <a:avLst/>
          </a:prstGeom>
          <a:noFill/>
        </p:spPr>
        <p:txBody>
          <a:bodyPr wrap="square" lIns="0" rIns="0" tIns="0" bIns="0" anchor="t">
            <a:spAutoFit/>
          </a:bodyPr>
          <a:lstStyle/>
          <a:p>
            <a:pPr algn="l">
              <a:lnSpc>
                <a:spcPct val="100000"/>
              </a:lnSpc>
            </a:pPr>
            <a:r>
              <a:rPr sz="1500" b="1" i="0">
                <a:solidFill>
                  <a:srgbClr val="0B1F2A"/>
                </a:solidFill>
                <a:latin typeface="Calibri"/>
              </a:rPr>
              <a:t>M = F × T + 1. </a:t>
            </a:r>
            <a:r>
              <a:rPr sz="1500" b="0" i="0">
                <a:solidFill>
                  <a:srgbClr val="5B636A"/>
                </a:solidFill>
                <a:latin typeface="Calibri"/>
              </a:rPr>
              <a:t>Chaque objectif compte au plus F × T unités, donc une seule unité d'un niveau coûte plus que le maximum de tous les niveaux suivants : aucun compromis possible.</a:t>
            </a:r>
          </a:p>
          <a:p>
            <a:pPr algn="l">
              <a:lnSpc>
                <a:spcPct val="100000"/>
              </a:lnSpc>
            </a:pPr>
            <a:r>
              <a:rPr sz="1500" b="1" i="0">
                <a:solidFill>
                  <a:srgbClr val="0B1F2A"/>
                </a:solidFill>
                <a:latin typeface="Calibri"/>
              </a:rPr>
              <a:t>Avant la correction </a:t>
            </a:r>
            <a:r>
              <a:rPr sz="1500" b="0" i="0">
                <a:solidFill>
                  <a:srgbClr val="5B636A"/>
                </a:solidFill>
                <a:latin typeface="Calibri"/>
              </a:rPr>
              <a:t>un pas en arrière pouvait coûter moins cher qu'une attente : 75 allers-retours A→B→A sur fourmiliere_3D, 188 sur salle_d_at-ant. Aujourd'hui : 0, et 30 % de mouvements en moins.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10317176" y="384048"/>
            <a:ext cx="1463040" cy="384048"/>
          </a:xfrm>
          <a:prstGeom prst="roundRect">
            <a:avLst>
              <a:gd name="adj" fmla="val 50000"/>
            </a:avLst>
          </a:prstGeom>
          <a:solidFill>
            <a:srgbClr val="F3F5F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300" b="1">
                <a:solidFill>
                  <a:srgbClr val="5B636A"/>
                </a:solidFill>
                <a:latin typeface="Calibri"/>
              </a:rPr>
              <a:t>ANNEXE</a:t>
            </a:r>
          </a:p>
        </p:txBody>
      </p:sp>
      <p:sp>
        <p:nvSpPr>
          <p:cNvPr id="3" name="TextBox 2"/>
          <p:cNvSpPr txBox="1"/>
          <p:nvPr/>
        </p:nvSpPr>
        <p:spPr>
          <a:xfrm>
            <a:off x="548640" y="347472"/>
            <a:ext cx="9326880" cy="731520"/>
          </a:xfrm>
          <a:prstGeom prst="rect">
            <a:avLst/>
          </a:prstGeom>
          <a:noFill/>
        </p:spPr>
        <p:txBody>
          <a:bodyPr wrap="square" lIns="0" rIns="0" tIns="0" bIns="0" anchor="t">
            <a:spAutoFit/>
          </a:bodyPr>
          <a:lstStyle/>
          <a:p>
            <a:pPr algn="l">
              <a:lnSpc>
                <a:spcPct val="100000"/>
              </a:lnSpc>
            </a:pPr>
            <a:r>
              <a:rPr sz="3000" b="1" i="0">
                <a:solidFill>
                  <a:srgbClr val="0B1F2A"/>
                </a:solidFill>
                <a:latin typeface="Calibri"/>
              </a:rPr>
              <a:t>Matrice d'adjacence</a:t>
            </a:r>
          </a:p>
        </p:txBody>
      </p:sp>
      <p:sp>
        <p:nvSpPr>
          <p:cNvPr id="4" name="TextBox 3"/>
          <p:cNvSpPr txBox="1"/>
          <p:nvPr/>
        </p:nvSpPr>
        <p:spPr>
          <a:xfrm>
            <a:off x="548640" y="1024128"/>
            <a:ext cx="9326880" cy="411480"/>
          </a:xfrm>
          <a:prstGeom prst="rect">
            <a:avLst/>
          </a:prstGeom>
          <a:noFill/>
        </p:spPr>
        <p:txBody>
          <a:bodyPr wrap="square" lIns="0" rIns="0" tIns="0" bIns="0" anchor="t">
            <a:spAutoFit/>
          </a:bodyPr>
          <a:lstStyle/>
          <a:p>
            <a:pPr algn="l">
              <a:lnSpc>
                <a:spcPct val="100000"/>
              </a:lnSpc>
            </a:pPr>
            <a:r>
              <a:rPr sz="1700" b="0" i="0">
                <a:solidFill>
                  <a:srgbClr val="5B636A"/>
                </a:solidFill>
                <a:latin typeface="Calibri"/>
              </a:rPr>
              <a:t>fourmiliere_zero : 1 = un tunnel relie les deux salles (matrice symétrique)</a:t>
            </a:r>
          </a:p>
        </p:txBody>
      </p:sp>
      <p:sp>
        <p:nvSpPr>
          <p:cNvPr id="5" name="TextBox 4"/>
          <p:cNvSpPr txBox="1"/>
          <p:nvPr/>
        </p:nvSpPr>
        <p:spPr>
          <a:xfrm>
            <a:off x="548640" y="6473952"/>
            <a:ext cx="5486400" cy="274320"/>
          </a:xfrm>
          <a:prstGeom prst="rect">
            <a:avLst/>
          </a:prstGeom>
          <a:noFill/>
        </p:spPr>
        <p:txBody>
          <a:bodyPr wrap="square" lIns="0" rIns="0" tIns="0" bIns="0" anchor="t">
            <a:spAutoFit/>
          </a:bodyPr>
          <a:lstStyle/>
          <a:p>
            <a:pPr algn="l">
              <a:lnSpc>
                <a:spcPct val="100000"/>
              </a:lnSpc>
            </a:pPr>
            <a:r>
              <a:rPr sz="1000" b="0" i="0">
                <a:solidFill>
                  <a:srgbClr val="5B636A"/>
                </a:solidFill>
                <a:latin typeface="Calibri"/>
              </a:rPr>
              <a:t>Une vie de fourmi · Romain · Lisa · Yannis</a:t>
            </a:r>
          </a:p>
        </p:txBody>
      </p:sp>
      <p:sp>
        <p:nvSpPr>
          <p:cNvPr id="6" name="TextBox 5"/>
          <p:cNvSpPr txBox="1"/>
          <p:nvPr/>
        </p:nvSpPr>
        <p:spPr>
          <a:xfrm>
            <a:off x="11185855" y="6473952"/>
            <a:ext cx="457200" cy="274320"/>
          </a:xfrm>
          <a:prstGeom prst="rect">
            <a:avLst/>
          </a:prstGeom>
          <a:noFill/>
        </p:spPr>
        <p:txBody>
          <a:bodyPr wrap="square" lIns="0" rIns="0" tIns="0" bIns="0" anchor="t">
            <a:spAutoFit/>
          </a:bodyPr>
          <a:lstStyle/>
          <a:p>
            <a:pPr algn="r">
              <a:lnSpc>
                <a:spcPct val="100000"/>
              </a:lnSpc>
            </a:pPr>
            <a:r>
              <a:rPr sz="1000" b="0" i="0">
                <a:solidFill>
                  <a:srgbClr val="5B636A"/>
                </a:solidFill>
                <a:latin typeface="Calibri"/>
              </a:rPr>
              <a:t>11</a:t>
            </a:r>
          </a:p>
        </p:txBody>
      </p:sp>
      <p:graphicFrame>
        <p:nvGraphicFramePr>
          <p:cNvPr id="7" name="Table 6"/>
          <p:cNvGraphicFramePr>
            <a:graphicFrameLocks noGrp="1"/>
          </p:cNvGraphicFramePr>
          <p:nvPr/>
        </p:nvGraphicFramePr>
        <p:xfrm>
          <a:off x="548640" y="1737360"/>
          <a:ext cx="5120640" cy="2743200"/>
        </p:xfrm>
        <a:graphic>
          <a:graphicData uri="http://schemas.openxmlformats.org/drawingml/2006/table">
            <a:tbl>
              <a:tblPr firstRow="1" bandRow="1">
                <a:tableStyleId>{5C22544A-7EE6-4342-B048-85BDC9FD1C3A}</a:tableStyleId>
              </a:tblPr>
              <a:tblGrid>
                <a:gridCol w="1097280"/>
                <a:gridCol w="1005840"/>
                <a:gridCol w="1005840"/>
                <a:gridCol w="1005840"/>
                <a:gridCol w="1005840"/>
              </a:tblGrid>
              <a:tr h="548640">
                <a:tc>
                  <a:txBody>
                    <a:bodyPr wrap="square"/>
                    <a:lstStyle/>
                    <a:p>
                      <a:pPr algn="l"/>
                      <a:r>
                        <a:rPr sz="1800" b="1">
                          <a:solidFill>
                            <a:srgbClr val="FFFFFF"/>
                          </a:solidFill>
                          <a:latin typeface="Calibri"/>
                        </a:rPr>
                        <a:t/>
                      </a:r>
                    </a:p>
                  </a:txBody>
                  <a:tcPr marL="91440" marR="91440" marT="27432" marB="27432" anchor="ctr">
                    <a:solidFill>
                      <a:srgbClr val="0B1F2A"/>
                    </a:solidFill>
                  </a:tcPr>
                </a:tc>
                <a:tc>
                  <a:txBody>
                    <a:bodyPr wrap="square"/>
                    <a:lstStyle/>
                    <a:p>
                      <a:pPr algn="ctr"/>
                      <a:r>
                        <a:rPr sz="1800" b="1">
                          <a:solidFill>
                            <a:srgbClr val="FFFFFF"/>
                          </a:solidFill>
                          <a:latin typeface="Calibri"/>
                        </a:rPr>
                        <a:t>Sv</a:t>
                      </a:r>
                    </a:p>
                  </a:txBody>
                  <a:tcPr marL="91440" marR="91440" marT="27432" marB="27432" anchor="ctr">
                    <a:solidFill>
                      <a:srgbClr val="0B1F2A"/>
                    </a:solidFill>
                  </a:tcPr>
                </a:tc>
                <a:tc>
                  <a:txBody>
                    <a:bodyPr wrap="square"/>
                    <a:lstStyle/>
                    <a:p>
                      <a:pPr algn="ctr"/>
                      <a:r>
                        <a:rPr sz="1800" b="1">
                          <a:solidFill>
                            <a:srgbClr val="FFFFFF"/>
                          </a:solidFill>
                          <a:latin typeface="Calibri"/>
                        </a:rPr>
                        <a:t>S1</a:t>
                      </a:r>
                    </a:p>
                  </a:txBody>
                  <a:tcPr marL="91440" marR="91440" marT="27432" marB="27432" anchor="ctr">
                    <a:solidFill>
                      <a:srgbClr val="0B1F2A"/>
                    </a:solidFill>
                  </a:tcPr>
                </a:tc>
                <a:tc>
                  <a:txBody>
                    <a:bodyPr wrap="square"/>
                    <a:lstStyle/>
                    <a:p>
                      <a:pPr algn="ctr"/>
                      <a:r>
                        <a:rPr sz="1800" b="1">
                          <a:solidFill>
                            <a:srgbClr val="FFFFFF"/>
                          </a:solidFill>
                          <a:latin typeface="Calibri"/>
                        </a:rPr>
                        <a:t>S2</a:t>
                      </a:r>
                    </a:p>
                  </a:txBody>
                  <a:tcPr marL="91440" marR="91440" marT="27432" marB="27432" anchor="ctr">
                    <a:solidFill>
                      <a:srgbClr val="0B1F2A"/>
                    </a:solidFill>
                  </a:tcPr>
                </a:tc>
                <a:tc>
                  <a:txBody>
                    <a:bodyPr wrap="square"/>
                    <a:lstStyle/>
                    <a:p>
                      <a:pPr algn="ctr"/>
                      <a:r>
                        <a:rPr sz="1800" b="1">
                          <a:solidFill>
                            <a:srgbClr val="FFFFFF"/>
                          </a:solidFill>
                          <a:latin typeface="Calibri"/>
                        </a:rPr>
                        <a:t>Sd</a:t>
                      </a:r>
                    </a:p>
                  </a:txBody>
                  <a:tcPr marL="91440" marR="91440" marT="27432" marB="27432" anchor="ctr">
                    <a:solidFill>
                      <a:srgbClr val="0B1F2A"/>
                    </a:solidFill>
                  </a:tcPr>
                </a:tc>
              </a:tr>
              <a:tr h="548640">
                <a:tc>
                  <a:txBody>
                    <a:bodyPr wrap="square"/>
                    <a:lstStyle/>
                    <a:p>
                      <a:pPr algn="l"/>
                      <a:r>
                        <a:rPr sz="1800" b="0">
                          <a:solidFill>
                            <a:srgbClr val="0B1F2A"/>
                          </a:solidFill>
                          <a:latin typeface="Calibri"/>
                        </a:rPr>
                        <a:t>Sv</a:t>
                      </a:r>
                    </a:p>
                  </a:txBody>
                  <a:tcPr marL="91440" marR="91440" marT="27432" marB="27432" anchor="ctr">
                    <a:solidFill>
                      <a:srgbClr val="FFFFFF"/>
                    </a:solidFill>
                  </a:tcPr>
                </a:tc>
                <a:tc>
                  <a:txBody>
                    <a:bodyPr wrap="square"/>
                    <a:lstStyle/>
                    <a:p>
                      <a:pPr algn="ctr"/>
                      <a:r>
                        <a:rPr sz="1800" b="0">
                          <a:solidFill>
                            <a:srgbClr val="0B1F2A"/>
                          </a:solidFill>
                          <a:latin typeface="Calibri"/>
                        </a:rPr>
                        <a:t>0</a:t>
                      </a:r>
                    </a:p>
                  </a:txBody>
                  <a:tcPr marL="91440" marR="91440" marT="27432" marB="27432" anchor="ctr">
                    <a:solidFill>
                      <a:srgbClr val="FFFFFF"/>
                    </a:solidFill>
                  </a:tcPr>
                </a:tc>
                <a:tc>
                  <a:txBody>
                    <a:bodyPr wrap="square"/>
                    <a:lstStyle/>
                    <a:p>
                      <a:pPr algn="ctr"/>
                      <a:r>
                        <a:rPr sz="1800" b="0">
                          <a:solidFill>
                            <a:srgbClr val="0B1F2A"/>
                          </a:solidFill>
                          <a:latin typeface="Calibri"/>
                        </a:rPr>
                        <a:t>1</a:t>
                      </a:r>
                    </a:p>
                  </a:txBody>
                  <a:tcPr marL="91440" marR="91440" marT="27432" marB="27432" anchor="ctr">
                    <a:solidFill>
                      <a:srgbClr val="FFFFFF"/>
                    </a:solidFill>
                  </a:tcPr>
                </a:tc>
                <a:tc>
                  <a:txBody>
                    <a:bodyPr wrap="square"/>
                    <a:lstStyle/>
                    <a:p>
                      <a:pPr algn="ctr"/>
                      <a:r>
                        <a:rPr sz="1800" b="0">
                          <a:solidFill>
                            <a:srgbClr val="0B1F2A"/>
                          </a:solidFill>
                          <a:latin typeface="Calibri"/>
                        </a:rPr>
                        <a:t>1</a:t>
                      </a:r>
                    </a:p>
                  </a:txBody>
                  <a:tcPr marL="91440" marR="91440" marT="27432" marB="27432" anchor="ctr">
                    <a:solidFill>
                      <a:srgbClr val="FFFFFF"/>
                    </a:solidFill>
                  </a:tcPr>
                </a:tc>
                <a:tc>
                  <a:txBody>
                    <a:bodyPr wrap="square"/>
                    <a:lstStyle/>
                    <a:p>
                      <a:pPr algn="ctr"/>
                      <a:r>
                        <a:rPr sz="1800" b="0">
                          <a:solidFill>
                            <a:srgbClr val="0B1F2A"/>
                          </a:solidFill>
                          <a:latin typeface="Calibri"/>
                        </a:rPr>
                        <a:t>0</a:t>
                      </a:r>
                    </a:p>
                  </a:txBody>
                  <a:tcPr marL="91440" marR="91440" marT="27432" marB="27432" anchor="ctr">
                    <a:solidFill>
                      <a:srgbClr val="FFFFFF"/>
                    </a:solidFill>
                  </a:tcPr>
                </a:tc>
              </a:tr>
              <a:tr h="548640">
                <a:tc>
                  <a:txBody>
                    <a:bodyPr wrap="square"/>
                    <a:lstStyle/>
                    <a:p>
                      <a:pPr algn="l"/>
                      <a:r>
                        <a:rPr sz="1800" b="0">
                          <a:solidFill>
                            <a:srgbClr val="0B1F2A"/>
                          </a:solidFill>
                          <a:latin typeface="Calibri"/>
                        </a:rPr>
                        <a:t>S1</a:t>
                      </a:r>
                    </a:p>
                  </a:txBody>
                  <a:tcPr marL="91440" marR="91440" marT="27432" marB="27432" anchor="ctr">
                    <a:solidFill>
                      <a:srgbClr val="F3F5F7"/>
                    </a:solidFill>
                  </a:tcPr>
                </a:tc>
                <a:tc>
                  <a:txBody>
                    <a:bodyPr wrap="square"/>
                    <a:lstStyle/>
                    <a:p>
                      <a:pPr algn="ctr"/>
                      <a:r>
                        <a:rPr sz="1800" b="0">
                          <a:solidFill>
                            <a:srgbClr val="0B1F2A"/>
                          </a:solidFill>
                          <a:latin typeface="Calibri"/>
                        </a:rPr>
                        <a:t>1</a:t>
                      </a:r>
                    </a:p>
                  </a:txBody>
                  <a:tcPr marL="91440" marR="91440" marT="27432" marB="27432" anchor="ctr">
                    <a:solidFill>
                      <a:srgbClr val="F3F5F7"/>
                    </a:solidFill>
                  </a:tcPr>
                </a:tc>
                <a:tc>
                  <a:txBody>
                    <a:bodyPr wrap="square"/>
                    <a:lstStyle/>
                    <a:p>
                      <a:pPr algn="ctr"/>
                      <a:r>
                        <a:rPr sz="1800" b="0">
                          <a:solidFill>
                            <a:srgbClr val="0B1F2A"/>
                          </a:solidFill>
                          <a:latin typeface="Calibri"/>
                        </a:rPr>
                        <a:t>0</a:t>
                      </a:r>
                    </a:p>
                  </a:txBody>
                  <a:tcPr marL="91440" marR="91440" marT="27432" marB="27432" anchor="ctr">
                    <a:solidFill>
                      <a:srgbClr val="F3F5F7"/>
                    </a:solidFill>
                  </a:tcPr>
                </a:tc>
                <a:tc>
                  <a:txBody>
                    <a:bodyPr wrap="square"/>
                    <a:lstStyle/>
                    <a:p>
                      <a:pPr algn="ctr"/>
                      <a:r>
                        <a:rPr sz="1800" b="0">
                          <a:solidFill>
                            <a:srgbClr val="0B1F2A"/>
                          </a:solidFill>
                          <a:latin typeface="Calibri"/>
                        </a:rPr>
                        <a:t>0</a:t>
                      </a:r>
                    </a:p>
                  </a:txBody>
                  <a:tcPr marL="91440" marR="91440" marT="27432" marB="27432" anchor="ctr">
                    <a:solidFill>
                      <a:srgbClr val="F3F5F7"/>
                    </a:solidFill>
                  </a:tcPr>
                </a:tc>
                <a:tc>
                  <a:txBody>
                    <a:bodyPr wrap="square"/>
                    <a:lstStyle/>
                    <a:p>
                      <a:pPr algn="ctr"/>
                      <a:r>
                        <a:rPr sz="1800" b="0">
                          <a:solidFill>
                            <a:srgbClr val="0B1F2A"/>
                          </a:solidFill>
                          <a:latin typeface="Calibri"/>
                        </a:rPr>
                        <a:t>1</a:t>
                      </a:r>
                    </a:p>
                  </a:txBody>
                  <a:tcPr marL="91440" marR="91440" marT="27432" marB="27432" anchor="ctr">
                    <a:solidFill>
                      <a:srgbClr val="F3F5F7"/>
                    </a:solidFill>
                  </a:tcPr>
                </a:tc>
              </a:tr>
              <a:tr h="548640">
                <a:tc>
                  <a:txBody>
                    <a:bodyPr wrap="square"/>
                    <a:lstStyle/>
                    <a:p>
                      <a:pPr algn="l"/>
                      <a:r>
                        <a:rPr sz="1800" b="0">
                          <a:solidFill>
                            <a:srgbClr val="0B1F2A"/>
                          </a:solidFill>
                          <a:latin typeface="Calibri"/>
                        </a:rPr>
                        <a:t>S2</a:t>
                      </a:r>
                    </a:p>
                  </a:txBody>
                  <a:tcPr marL="91440" marR="91440" marT="27432" marB="27432" anchor="ctr">
                    <a:solidFill>
                      <a:srgbClr val="FFFFFF"/>
                    </a:solidFill>
                  </a:tcPr>
                </a:tc>
                <a:tc>
                  <a:txBody>
                    <a:bodyPr wrap="square"/>
                    <a:lstStyle/>
                    <a:p>
                      <a:pPr algn="ctr"/>
                      <a:r>
                        <a:rPr sz="1800" b="0">
                          <a:solidFill>
                            <a:srgbClr val="0B1F2A"/>
                          </a:solidFill>
                          <a:latin typeface="Calibri"/>
                        </a:rPr>
                        <a:t>1</a:t>
                      </a:r>
                    </a:p>
                  </a:txBody>
                  <a:tcPr marL="91440" marR="91440" marT="27432" marB="27432" anchor="ctr">
                    <a:solidFill>
                      <a:srgbClr val="FFFFFF"/>
                    </a:solidFill>
                  </a:tcPr>
                </a:tc>
                <a:tc>
                  <a:txBody>
                    <a:bodyPr wrap="square"/>
                    <a:lstStyle/>
                    <a:p>
                      <a:pPr algn="ctr"/>
                      <a:r>
                        <a:rPr sz="1800" b="0">
                          <a:solidFill>
                            <a:srgbClr val="0B1F2A"/>
                          </a:solidFill>
                          <a:latin typeface="Calibri"/>
                        </a:rPr>
                        <a:t>0</a:t>
                      </a:r>
                    </a:p>
                  </a:txBody>
                  <a:tcPr marL="91440" marR="91440" marT="27432" marB="27432" anchor="ctr">
                    <a:solidFill>
                      <a:srgbClr val="FFFFFF"/>
                    </a:solidFill>
                  </a:tcPr>
                </a:tc>
                <a:tc>
                  <a:txBody>
                    <a:bodyPr wrap="square"/>
                    <a:lstStyle/>
                    <a:p>
                      <a:pPr algn="ctr"/>
                      <a:r>
                        <a:rPr sz="1800" b="0">
                          <a:solidFill>
                            <a:srgbClr val="0B1F2A"/>
                          </a:solidFill>
                          <a:latin typeface="Calibri"/>
                        </a:rPr>
                        <a:t>0</a:t>
                      </a:r>
                    </a:p>
                  </a:txBody>
                  <a:tcPr marL="91440" marR="91440" marT="27432" marB="27432" anchor="ctr">
                    <a:solidFill>
                      <a:srgbClr val="FFFFFF"/>
                    </a:solidFill>
                  </a:tcPr>
                </a:tc>
                <a:tc>
                  <a:txBody>
                    <a:bodyPr wrap="square"/>
                    <a:lstStyle/>
                    <a:p>
                      <a:pPr algn="ctr"/>
                      <a:r>
                        <a:rPr sz="1800" b="0">
                          <a:solidFill>
                            <a:srgbClr val="0B1F2A"/>
                          </a:solidFill>
                          <a:latin typeface="Calibri"/>
                        </a:rPr>
                        <a:t>1</a:t>
                      </a:r>
                    </a:p>
                  </a:txBody>
                  <a:tcPr marL="91440" marR="91440" marT="27432" marB="27432" anchor="ctr">
                    <a:solidFill>
                      <a:srgbClr val="FFFFFF"/>
                    </a:solidFill>
                  </a:tcPr>
                </a:tc>
              </a:tr>
              <a:tr h="548640">
                <a:tc>
                  <a:txBody>
                    <a:bodyPr wrap="square"/>
                    <a:lstStyle/>
                    <a:p>
                      <a:pPr algn="l"/>
                      <a:r>
                        <a:rPr sz="1800" b="0">
                          <a:solidFill>
                            <a:srgbClr val="0B1F2A"/>
                          </a:solidFill>
                          <a:latin typeface="Calibri"/>
                        </a:rPr>
                        <a:t>Sd</a:t>
                      </a:r>
                    </a:p>
                  </a:txBody>
                  <a:tcPr marL="91440" marR="91440" marT="27432" marB="27432" anchor="ctr">
                    <a:solidFill>
                      <a:srgbClr val="F3F5F7"/>
                    </a:solidFill>
                  </a:tcPr>
                </a:tc>
                <a:tc>
                  <a:txBody>
                    <a:bodyPr wrap="square"/>
                    <a:lstStyle/>
                    <a:p>
                      <a:pPr algn="ctr"/>
                      <a:r>
                        <a:rPr sz="1800" b="0">
                          <a:solidFill>
                            <a:srgbClr val="0B1F2A"/>
                          </a:solidFill>
                          <a:latin typeface="Calibri"/>
                        </a:rPr>
                        <a:t>0</a:t>
                      </a:r>
                    </a:p>
                  </a:txBody>
                  <a:tcPr marL="91440" marR="91440" marT="27432" marB="27432" anchor="ctr">
                    <a:solidFill>
                      <a:srgbClr val="F3F5F7"/>
                    </a:solidFill>
                  </a:tcPr>
                </a:tc>
                <a:tc>
                  <a:txBody>
                    <a:bodyPr wrap="square"/>
                    <a:lstStyle/>
                    <a:p>
                      <a:pPr algn="ctr"/>
                      <a:r>
                        <a:rPr sz="1800" b="0">
                          <a:solidFill>
                            <a:srgbClr val="0B1F2A"/>
                          </a:solidFill>
                          <a:latin typeface="Calibri"/>
                        </a:rPr>
                        <a:t>1</a:t>
                      </a:r>
                    </a:p>
                  </a:txBody>
                  <a:tcPr marL="91440" marR="91440" marT="27432" marB="27432" anchor="ctr">
                    <a:solidFill>
                      <a:srgbClr val="F3F5F7"/>
                    </a:solidFill>
                  </a:tcPr>
                </a:tc>
                <a:tc>
                  <a:txBody>
                    <a:bodyPr wrap="square"/>
                    <a:lstStyle/>
                    <a:p>
                      <a:pPr algn="ctr"/>
                      <a:r>
                        <a:rPr sz="1800" b="0">
                          <a:solidFill>
                            <a:srgbClr val="0B1F2A"/>
                          </a:solidFill>
                          <a:latin typeface="Calibri"/>
                        </a:rPr>
                        <a:t>1</a:t>
                      </a:r>
                    </a:p>
                  </a:txBody>
                  <a:tcPr marL="91440" marR="91440" marT="27432" marB="27432" anchor="ctr">
                    <a:solidFill>
                      <a:srgbClr val="F3F5F7"/>
                    </a:solidFill>
                  </a:tcPr>
                </a:tc>
                <a:tc>
                  <a:txBody>
                    <a:bodyPr wrap="square"/>
                    <a:lstStyle/>
                    <a:p>
                      <a:pPr algn="ctr"/>
                      <a:r>
                        <a:rPr sz="1800" b="0">
                          <a:solidFill>
                            <a:srgbClr val="0B1F2A"/>
                          </a:solidFill>
                          <a:latin typeface="Calibri"/>
                        </a:rPr>
                        <a:t>0</a:t>
                      </a:r>
                    </a:p>
                  </a:txBody>
                  <a:tcPr marL="91440" marR="91440" marT="27432" marB="27432" anchor="ctr">
                    <a:solidFill>
                      <a:srgbClr val="F3F5F7"/>
                    </a:solidFill>
                  </a:tcPr>
                </a:tc>
              </a:tr>
            </a:tbl>
          </a:graphicData>
        </a:graphic>
      </p:graphicFrame>
      <p:pic>
        <p:nvPicPr>
          <p:cNvPr id="8" name="Picture 7" descr="zero_graphe.png"/>
          <p:cNvPicPr>
            <a:picLocks noChangeAspect="1"/>
          </p:cNvPicPr>
          <p:nvPr/>
        </p:nvPicPr>
        <p:blipFill>
          <a:blip r:embed="rId2"/>
          <a:stretch>
            <a:fillRect/>
          </a:stretch>
        </p:blipFill>
        <p:spPr>
          <a:xfrm>
            <a:off x="6035040" y="1696557"/>
            <a:ext cx="5669280" cy="3190565"/>
          </a:xfrm>
          <a:prstGeom prst="rect">
            <a:avLst/>
          </a:prstGeom>
        </p:spPr>
      </p:pic>
      <p:sp>
        <p:nvSpPr>
          <p:cNvPr id="9" name="TextBox 8"/>
          <p:cNvSpPr txBox="1"/>
          <p:nvPr/>
        </p:nvSpPr>
        <p:spPr>
          <a:xfrm>
            <a:off x="548640" y="4937760"/>
            <a:ext cx="5120640" cy="1097280"/>
          </a:xfrm>
          <a:prstGeom prst="rect">
            <a:avLst/>
          </a:prstGeom>
          <a:noFill/>
        </p:spPr>
        <p:txBody>
          <a:bodyPr wrap="square" lIns="0" rIns="0" tIns="0" bIns="0" anchor="t">
            <a:spAutoFit/>
          </a:bodyPr>
          <a:lstStyle/>
          <a:p>
            <a:pPr algn="l">
              <a:lnSpc>
                <a:spcPct val="100000"/>
              </a:lnSpc>
            </a:pPr>
            <a:r>
              <a:rPr sz="1350" b="0" i="0">
                <a:solidFill>
                  <a:srgbClr val="5B636A"/>
                </a:solidFill>
                <a:latin typeface="Calibri"/>
              </a:rPr>
              <a:t>Exportée pour chaque fourmilière dans outputs/&lt;nom&gt;/matrice_adjacence.csv. NetworkX stocke le graphe en listes d'adjacence, plus économes pour des graphes peu denses.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10317176" y="384048"/>
            <a:ext cx="1463040" cy="384048"/>
          </a:xfrm>
          <a:prstGeom prst="roundRect">
            <a:avLst>
              <a:gd name="adj" fmla="val 50000"/>
            </a:avLst>
          </a:prstGeom>
          <a:solidFill>
            <a:srgbClr val="F3F5F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300" b="1">
                <a:solidFill>
                  <a:srgbClr val="5B636A"/>
                </a:solidFill>
                <a:latin typeface="Calibri"/>
              </a:rPr>
              <a:t>ANNEXE</a:t>
            </a:r>
          </a:p>
        </p:txBody>
      </p:sp>
      <p:sp>
        <p:nvSpPr>
          <p:cNvPr id="3" name="TextBox 2"/>
          <p:cNvSpPr txBox="1"/>
          <p:nvPr/>
        </p:nvSpPr>
        <p:spPr>
          <a:xfrm>
            <a:off x="548640" y="347472"/>
            <a:ext cx="9326880" cy="731520"/>
          </a:xfrm>
          <a:prstGeom prst="rect">
            <a:avLst/>
          </a:prstGeom>
          <a:noFill/>
        </p:spPr>
        <p:txBody>
          <a:bodyPr wrap="square" lIns="0" rIns="0" tIns="0" bIns="0" anchor="t">
            <a:spAutoFit/>
          </a:bodyPr>
          <a:lstStyle/>
          <a:p>
            <a:pPr algn="l">
              <a:lnSpc>
                <a:spcPct val="100000"/>
              </a:lnSpc>
            </a:pPr>
            <a:r>
              <a:rPr sz="3000" b="1" i="0">
                <a:solidFill>
                  <a:srgbClr val="0B1F2A"/>
                </a:solidFill>
                <a:latin typeface="Calibri"/>
              </a:rPr>
              <a:t>Complexité et temps mesurés</a:t>
            </a:r>
          </a:p>
        </p:txBody>
      </p:sp>
      <p:sp>
        <p:nvSpPr>
          <p:cNvPr id="4" name="TextBox 3"/>
          <p:cNvSpPr txBox="1"/>
          <p:nvPr/>
        </p:nvSpPr>
        <p:spPr>
          <a:xfrm>
            <a:off x="548640" y="1024128"/>
            <a:ext cx="9326880" cy="411480"/>
          </a:xfrm>
          <a:prstGeom prst="rect">
            <a:avLst/>
          </a:prstGeom>
          <a:noFill/>
        </p:spPr>
        <p:txBody>
          <a:bodyPr wrap="square" lIns="0" rIns="0" tIns="0" bIns="0" anchor="t">
            <a:spAutoFit/>
          </a:bodyPr>
          <a:lstStyle/>
          <a:p>
            <a:pPr algn="l">
              <a:lnSpc>
                <a:spcPct val="100000"/>
              </a:lnSpc>
            </a:pPr>
            <a:r>
              <a:rPr sz="1700" b="0" i="0">
                <a:solidFill>
                  <a:srgbClr val="5B636A"/>
                </a:solidFill>
                <a:latin typeface="Calibri"/>
              </a:rPr>
              <a:t>Taille du graphe temporel pour un horizon T, avec n salles et m tunnels</a:t>
            </a:r>
          </a:p>
        </p:txBody>
      </p:sp>
      <p:sp>
        <p:nvSpPr>
          <p:cNvPr id="5" name="TextBox 4"/>
          <p:cNvSpPr txBox="1"/>
          <p:nvPr/>
        </p:nvSpPr>
        <p:spPr>
          <a:xfrm>
            <a:off x="548640" y="6473952"/>
            <a:ext cx="5486400" cy="274320"/>
          </a:xfrm>
          <a:prstGeom prst="rect">
            <a:avLst/>
          </a:prstGeom>
          <a:noFill/>
        </p:spPr>
        <p:txBody>
          <a:bodyPr wrap="square" lIns="0" rIns="0" tIns="0" bIns="0" anchor="t">
            <a:spAutoFit/>
          </a:bodyPr>
          <a:lstStyle/>
          <a:p>
            <a:pPr algn="l">
              <a:lnSpc>
                <a:spcPct val="100000"/>
              </a:lnSpc>
            </a:pPr>
            <a:r>
              <a:rPr sz="1000" b="0" i="0">
                <a:solidFill>
                  <a:srgbClr val="5B636A"/>
                </a:solidFill>
                <a:latin typeface="Calibri"/>
              </a:rPr>
              <a:t>Une vie de fourmi · Romain · Lisa · Yannis</a:t>
            </a:r>
          </a:p>
        </p:txBody>
      </p:sp>
      <p:sp>
        <p:nvSpPr>
          <p:cNvPr id="6" name="TextBox 5"/>
          <p:cNvSpPr txBox="1"/>
          <p:nvPr/>
        </p:nvSpPr>
        <p:spPr>
          <a:xfrm>
            <a:off x="11185855" y="6473952"/>
            <a:ext cx="457200" cy="274320"/>
          </a:xfrm>
          <a:prstGeom prst="rect">
            <a:avLst/>
          </a:prstGeom>
          <a:noFill/>
        </p:spPr>
        <p:txBody>
          <a:bodyPr wrap="square" lIns="0" rIns="0" tIns="0" bIns="0" anchor="t">
            <a:spAutoFit/>
          </a:bodyPr>
          <a:lstStyle/>
          <a:p>
            <a:pPr algn="r">
              <a:lnSpc>
                <a:spcPct val="100000"/>
              </a:lnSpc>
            </a:pPr>
            <a:r>
              <a:rPr sz="1000" b="0" i="0">
                <a:solidFill>
                  <a:srgbClr val="5B636A"/>
                </a:solidFill>
                <a:latin typeface="Calibri"/>
              </a:rPr>
              <a:t>12</a:t>
            </a:r>
          </a:p>
        </p:txBody>
      </p:sp>
      <p:sp>
        <p:nvSpPr>
          <p:cNvPr id="7" name="TextBox 6"/>
          <p:cNvSpPr txBox="1"/>
          <p:nvPr/>
        </p:nvSpPr>
        <p:spPr>
          <a:xfrm>
            <a:off x="548640" y="1645920"/>
            <a:ext cx="5120640" cy="3474720"/>
          </a:xfrm>
          <a:prstGeom prst="rect">
            <a:avLst/>
          </a:prstGeom>
          <a:noFill/>
        </p:spPr>
        <p:txBody>
          <a:bodyPr wrap="square" lIns="0" rIns="0" tIns="0" bIns="0" anchor="t">
            <a:spAutoFit/>
          </a:bodyPr>
          <a:lstStyle/>
          <a:p>
            <a:pPr algn="l">
              <a:lnSpc>
                <a:spcPct val="100000"/>
              </a:lnSpc>
            </a:pPr>
            <a:r>
              <a:rPr sz="1700" b="1" i="0">
                <a:solidFill>
                  <a:srgbClr val="0B1F2A"/>
                </a:solidFill>
                <a:latin typeface="Calibri"/>
              </a:rPr>
              <a:t>Sommets</a:t>
            </a:r>
          </a:p>
          <a:p>
            <a:pPr algn="l">
              <a:lnSpc>
                <a:spcPct val="100000"/>
              </a:lnSpc>
            </a:pPr>
            <a:r>
              <a:rPr sz="1450" b="0" i="0">
                <a:solidFill>
                  <a:srgbClr val="5B636A"/>
                </a:solidFill>
                <a:latin typeface="Calibri"/>
              </a:rPr>
              <a:t>2 · n · (T + 1)</a:t>
            </a:r>
          </a:p>
          <a:p>
            <a:pPr algn="l">
              <a:lnSpc>
                <a:spcPct val="100000"/>
              </a:lnSpc>
            </a:pPr>
            <a:r>
              <a:rPr sz="1700" b="1" i="0">
                <a:solidFill>
                  <a:srgbClr val="0B1F2A"/>
                </a:solidFill>
                <a:latin typeface="Calibri"/>
              </a:rPr>
              <a:t>Arcs</a:t>
            </a:r>
          </a:p>
          <a:p>
            <a:pPr algn="l">
              <a:lnSpc>
                <a:spcPct val="100000"/>
              </a:lnSpc>
            </a:pPr>
            <a:r>
              <a:rPr sz="1450" b="0" i="0">
                <a:solidFill>
                  <a:srgbClr val="5B636A"/>
                </a:solidFill>
                <a:latin typeface="Calibri"/>
              </a:rPr>
              <a:t>n · (T + 1) + T · (n + 2m)</a:t>
            </a:r>
          </a:p>
          <a:p>
            <a:pPr algn="l">
              <a:lnSpc>
                <a:spcPct val="100000"/>
              </a:lnSpc>
            </a:pPr>
            <a:r>
              <a:rPr sz="1700" b="1" i="0">
                <a:solidFill>
                  <a:srgbClr val="0B1F2A"/>
                </a:solidFill>
                <a:latin typeface="Calibri"/>
              </a:rPr>
              <a:t>Edmonds-Karp</a:t>
            </a:r>
          </a:p>
          <a:p>
            <a:pPr algn="l">
              <a:lnSpc>
                <a:spcPct val="100000"/>
              </a:lnSpc>
            </a:pPr>
            <a:r>
              <a:rPr sz="1450" b="0" i="0">
                <a:solidFill>
                  <a:srgbClr val="5B636A"/>
                </a:solidFill>
                <a:latin typeface="Calibri"/>
              </a:rPr>
              <a:t>O(V · E²) en théorie ; ici au plus F augmentations</a:t>
            </a:r>
          </a:p>
          <a:p>
            <a:pPr algn="l">
              <a:lnSpc>
                <a:spcPct val="100000"/>
              </a:lnSpc>
            </a:pPr>
            <a:r>
              <a:rPr sz="1700" b="1" i="0">
                <a:solidFill>
                  <a:srgbClr val="0B1F2A"/>
                </a:solidFill>
                <a:latin typeface="Calibri"/>
              </a:rPr>
              <a:t>Recherche de T</a:t>
            </a:r>
          </a:p>
          <a:p>
            <a:pPr algn="l">
              <a:lnSpc>
                <a:spcPct val="100000"/>
              </a:lnSpc>
            </a:pPr>
            <a:r>
              <a:rPr sz="1450" b="0" i="0">
                <a:solidFill>
                  <a:srgbClr val="5B636A"/>
                </a:solidFill>
                <a:latin typeface="Calibri"/>
              </a:rPr>
              <a:t>linéaire : T − d + 1 max-flows. La recherche binaire est valide (faisabilité monotone) mais plus lente ici : elle teste de très grands T (jusqu'à d + F − 1).</a:t>
            </a:r>
          </a:p>
        </p:txBody>
      </p:sp>
      <p:graphicFrame>
        <p:nvGraphicFramePr>
          <p:cNvPr id="8" name="Table 7"/>
          <p:cNvGraphicFramePr>
            <a:graphicFrameLocks noGrp="1"/>
          </p:cNvGraphicFramePr>
          <p:nvPr/>
        </p:nvGraphicFramePr>
        <p:xfrm>
          <a:off x="6126480" y="1600200"/>
          <a:ext cx="5486400" cy="3931920"/>
        </p:xfrm>
        <a:graphic>
          <a:graphicData uri="http://schemas.openxmlformats.org/drawingml/2006/table">
            <a:tbl>
              <a:tblPr firstRow="1" bandRow="1">
                <a:tableStyleId>{5C22544A-7EE6-4342-B048-85BDC9FD1C3A}</a:tableStyleId>
              </a:tblPr>
              <a:tblGrid>
                <a:gridCol w="2926080"/>
                <a:gridCol w="822960"/>
                <a:gridCol w="822960"/>
                <a:gridCol w="914400"/>
              </a:tblGrid>
              <a:tr h="393192">
                <a:tc>
                  <a:txBody>
                    <a:bodyPr wrap="square"/>
                    <a:lstStyle/>
                    <a:p>
                      <a:pPr algn="l"/>
                      <a:r>
                        <a:rPr sz="1300" b="1">
                          <a:solidFill>
                            <a:srgbClr val="FFFFFF"/>
                          </a:solidFill>
                          <a:latin typeface="Calibri"/>
                        </a:rPr>
                        <a:t>fichier</a:t>
                      </a:r>
                    </a:p>
                  </a:txBody>
                  <a:tcPr marL="91440" marR="91440" marT="27432" marB="27432" anchor="ctr">
                    <a:solidFill>
                      <a:srgbClr val="0B1F2A"/>
                    </a:solidFill>
                  </a:tcPr>
                </a:tc>
                <a:tc>
                  <a:txBody>
                    <a:bodyPr wrap="square"/>
                    <a:lstStyle/>
                    <a:p>
                      <a:pPr algn="ctr"/>
                      <a:r>
                        <a:rPr sz="1300" b="1">
                          <a:solidFill>
                            <a:srgbClr val="FFFFFF"/>
                          </a:solidFill>
                          <a:latin typeface="Calibri"/>
                        </a:rPr>
                        <a:t>F</a:t>
                      </a:r>
                    </a:p>
                  </a:txBody>
                  <a:tcPr marL="91440" marR="91440" marT="27432" marB="27432" anchor="ctr">
                    <a:solidFill>
                      <a:srgbClr val="0B1F2A"/>
                    </a:solidFill>
                  </a:tcPr>
                </a:tc>
                <a:tc>
                  <a:txBody>
                    <a:bodyPr wrap="square"/>
                    <a:lstStyle/>
                    <a:p>
                      <a:pPr algn="ctr"/>
                      <a:r>
                        <a:rPr sz="1300" b="1">
                          <a:solidFill>
                            <a:srgbClr val="FFFFFF"/>
                          </a:solidFill>
                          <a:latin typeface="Calibri"/>
                        </a:rPr>
                        <a:t>T</a:t>
                      </a:r>
                    </a:p>
                  </a:txBody>
                  <a:tcPr marL="91440" marR="91440" marT="27432" marB="27432" anchor="ctr">
                    <a:solidFill>
                      <a:srgbClr val="0B1F2A"/>
                    </a:solidFill>
                  </a:tcPr>
                </a:tc>
                <a:tc>
                  <a:txBody>
                    <a:bodyPr wrap="square"/>
                    <a:lstStyle/>
                    <a:p>
                      <a:pPr algn="ctr"/>
                      <a:r>
                        <a:rPr sz="1300" b="1">
                          <a:solidFill>
                            <a:srgbClr val="FFFFFF"/>
                          </a:solidFill>
                          <a:latin typeface="Calibri"/>
                        </a:rPr>
                        <a:t>temps</a:t>
                      </a:r>
                    </a:p>
                  </a:txBody>
                  <a:tcPr marL="91440" marR="91440" marT="27432" marB="27432" anchor="ctr">
                    <a:solidFill>
                      <a:srgbClr val="0B1F2A"/>
                    </a:solidFill>
                  </a:tcPr>
                </a:tc>
              </a:tr>
              <a:tr h="393192">
                <a:tc>
                  <a:txBody>
                    <a:bodyPr wrap="square"/>
                    <a:lstStyle/>
                    <a:p>
                      <a:pPr algn="l"/>
                      <a:r>
                        <a:rPr sz="1300" b="0">
                          <a:solidFill>
                            <a:srgbClr val="0B1F2A"/>
                          </a:solidFill>
                          <a:latin typeface="Calibri"/>
                        </a:rPr>
                        <a:t>fourmiliere_zero</a:t>
                      </a:r>
                    </a:p>
                  </a:txBody>
                  <a:tcPr marL="91440" marR="91440" marT="27432" marB="27432" anchor="ctr">
                    <a:solidFill>
                      <a:srgbClr val="FFFFFF"/>
                    </a:solidFill>
                  </a:tcPr>
                </a:tc>
                <a:tc>
                  <a:txBody>
                    <a:bodyPr wrap="square"/>
                    <a:lstStyle/>
                    <a:p>
                      <a:pPr algn="ctr"/>
                      <a:r>
                        <a:rPr sz="1300" b="0">
                          <a:solidFill>
                            <a:srgbClr val="0B1F2A"/>
                          </a:solidFill>
                          <a:latin typeface="Calibri"/>
                        </a:rPr>
                        <a:t>2</a:t>
                      </a:r>
                    </a:p>
                  </a:txBody>
                  <a:tcPr marL="91440" marR="91440" marT="27432" marB="27432" anchor="ctr">
                    <a:solidFill>
                      <a:srgbClr val="FFFFFF"/>
                    </a:solidFill>
                  </a:tcPr>
                </a:tc>
                <a:tc>
                  <a:txBody>
                    <a:bodyPr wrap="square"/>
                    <a:lstStyle/>
                    <a:p>
                      <a:pPr algn="ctr"/>
                      <a:r>
                        <a:rPr sz="1300" b="0">
                          <a:solidFill>
                            <a:srgbClr val="0B1F2A"/>
                          </a:solidFill>
                          <a:latin typeface="Calibri"/>
                        </a:rPr>
                        <a:t>2</a:t>
                      </a:r>
                    </a:p>
                  </a:txBody>
                  <a:tcPr marL="91440" marR="91440" marT="27432" marB="27432" anchor="ctr">
                    <a:solidFill>
                      <a:srgbClr val="FFFFFF"/>
                    </a:solidFill>
                  </a:tcPr>
                </a:tc>
                <a:tc>
                  <a:txBody>
                    <a:bodyPr wrap="square"/>
                    <a:lstStyle/>
                    <a:p>
                      <a:pPr algn="ctr"/>
                      <a:r>
                        <a:rPr sz="1300" b="0">
                          <a:solidFill>
                            <a:srgbClr val="0B1F2A"/>
                          </a:solidFill>
                          <a:latin typeface="Calibri"/>
                        </a:rPr>
                        <a:t>1 ms</a:t>
                      </a:r>
                    </a:p>
                  </a:txBody>
                  <a:tcPr marL="91440" marR="91440" marT="27432" marB="27432" anchor="ctr">
                    <a:solidFill>
                      <a:srgbClr val="FFFFFF"/>
                    </a:solidFill>
                  </a:tcPr>
                </a:tc>
              </a:tr>
              <a:tr h="393192">
                <a:tc>
                  <a:txBody>
                    <a:bodyPr wrap="square"/>
                    <a:lstStyle/>
                    <a:p>
                      <a:pPr algn="l"/>
                      <a:r>
                        <a:rPr sz="1300" b="0">
                          <a:solidFill>
                            <a:srgbClr val="0B1F2A"/>
                          </a:solidFill>
                          <a:latin typeface="Calibri"/>
                        </a:rPr>
                        <a:t>fourmiliere_un</a:t>
                      </a:r>
                    </a:p>
                  </a:txBody>
                  <a:tcPr marL="91440" marR="91440" marT="27432" marB="27432" anchor="ctr">
                    <a:solidFill>
                      <a:srgbClr val="F3F5F7"/>
                    </a:solidFill>
                  </a:tcPr>
                </a:tc>
                <a:tc>
                  <a:txBody>
                    <a:bodyPr wrap="square"/>
                    <a:lstStyle/>
                    <a:p>
                      <a:pPr algn="ctr"/>
                      <a:r>
                        <a:rPr sz="1300" b="0">
                          <a:solidFill>
                            <a:srgbClr val="0B1F2A"/>
                          </a:solidFill>
                          <a:latin typeface="Calibri"/>
                        </a:rPr>
                        <a:t>5</a:t>
                      </a:r>
                    </a:p>
                  </a:txBody>
                  <a:tcPr marL="91440" marR="91440" marT="27432" marB="27432" anchor="ctr">
                    <a:solidFill>
                      <a:srgbClr val="F3F5F7"/>
                    </a:solidFill>
                  </a:tcPr>
                </a:tc>
                <a:tc>
                  <a:txBody>
                    <a:bodyPr wrap="square"/>
                    <a:lstStyle/>
                    <a:p>
                      <a:pPr algn="ctr"/>
                      <a:r>
                        <a:rPr sz="1300" b="0">
                          <a:solidFill>
                            <a:srgbClr val="0B1F2A"/>
                          </a:solidFill>
                          <a:latin typeface="Calibri"/>
                        </a:rPr>
                        <a:t>7</a:t>
                      </a:r>
                    </a:p>
                  </a:txBody>
                  <a:tcPr marL="91440" marR="91440" marT="27432" marB="27432" anchor="ctr">
                    <a:solidFill>
                      <a:srgbClr val="F3F5F7"/>
                    </a:solidFill>
                  </a:tcPr>
                </a:tc>
                <a:tc>
                  <a:txBody>
                    <a:bodyPr wrap="square"/>
                    <a:lstStyle/>
                    <a:p>
                      <a:pPr algn="ctr"/>
                      <a:r>
                        <a:rPr sz="1300" b="0">
                          <a:solidFill>
                            <a:srgbClr val="0B1F2A"/>
                          </a:solidFill>
                          <a:latin typeface="Calibri"/>
                        </a:rPr>
                        <a:t>5 ms</a:t>
                      </a:r>
                    </a:p>
                  </a:txBody>
                  <a:tcPr marL="91440" marR="91440" marT="27432" marB="27432" anchor="ctr">
                    <a:solidFill>
                      <a:srgbClr val="F3F5F7"/>
                    </a:solidFill>
                  </a:tcPr>
                </a:tc>
              </a:tr>
              <a:tr h="393192">
                <a:tc>
                  <a:txBody>
                    <a:bodyPr wrap="square"/>
                    <a:lstStyle/>
                    <a:p>
                      <a:pPr algn="l"/>
                      <a:r>
                        <a:rPr sz="1300" b="0">
                          <a:solidFill>
                            <a:srgbClr val="0B1F2A"/>
                          </a:solidFill>
                          <a:latin typeface="Calibri"/>
                        </a:rPr>
                        <a:t>fourmiliere_deux</a:t>
                      </a:r>
                    </a:p>
                  </a:txBody>
                  <a:tcPr marL="91440" marR="91440" marT="27432" marB="27432" anchor="ctr">
                    <a:solidFill>
                      <a:srgbClr val="FFFFFF"/>
                    </a:solidFill>
                  </a:tcPr>
                </a:tc>
                <a:tc>
                  <a:txBody>
                    <a:bodyPr wrap="square"/>
                    <a:lstStyle/>
                    <a:p>
                      <a:pPr algn="ctr"/>
                      <a:r>
                        <a:rPr sz="1300" b="0">
                          <a:solidFill>
                            <a:srgbClr val="0B1F2A"/>
                          </a:solidFill>
                          <a:latin typeface="Calibri"/>
                        </a:rPr>
                        <a:t>5</a:t>
                      </a:r>
                    </a:p>
                  </a:txBody>
                  <a:tcPr marL="91440" marR="91440" marT="27432" marB="27432" anchor="ctr">
                    <a:solidFill>
                      <a:srgbClr val="FFFFFF"/>
                    </a:solidFill>
                  </a:tcPr>
                </a:tc>
                <a:tc>
                  <a:txBody>
                    <a:bodyPr wrap="square"/>
                    <a:lstStyle/>
                    <a:p>
                      <a:pPr algn="ctr"/>
                      <a:r>
                        <a:rPr sz="1300" b="0">
                          <a:solidFill>
                            <a:srgbClr val="0B1F2A"/>
                          </a:solidFill>
                          <a:latin typeface="Calibri"/>
                        </a:rPr>
                        <a:t>1</a:t>
                      </a:r>
                    </a:p>
                  </a:txBody>
                  <a:tcPr marL="91440" marR="91440" marT="27432" marB="27432" anchor="ctr">
                    <a:solidFill>
                      <a:srgbClr val="FFFFFF"/>
                    </a:solidFill>
                  </a:tcPr>
                </a:tc>
                <a:tc>
                  <a:txBody>
                    <a:bodyPr wrap="square"/>
                    <a:lstStyle/>
                    <a:p>
                      <a:pPr algn="ctr"/>
                      <a:r>
                        <a:rPr sz="1300" b="0">
                          <a:solidFill>
                            <a:srgbClr val="0B1F2A"/>
                          </a:solidFill>
                          <a:latin typeface="Calibri"/>
                        </a:rPr>
                        <a:t>0 ms</a:t>
                      </a:r>
                    </a:p>
                  </a:txBody>
                  <a:tcPr marL="91440" marR="91440" marT="27432" marB="27432" anchor="ctr">
                    <a:solidFill>
                      <a:srgbClr val="FFFFFF"/>
                    </a:solidFill>
                  </a:tcPr>
                </a:tc>
              </a:tr>
              <a:tr h="393192">
                <a:tc>
                  <a:txBody>
                    <a:bodyPr wrap="square"/>
                    <a:lstStyle/>
                    <a:p>
                      <a:pPr algn="l"/>
                      <a:r>
                        <a:rPr sz="1300" b="0">
                          <a:solidFill>
                            <a:srgbClr val="0B1F2A"/>
                          </a:solidFill>
                          <a:latin typeface="Calibri"/>
                        </a:rPr>
                        <a:t>fourmiliere_trois</a:t>
                      </a:r>
                    </a:p>
                  </a:txBody>
                  <a:tcPr marL="91440" marR="91440" marT="27432" marB="27432" anchor="ctr">
                    <a:solidFill>
                      <a:srgbClr val="F3F5F7"/>
                    </a:solidFill>
                  </a:tcPr>
                </a:tc>
                <a:tc>
                  <a:txBody>
                    <a:bodyPr wrap="square"/>
                    <a:lstStyle/>
                    <a:p>
                      <a:pPr algn="ctr"/>
                      <a:r>
                        <a:rPr sz="1300" b="0">
                          <a:solidFill>
                            <a:srgbClr val="0B1F2A"/>
                          </a:solidFill>
                          <a:latin typeface="Calibri"/>
                        </a:rPr>
                        <a:t>5</a:t>
                      </a:r>
                    </a:p>
                  </a:txBody>
                  <a:tcPr marL="91440" marR="91440" marT="27432" marB="27432" anchor="ctr">
                    <a:solidFill>
                      <a:srgbClr val="F3F5F7"/>
                    </a:solidFill>
                  </a:tcPr>
                </a:tc>
                <a:tc>
                  <a:txBody>
                    <a:bodyPr wrap="square"/>
                    <a:lstStyle/>
                    <a:p>
                      <a:pPr algn="ctr"/>
                      <a:r>
                        <a:rPr sz="1300" b="0">
                          <a:solidFill>
                            <a:srgbClr val="0B1F2A"/>
                          </a:solidFill>
                          <a:latin typeface="Calibri"/>
                        </a:rPr>
                        <a:t>7</a:t>
                      </a:r>
                    </a:p>
                  </a:txBody>
                  <a:tcPr marL="91440" marR="91440" marT="27432" marB="27432" anchor="ctr">
                    <a:solidFill>
                      <a:srgbClr val="F3F5F7"/>
                    </a:solidFill>
                  </a:tcPr>
                </a:tc>
                <a:tc>
                  <a:txBody>
                    <a:bodyPr wrap="square"/>
                    <a:lstStyle/>
                    <a:p>
                      <a:pPr algn="ctr"/>
                      <a:r>
                        <a:rPr sz="1300" b="0">
                          <a:solidFill>
                            <a:srgbClr val="0B1F2A"/>
                          </a:solidFill>
                          <a:latin typeface="Calibri"/>
                        </a:rPr>
                        <a:t>7 ms</a:t>
                      </a:r>
                    </a:p>
                  </a:txBody>
                  <a:tcPr marL="91440" marR="91440" marT="27432" marB="27432" anchor="ctr">
                    <a:solidFill>
                      <a:srgbClr val="F3F5F7"/>
                    </a:solidFill>
                  </a:tcPr>
                </a:tc>
              </a:tr>
              <a:tr h="393192">
                <a:tc>
                  <a:txBody>
                    <a:bodyPr wrap="square"/>
                    <a:lstStyle/>
                    <a:p>
                      <a:pPr algn="l"/>
                      <a:r>
                        <a:rPr sz="1300" b="0">
                          <a:solidFill>
                            <a:srgbClr val="0B1F2A"/>
                          </a:solidFill>
                          <a:latin typeface="Calibri"/>
                        </a:rPr>
                        <a:t>fourmiliere_quatre</a:t>
                      </a:r>
                    </a:p>
                  </a:txBody>
                  <a:tcPr marL="91440" marR="91440" marT="27432" marB="27432" anchor="ctr">
                    <a:solidFill>
                      <a:srgbClr val="FFFFFF"/>
                    </a:solidFill>
                  </a:tcPr>
                </a:tc>
                <a:tc>
                  <a:txBody>
                    <a:bodyPr wrap="square"/>
                    <a:lstStyle/>
                    <a:p>
                      <a:pPr algn="ctr"/>
                      <a:r>
                        <a:rPr sz="1300" b="0">
                          <a:solidFill>
                            <a:srgbClr val="0B1F2A"/>
                          </a:solidFill>
                          <a:latin typeface="Calibri"/>
                        </a:rPr>
                        <a:t>10</a:t>
                      </a:r>
                    </a:p>
                  </a:txBody>
                  <a:tcPr marL="91440" marR="91440" marT="27432" marB="27432" anchor="ctr">
                    <a:solidFill>
                      <a:srgbClr val="FFFFFF"/>
                    </a:solidFill>
                  </a:tcPr>
                </a:tc>
                <a:tc>
                  <a:txBody>
                    <a:bodyPr wrap="square"/>
                    <a:lstStyle/>
                    <a:p>
                      <a:pPr algn="ctr"/>
                      <a:r>
                        <a:rPr sz="1300" b="0">
                          <a:solidFill>
                            <a:srgbClr val="0B1F2A"/>
                          </a:solidFill>
                          <a:latin typeface="Calibri"/>
                        </a:rPr>
                        <a:t>9</a:t>
                      </a:r>
                    </a:p>
                  </a:txBody>
                  <a:tcPr marL="91440" marR="91440" marT="27432" marB="27432" anchor="ctr">
                    <a:solidFill>
                      <a:srgbClr val="FFFFFF"/>
                    </a:solidFill>
                  </a:tcPr>
                </a:tc>
                <a:tc>
                  <a:txBody>
                    <a:bodyPr wrap="square"/>
                    <a:lstStyle/>
                    <a:p>
                      <a:pPr algn="ctr"/>
                      <a:r>
                        <a:rPr sz="1300" b="0">
                          <a:solidFill>
                            <a:srgbClr val="0B1F2A"/>
                          </a:solidFill>
                          <a:latin typeface="Calibri"/>
                        </a:rPr>
                        <a:t>17 ms</a:t>
                      </a:r>
                    </a:p>
                  </a:txBody>
                  <a:tcPr marL="91440" marR="91440" marT="27432" marB="27432" anchor="ctr">
                    <a:solidFill>
                      <a:srgbClr val="FFFFFF"/>
                    </a:solidFill>
                  </a:tcPr>
                </a:tc>
              </a:tr>
              <a:tr h="393192">
                <a:tc>
                  <a:txBody>
                    <a:bodyPr wrap="square"/>
                    <a:lstStyle/>
                    <a:p>
                      <a:pPr algn="l"/>
                      <a:r>
                        <a:rPr sz="1300" b="0">
                          <a:solidFill>
                            <a:srgbClr val="0B1F2A"/>
                          </a:solidFill>
                          <a:latin typeface="Calibri"/>
                        </a:rPr>
                        <a:t>fourmiliere_cinq</a:t>
                      </a:r>
                    </a:p>
                  </a:txBody>
                  <a:tcPr marL="91440" marR="91440" marT="27432" marB="27432" anchor="ctr">
                    <a:solidFill>
                      <a:srgbClr val="F3F5F7"/>
                    </a:solidFill>
                  </a:tcPr>
                </a:tc>
                <a:tc>
                  <a:txBody>
                    <a:bodyPr wrap="square"/>
                    <a:lstStyle/>
                    <a:p>
                      <a:pPr algn="ctr"/>
                      <a:r>
                        <a:rPr sz="1300" b="0">
                          <a:solidFill>
                            <a:srgbClr val="0B1F2A"/>
                          </a:solidFill>
                          <a:latin typeface="Calibri"/>
                        </a:rPr>
                        <a:t>50</a:t>
                      </a:r>
                    </a:p>
                  </a:txBody>
                  <a:tcPr marL="91440" marR="91440" marT="27432" marB="27432" anchor="ctr">
                    <a:solidFill>
                      <a:srgbClr val="F3F5F7"/>
                    </a:solidFill>
                  </a:tcPr>
                </a:tc>
                <a:tc>
                  <a:txBody>
                    <a:bodyPr wrap="square"/>
                    <a:lstStyle/>
                    <a:p>
                      <a:pPr algn="ctr"/>
                      <a:r>
                        <a:rPr sz="1300" b="0">
                          <a:solidFill>
                            <a:srgbClr val="0B1F2A"/>
                          </a:solidFill>
                          <a:latin typeface="Calibri"/>
                        </a:rPr>
                        <a:t>11</a:t>
                      </a:r>
                    </a:p>
                  </a:txBody>
                  <a:tcPr marL="91440" marR="91440" marT="27432" marB="27432" anchor="ctr">
                    <a:solidFill>
                      <a:srgbClr val="F3F5F7"/>
                    </a:solidFill>
                  </a:tcPr>
                </a:tc>
                <a:tc>
                  <a:txBody>
                    <a:bodyPr wrap="square"/>
                    <a:lstStyle/>
                    <a:p>
                      <a:pPr algn="ctr"/>
                      <a:r>
                        <a:rPr sz="1300" b="0">
                          <a:solidFill>
                            <a:srgbClr val="0B1F2A"/>
                          </a:solidFill>
                          <a:latin typeface="Calibri"/>
                        </a:rPr>
                        <a:t>66 ms</a:t>
                      </a:r>
                    </a:p>
                  </a:txBody>
                  <a:tcPr marL="91440" marR="91440" marT="27432" marB="27432" anchor="ctr">
                    <a:solidFill>
                      <a:srgbClr val="F3F5F7"/>
                    </a:solidFill>
                  </a:tcPr>
                </a:tc>
              </a:tr>
              <a:tr h="393192">
                <a:tc>
                  <a:txBody>
                    <a:bodyPr wrap="square"/>
                    <a:lstStyle/>
                    <a:p>
                      <a:pPr algn="l"/>
                      <a:r>
                        <a:rPr sz="1300" b="0">
                          <a:solidFill>
                            <a:srgbClr val="0B1F2A"/>
                          </a:solidFill>
                          <a:latin typeface="Calibri"/>
                        </a:rPr>
                        <a:t>fourmiliere_3D</a:t>
                      </a:r>
                    </a:p>
                  </a:txBody>
                  <a:tcPr marL="91440" marR="91440" marT="27432" marB="27432" anchor="ctr">
                    <a:solidFill>
                      <a:srgbClr val="FFFFFF"/>
                    </a:solidFill>
                  </a:tcPr>
                </a:tc>
                <a:tc>
                  <a:txBody>
                    <a:bodyPr wrap="square"/>
                    <a:lstStyle/>
                    <a:p>
                      <a:pPr algn="ctr"/>
                      <a:r>
                        <a:rPr sz="1300" b="0">
                          <a:solidFill>
                            <a:srgbClr val="0B1F2A"/>
                          </a:solidFill>
                          <a:latin typeface="Calibri"/>
                        </a:rPr>
                        <a:t>50</a:t>
                      </a:r>
                    </a:p>
                  </a:txBody>
                  <a:tcPr marL="91440" marR="91440" marT="27432" marB="27432" anchor="ctr">
                    <a:solidFill>
                      <a:srgbClr val="FFFFFF"/>
                    </a:solidFill>
                  </a:tcPr>
                </a:tc>
                <a:tc>
                  <a:txBody>
                    <a:bodyPr wrap="square"/>
                    <a:lstStyle/>
                    <a:p>
                      <a:pPr algn="ctr"/>
                      <a:r>
                        <a:rPr sz="1300" b="0">
                          <a:solidFill>
                            <a:srgbClr val="0B1F2A"/>
                          </a:solidFill>
                          <a:latin typeface="Calibri"/>
                        </a:rPr>
                        <a:t>14</a:t>
                      </a:r>
                    </a:p>
                  </a:txBody>
                  <a:tcPr marL="91440" marR="91440" marT="27432" marB="27432" anchor="ctr">
                    <a:solidFill>
                      <a:srgbClr val="FFFFFF"/>
                    </a:solidFill>
                  </a:tcPr>
                </a:tc>
                <a:tc>
                  <a:txBody>
                    <a:bodyPr wrap="square"/>
                    <a:lstStyle/>
                    <a:p>
                      <a:pPr algn="ctr"/>
                      <a:r>
                        <a:rPr sz="1300" b="0">
                          <a:solidFill>
                            <a:srgbClr val="0B1F2A"/>
                          </a:solidFill>
                          <a:latin typeface="Calibri"/>
                        </a:rPr>
                        <a:t>67 ms</a:t>
                      </a:r>
                    </a:p>
                  </a:txBody>
                  <a:tcPr marL="91440" marR="91440" marT="27432" marB="27432" anchor="ctr">
                    <a:solidFill>
                      <a:srgbClr val="FFFFFF"/>
                    </a:solidFill>
                  </a:tcPr>
                </a:tc>
              </a:tr>
              <a:tr h="393192">
                <a:tc>
                  <a:txBody>
                    <a:bodyPr wrap="square"/>
                    <a:lstStyle/>
                    <a:p>
                      <a:pPr algn="l"/>
                      <a:r>
                        <a:rPr sz="1300" b="0">
                          <a:solidFill>
                            <a:srgbClr val="0B1F2A"/>
                          </a:solidFill>
                          <a:latin typeface="Calibri"/>
                        </a:rPr>
                        <a:t>La_hormiguera_de_la_muerte</a:t>
                      </a:r>
                    </a:p>
                  </a:txBody>
                  <a:tcPr marL="91440" marR="91440" marT="27432" marB="27432" anchor="ctr">
                    <a:solidFill>
                      <a:srgbClr val="F3F5F7"/>
                    </a:solidFill>
                  </a:tcPr>
                </a:tc>
                <a:tc>
                  <a:txBody>
                    <a:bodyPr wrap="square"/>
                    <a:lstStyle/>
                    <a:p>
                      <a:pPr algn="ctr"/>
                      <a:r>
                        <a:rPr sz="1300" b="0">
                          <a:solidFill>
                            <a:srgbClr val="0B1F2A"/>
                          </a:solidFill>
                          <a:latin typeface="Calibri"/>
                        </a:rPr>
                        <a:t>30</a:t>
                      </a:r>
                    </a:p>
                  </a:txBody>
                  <a:tcPr marL="91440" marR="91440" marT="27432" marB="27432" anchor="ctr">
                    <a:solidFill>
                      <a:srgbClr val="F3F5F7"/>
                    </a:solidFill>
                  </a:tcPr>
                </a:tc>
                <a:tc>
                  <a:txBody>
                    <a:bodyPr wrap="square"/>
                    <a:lstStyle/>
                    <a:p>
                      <a:pPr algn="ctr"/>
                      <a:r>
                        <a:rPr sz="1300" b="0">
                          <a:solidFill>
                            <a:srgbClr val="0B1F2A"/>
                          </a:solidFill>
                          <a:latin typeface="Calibri"/>
                        </a:rPr>
                        <a:t>9</a:t>
                      </a:r>
                    </a:p>
                  </a:txBody>
                  <a:tcPr marL="91440" marR="91440" marT="27432" marB="27432" anchor="ctr">
                    <a:solidFill>
                      <a:srgbClr val="F3F5F7"/>
                    </a:solidFill>
                  </a:tcPr>
                </a:tc>
                <a:tc>
                  <a:txBody>
                    <a:bodyPr wrap="square"/>
                    <a:lstStyle/>
                    <a:p>
                      <a:pPr algn="ctr"/>
                      <a:r>
                        <a:rPr sz="1300" b="0">
                          <a:solidFill>
                            <a:srgbClr val="0B1F2A"/>
                          </a:solidFill>
                          <a:latin typeface="Calibri"/>
                        </a:rPr>
                        <a:t>50 ms</a:t>
                      </a:r>
                    </a:p>
                  </a:txBody>
                  <a:tcPr marL="91440" marR="91440" marT="27432" marB="27432" anchor="ctr">
                    <a:solidFill>
                      <a:srgbClr val="F3F5F7"/>
                    </a:solidFill>
                  </a:tcPr>
                </a:tc>
              </a:tr>
              <a:tr h="393192">
                <a:tc>
                  <a:txBody>
                    <a:bodyPr wrap="square"/>
                    <a:lstStyle/>
                    <a:p>
                      <a:pPr algn="l"/>
                      <a:r>
                        <a:rPr sz="1300" b="0">
                          <a:solidFill>
                            <a:srgbClr val="0B1F2A"/>
                          </a:solidFill>
                          <a:latin typeface="Calibri"/>
                        </a:rPr>
                        <a:t>salle_d_at-ant</a:t>
                      </a:r>
                    </a:p>
                  </a:txBody>
                  <a:tcPr marL="91440" marR="91440" marT="27432" marB="27432" anchor="ctr">
                    <a:solidFill>
                      <a:srgbClr val="FFFFFF"/>
                    </a:solidFill>
                  </a:tcPr>
                </a:tc>
                <a:tc>
                  <a:txBody>
                    <a:bodyPr wrap="square"/>
                    <a:lstStyle/>
                    <a:p>
                      <a:pPr algn="ctr"/>
                      <a:r>
                        <a:rPr sz="1300" b="0">
                          <a:solidFill>
                            <a:srgbClr val="0B1F2A"/>
                          </a:solidFill>
                          <a:latin typeface="Calibri"/>
                        </a:rPr>
                        <a:t>100</a:t>
                      </a:r>
                    </a:p>
                  </a:txBody>
                  <a:tcPr marL="91440" marR="91440" marT="27432" marB="27432" anchor="ctr">
                    <a:solidFill>
                      <a:srgbClr val="FFFFFF"/>
                    </a:solidFill>
                  </a:tcPr>
                </a:tc>
                <a:tc>
                  <a:txBody>
                    <a:bodyPr wrap="square"/>
                    <a:lstStyle/>
                    <a:p>
                      <a:pPr algn="ctr"/>
                      <a:r>
                        <a:rPr sz="1300" b="0">
                          <a:solidFill>
                            <a:srgbClr val="0B1F2A"/>
                          </a:solidFill>
                          <a:latin typeface="Calibri"/>
                        </a:rPr>
                        <a:t>15</a:t>
                      </a:r>
                    </a:p>
                  </a:txBody>
                  <a:tcPr marL="91440" marR="91440" marT="27432" marB="27432" anchor="ctr">
                    <a:solidFill>
                      <a:srgbClr val="FFFFFF"/>
                    </a:solidFill>
                  </a:tcPr>
                </a:tc>
                <a:tc>
                  <a:txBody>
                    <a:bodyPr wrap="square"/>
                    <a:lstStyle/>
                    <a:p>
                      <a:pPr algn="ctr"/>
                      <a:r>
                        <a:rPr sz="1300" b="0">
                          <a:solidFill>
                            <a:srgbClr val="0B1F2A"/>
                          </a:solidFill>
                          <a:latin typeface="Calibri"/>
                        </a:rPr>
                        <a:t>243 ms</a:t>
                      </a:r>
                    </a:p>
                  </a:txBody>
                  <a:tcPr marL="91440" marR="91440" marT="27432" marB="27432" anchor="ctr">
                    <a:solidFill>
                      <a:srgbClr val="FFFFFF"/>
                    </a:solidFill>
                  </a:tcPr>
                </a:tc>
              </a:tr>
            </a:tbl>
          </a:graphicData>
        </a:graphic>
      </p:graphicFrame>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10317176" y="384048"/>
            <a:ext cx="1463040" cy="384048"/>
          </a:xfrm>
          <a:prstGeom prst="roundRect">
            <a:avLst>
              <a:gd name="adj" fmla="val 50000"/>
            </a:avLst>
          </a:prstGeom>
          <a:solidFill>
            <a:srgbClr val="F3F5F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300" b="1">
                <a:solidFill>
                  <a:srgbClr val="5B636A"/>
                </a:solidFill>
                <a:latin typeface="Calibri"/>
              </a:rPr>
              <a:t>ANNEXE</a:t>
            </a:r>
          </a:p>
        </p:txBody>
      </p:sp>
      <p:sp>
        <p:nvSpPr>
          <p:cNvPr id="3" name="TextBox 2"/>
          <p:cNvSpPr txBox="1"/>
          <p:nvPr/>
        </p:nvSpPr>
        <p:spPr>
          <a:xfrm>
            <a:off x="548640" y="347472"/>
            <a:ext cx="9326880" cy="731520"/>
          </a:xfrm>
          <a:prstGeom prst="rect">
            <a:avLst/>
          </a:prstGeom>
          <a:noFill/>
        </p:spPr>
        <p:txBody>
          <a:bodyPr wrap="square" lIns="0" rIns="0" tIns="0" bIns="0" anchor="t">
            <a:spAutoFit/>
          </a:bodyPr>
          <a:lstStyle/>
          <a:p>
            <a:pPr algn="l">
              <a:lnSpc>
                <a:spcPct val="100000"/>
              </a:lnSpc>
            </a:pPr>
            <a:r>
              <a:rPr sz="3000" b="1" i="0">
                <a:solidFill>
                  <a:srgbClr val="0B1F2A"/>
                </a:solidFill>
                <a:latin typeface="Calibri"/>
              </a:rPr>
              <a:t>Comment on sait que c'est juste</a:t>
            </a:r>
          </a:p>
        </p:txBody>
      </p:sp>
      <p:sp>
        <p:nvSpPr>
          <p:cNvPr id="4" name="TextBox 3"/>
          <p:cNvSpPr txBox="1"/>
          <p:nvPr/>
        </p:nvSpPr>
        <p:spPr>
          <a:xfrm>
            <a:off x="548640" y="1024128"/>
            <a:ext cx="9326880" cy="411480"/>
          </a:xfrm>
          <a:prstGeom prst="rect">
            <a:avLst/>
          </a:prstGeom>
          <a:noFill/>
        </p:spPr>
        <p:txBody>
          <a:bodyPr wrap="square" lIns="0" rIns="0" tIns="0" bIns="0" anchor="t">
            <a:spAutoFit/>
          </a:bodyPr>
          <a:lstStyle/>
          <a:p>
            <a:pPr algn="l">
              <a:lnSpc>
                <a:spcPct val="100000"/>
              </a:lnSpc>
            </a:pPr>
            <a:r>
              <a:rPr sz="1700" b="0" i="0">
                <a:solidFill>
                  <a:srgbClr val="5B636A"/>
                </a:solidFill>
                <a:latin typeface="Calibri"/>
              </a:rPr>
              <a:t>56 tests automatiques, lancés à chaque push par GitHub Actions</a:t>
            </a:r>
          </a:p>
        </p:txBody>
      </p:sp>
      <p:sp>
        <p:nvSpPr>
          <p:cNvPr id="5" name="TextBox 4"/>
          <p:cNvSpPr txBox="1"/>
          <p:nvPr/>
        </p:nvSpPr>
        <p:spPr>
          <a:xfrm>
            <a:off x="548640" y="6473952"/>
            <a:ext cx="5486400" cy="274320"/>
          </a:xfrm>
          <a:prstGeom prst="rect">
            <a:avLst/>
          </a:prstGeom>
          <a:noFill/>
        </p:spPr>
        <p:txBody>
          <a:bodyPr wrap="square" lIns="0" rIns="0" tIns="0" bIns="0" anchor="t">
            <a:spAutoFit/>
          </a:bodyPr>
          <a:lstStyle/>
          <a:p>
            <a:pPr algn="l">
              <a:lnSpc>
                <a:spcPct val="100000"/>
              </a:lnSpc>
            </a:pPr>
            <a:r>
              <a:rPr sz="1000" b="0" i="0">
                <a:solidFill>
                  <a:srgbClr val="5B636A"/>
                </a:solidFill>
                <a:latin typeface="Calibri"/>
              </a:rPr>
              <a:t>Une vie de fourmi · Romain · Lisa · Yannis</a:t>
            </a:r>
          </a:p>
        </p:txBody>
      </p:sp>
      <p:sp>
        <p:nvSpPr>
          <p:cNvPr id="6" name="TextBox 5"/>
          <p:cNvSpPr txBox="1"/>
          <p:nvPr/>
        </p:nvSpPr>
        <p:spPr>
          <a:xfrm>
            <a:off x="11185855" y="6473952"/>
            <a:ext cx="457200" cy="274320"/>
          </a:xfrm>
          <a:prstGeom prst="rect">
            <a:avLst/>
          </a:prstGeom>
          <a:noFill/>
        </p:spPr>
        <p:txBody>
          <a:bodyPr wrap="square" lIns="0" rIns="0" tIns="0" bIns="0" anchor="t">
            <a:spAutoFit/>
          </a:bodyPr>
          <a:lstStyle/>
          <a:p>
            <a:pPr algn="r">
              <a:lnSpc>
                <a:spcPct val="100000"/>
              </a:lnSpc>
            </a:pPr>
            <a:r>
              <a:rPr sz="1000" b="0" i="0">
                <a:solidFill>
                  <a:srgbClr val="5B636A"/>
                </a:solidFill>
                <a:latin typeface="Calibri"/>
              </a:rPr>
              <a:t>13</a:t>
            </a:r>
          </a:p>
        </p:txBody>
      </p:sp>
      <p:sp>
        <p:nvSpPr>
          <p:cNvPr id="7" name="Rounded Rectangle 6"/>
          <p:cNvSpPr/>
          <p:nvPr/>
        </p:nvSpPr>
        <p:spPr>
          <a:xfrm>
            <a:off x="548640" y="1645920"/>
            <a:ext cx="5440680" cy="1298448"/>
          </a:xfrm>
          <a:prstGeom prst="roundRect">
            <a:avLst>
              <a:gd name="adj" fmla="val 8000"/>
            </a:avLst>
          </a:prstGeom>
          <a:solidFill>
            <a:srgbClr val="F3F5F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p>
        </p:txBody>
      </p:sp>
      <p:sp>
        <p:nvSpPr>
          <p:cNvPr id="8" name="TextBox 7"/>
          <p:cNvSpPr txBox="1"/>
          <p:nvPr/>
        </p:nvSpPr>
        <p:spPr>
          <a:xfrm>
            <a:off x="777240" y="1783080"/>
            <a:ext cx="5029200" cy="1097280"/>
          </a:xfrm>
          <a:prstGeom prst="rect">
            <a:avLst/>
          </a:prstGeom>
          <a:noFill/>
        </p:spPr>
        <p:txBody>
          <a:bodyPr wrap="square" lIns="0" rIns="0" tIns="0" bIns="0" anchor="t">
            <a:spAutoFit/>
          </a:bodyPr>
          <a:lstStyle/>
          <a:p>
            <a:pPr algn="l">
              <a:lnSpc>
                <a:spcPct val="100000"/>
              </a:lnSpc>
            </a:pPr>
            <a:r>
              <a:rPr sz="1700" b="1" i="0">
                <a:solidFill>
                  <a:srgbClr val="0B1F2A"/>
                </a:solidFill>
                <a:latin typeface="Calibri"/>
              </a:rPr>
              <a:t>Parseur</a:t>
            </a:r>
          </a:p>
          <a:p>
            <a:pPr algn="l">
              <a:lnSpc>
                <a:spcPct val="100000"/>
              </a:lnSpc>
            </a:pPr>
            <a:r>
              <a:rPr sz="1350" b="0" i="0">
                <a:solidFill>
                  <a:srgbClr val="5B636A"/>
                </a:solidFill>
                <a:latin typeface="Calibri"/>
              </a:rPr>
              <a:t>S1 { 5 }, f=50, F = 100, BOM, CRLF, tabulations, commentaires ; erreurs avec numéro de ligne ; capacités contradictoires</a:t>
            </a:r>
          </a:p>
        </p:txBody>
      </p:sp>
      <p:sp>
        <p:nvSpPr>
          <p:cNvPr id="9" name="Rounded Rectangle 8"/>
          <p:cNvSpPr/>
          <p:nvPr/>
        </p:nvSpPr>
        <p:spPr>
          <a:xfrm>
            <a:off x="6172200" y="1645920"/>
            <a:ext cx="5440680" cy="1298448"/>
          </a:xfrm>
          <a:prstGeom prst="roundRect">
            <a:avLst>
              <a:gd name="adj" fmla="val 8000"/>
            </a:avLst>
          </a:prstGeom>
          <a:solidFill>
            <a:srgbClr val="F3F5F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p>
        </p:txBody>
      </p:sp>
      <p:sp>
        <p:nvSpPr>
          <p:cNvPr id="10" name="TextBox 9"/>
          <p:cNvSpPr txBox="1"/>
          <p:nvPr/>
        </p:nvSpPr>
        <p:spPr>
          <a:xfrm>
            <a:off x="6400800" y="1783080"/>
            <a:ext cx="5029200" cy="1097280"/>
          </a:xfrm>
          <a:prstGeom prst="rect">
            <a:avLst/>
          </a:prstGeom>
          <a:noFill/>
        </p:spPr>
        <p:txBody>
          <a:bodyPr wrap="square" lIns="0" rIns="0" tIns="0" bIns="0" anchor="t">
            <a:spAutoFit/>
          </a:bodyPr>
          <a:lstStyle/>
          <a:p>
            <a:pPr algn="l">
              <a:lnSpc>
                <a:spcPct val="100000"/>
              </a:lnSpc>
            </a:pPr>
            <a:r>
              <a:rPr sz="1700" b="1" i="0">
                <a:solidFill>
                  <a:srgbClr val="0B1F2A"/>
                </a:solidFill>
                <a:latin typeface="Calibri"/>
              </a:rPr>
              <a:t>Règles</a:t>
            </a:r>
          </a:p>
          <a:p>
            <a:pPr algn="l">
              <a:lnSpc>
                <a:spcPct val="100000"/>
              </a:lnSpc>
            </a:pPr>
            <a:r>
              <a:rPr sz="1350" b="0" i="0">
                <a:solidFill>
                  <a:srgbClr val="5B636A"/>
                </a:solidFill>
                <a:latin typeface="Calibri"/>
              </a:rPr>
              <a:t>capacités à chaque instant, tunnels existants, départ Sv, arrivée Sd, Sd absorbant, nombre exact de fourmis</a:t>
            </a:r>
          </a:p>
        </p:txBody>
      </p:sp>
      <p:sp>
        <p:nvSpPr>
          <p:cNvPr id="11" name="Rounded Rectangle 10"/>
          <p:cNvSpPr/>
          <p:nvPr/>
        </p:nvSpPr>
        <p:spPr>
          <a:xfrm>
            <a:off x="548640" y="3108960"/>
            <a:ext cx="5440680" cy="1298448"/>
          </a:xfrm>
          <a:prstGeom prst="roundRect">
            <a:avLst>
              <a:gd name="adj" fmla="val 8000"/>
            </a:avLst>
          </a:prstGeom>
          <a:solidFill>
            <a:srgbClr val="F3F5F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p>
        </p:txBody>
      </p:sp>
      <p:sp>
        <p:nvSpPr>
          <p:cNvPr id="12" name="TextBox 11"/>
          <p:cNvSpPr txBox="1"/>
          <p:nvPr/>
        </p:nvSpPr>
        <p:spPr>
          <a:xfrm>
            <a:off x="777240" y="3246120"/>
            <a:ext cx="5029200" cy="1097280"/>
          </a:xfrm>
          <a:prstGeom prst="rect">
            <a:avLst/>
          </a:prstGeom>
          <a:noFill/>
        </p:spPr>
        <p:txBody>
          <a:bodyPr wrap="square" lIns="0" rIns="0" tIns="0" bIns="0" anchor="t">
            <a:spAutoFit/>
          </a:bodyPr>
          <a:lstStyle/>
          <a:p>
            <a:pPr algn="l">
              <a:lnSpc>
                <a:spcPct val="100000"/>
              </a:lnSpc>
            </a:pPr>
            <a:r>
              <a:rPr sz="1700" b="1" i="0">
                <a:solidFill>
                  <a:srgbClr val="0B1F2A"/>
                </a:solidFill>
                <a:latin typeface="Calibri"/>
              </a:rPr>
              <a:t>Topologies</a:t>
            </a:r>
          </a:p>
          <a:p>
            <a:pPr algn="l">
              <a:lnSpc>
                <a:spcPct val="100000"/>
              </a:lnSpc>
            </a:pPr>
            <a:r>
              <a:rPr sz="1350" b="0" i="0">
                <a:solidFill>
                  <a:srgbClr val="5B636A"/>
                </a:solidFill>
                <a:latin typeface="Calibri"/>
              </a:rPr>
              <a:t>cul-de-sac, cycle, tunnel direct Sv–Sd, grosse capacité, goulot, F = 100</a:t>
            </a:r>
          </a:p>
        </p:txBody>
      </p:sp>
      <p:sp>
        <p:nvSpPr>
          <p:cNvPr id="13" name="Rounded Rectangle 12"/>
          <p:cNvSpPr/>
          <p:nvPr/>
        </p:nvSpPr>
        <p:spPr>
          <a:xfrm>
            <a:off x="6172200" y="3108960"/>
            <a:ext cx="5440680" cy="1298448"/>
          </a:xfrm>
          <a:prstGeom prst="roundRect">
            <a:avLst>
              <a:gd name="adj" fmla="val 8000"/>
            </a:avLst>
          </a:prstGeom>
          <a:solidFill>
            <a:srgbClr val="F3F5F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p>
        </p:txBody>
      </p:sp>
      <p:sp>
        <p:nvSpPr>
          <p:cNvPr id="14" name="TextBox 13"/>
          <p:cNvSpPr txBox="1"/>
          <p:nvPr/>
        </p:nvSpPr>
        <p:spPr>
          <a:xfrm>
            <a:off x="6400800" y="3246120"/>
            <a:ext cx="5029200" cy="1097280"/>
          </a:xfrm>
          <a:prstGeom prst="rect">
            <a:avLst/>
          </a:prstGeom>
          <a:noFill/>
        </p:spPr>
        <p:txBody>
          <a:bodyPr wrap="square" lIns="0" rIns="0" tIns="0" bIns="0" anchor="t">
            <a:spAutoFit/>
          </a:bodyPr>
          <a:lstStyle/>
          <a:p>
            <a:pPr algn="l">
              <a:lnSpc>
                <a:spcPct val="100000"/>
              </a:lnSpc>
            </a:pPr>
            <a:r>
              <a:rPr sz="1700" b="1" i="0">
                <a:solidFill>
                  <a:srgbClr val="0B1F2A"/>
                </a:solidFill>
                <a:latin typeface="Calibri"/>
              </a:rPr>
              <a:t>Optimalité</a:t>
            </a:r>
          </a:p>
          <a:p>
            <a:pPr algn="l">
              <a:lnSpc>
                <a:spcPct val="100000"/>
              </a:lnSpc>
            </a:pPr>
            <a:r>
              <a:rPr sz="1350" b="0" i="0">
                <a:solidFill>
                  <a:srgbClr val="5B636A"/>
                </a:solidFill>
                <a:latin typeface="Calibri"/>
              </a:rPr>
              <a:t>max-flow insuffisant à T − 1 ; 400 graphes aléatoires comparés à une recherche exhaustive (BFS sur les états)</a:t>
            </a:r>
          </a:p>
        </p:txBody>
      </p:sp>
      <p:sp>
        <p:nvSpPr>
          <p:cNvPr id="15" name="Rounded Rectangle 14"/>
          <p:cNvSpPr/>
          <p:nvPr/>
        </p:nvSpPr>
        <p:spPr>
          <a:xfrm>
            <a:off x="548640" y="4572000"/>
            <a:ext cx="5440680" cy="1298448"/>
          </a:xfrm>
          <a:prstGeom prst="roundRect">
            <a:avLst>
              <a:gd name="adj" fmla="val 8000"/>
            </a:avLst>
          </a:prstGeom>
          <a:solidFill>
            <a:srgbClr val="F3F5F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p>
        </p:txBody>
      </p:sp>
      <p:sp>
        <p:nvSpPr>
          <p:cNvPr id="16" name="TextBox 15"/>
          <p:cNvSpPr txBox="1"/>
          <p:nvPr/>
        </p:nvSpPr>
        <p:spPr>
          <a:xfrm>
            <a:off x="777240" y="4709160"/>
            <a:ext cx="5029200" cy="1097280"/>
          </a:xfrm>
          <a:prstGeom prst="rect">
            <a:avLst/>
          </a:prstGeom>
          <a:noFill/>
        </p:spPr>
        <p:txBody>
          <a:bodyPr wrap="square" lIns="0" rIns="0" tIns="0" bIns="0" anchor="t">
            <a:spAutoFit/>
          </a:bodyPr>
          <a:lstStyle/>
          <a:p>
            <a:pPr algn="l">
              <a:lnSpc>
                <a:spcPct val="100000"/>
              </a:lnSpc>
            </a:pPr>
            <a:r>
              <a:rPr sz="1700" b="1" i="0">
                <a:solidFill>
                  <a:srgbClr val="0B1F2A"/>
                </a:solidFill>
                <a:latin typeface="Calibri"/>
              </a:rPr>
              <a:t>Qualité</a:t>
            </a:r>
          </a:p>
          <a:p>
            <a:pPr algn="l">
              <a:lnSpc>
                <a:spcPct val="100000"/>
              </a:lnSpc>
            </a:pPr>
            <a:r>
              <a:rPr sz="1350" b="0" i="0">
                <a:solidFill>
                  <a:srgbClr val="5B636A"/>
                </a:solidFill>
                <a:latin typeface="Calibri"/>
              </a:rPr>
              <a:t>aucun aller-retour A→B→A, arrivées au plus tôt, résultat identique d'une exécution à l'autre</a:t>
            </a:r>
          </a:p>
        </p:txBody>
      </p:sp>
      <p:sp>
        <p:nvSpPr>
          <p:cNvPr id="17" name="Rounded Rectangle 16"/>
          <p:cNvSpPr/>
          <p:nvPr/>
        </p:nvSpPr>
        <p:spPr>
          <a:xfrm>
            <a:off x="6172200" y="4572000"/>
            <a:ext cx="5440680" cy="1298448"/>
          </a:xfrm>
          <a:prstGeom prst="roundRect">
            <a:avLst>
              <a:gd name="adj" fmla="val 8000"/>
            </a:avLst>
          </a:prstGeom>
          <a:solidFill>
            <a:srgbClr val="F3F5F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p>
        </p:txBody>
      </p:sp>
      <p:sp>
        <p:nvSpPr>
          <p:cNvPr id="18" name="TextBox 17"/>
          <p:cNvSpPr txBox="1"/>
          <p:nvPr/>
        </p:nvSpPr>
        <p:spPr>
          <a:xfrm>
            <a:off x="6400800" y="4709160"/>
            <a:ext cx="5029200" cy="1097280"/>
          </a:xfrm>
          <a:prstGeom prst="rect">
            <a:avLst/>
          </a:prstGeom>
          <a:noFill/>
        </p:spPr>
        <p:txBody>
          <a:bodyPr wrap="square" lIns="0" rIns="0" tIns="0" bIns="0" anchor="t">
            <a:spAutoFit/>
          </a:bodyPr>
          <a:lstStyle/>
          <a:p>
            <a:pPr algn="l">
              <a:lnSpc>
                <a:spcPct val="100000"/>
              </a:lnSpc>
            </a:pPr>
            <a:r>
              <a:rPr sz="1700" b="1" i="0">
                <a:solidFill>
                  <a:srgbClr val="0B1F2A"/>
                </a:solidFill>
                <a:latin typeface="Calibri"/>
              </a:rPr>
              <a:t>Contre-épreuve</a:t>
            </a:r>
          </a:p>
          <a:p>
            <a:pPr algn="l">
              <a:lnSpc>
                <a:spcPct val="100000"/>
              </a:lnSpc>
            </a:pPr>
            <a:r>
              <a:rPr sz="1350" b="0" i="0">
                <a:solidFill>
                  <a:srgbClr val="5B636A"/>
                </a:solidFill>
                <a:latin typeface="Calibri"/>
              </a:rPr>
              <a:t>3 solveurs volontairement faux sont détectés par la recherche exhaustive (136, 77 et 101 cas sur 400)</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10317176" y="384048"/>
            <a:ext cx="1463040" cy="384048"/>
          </a:xfrm>
          <a:prstGeom prst="roundRect">
            <a:avLst>
              <a:gd name="adj" fmla="val 50000"/>
            </a:avLst>
          </a:prstGeom>
          <a:solidFill>
            <a:srgbClr val="F3F5F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300" b="1">
                <a:solidFill>
                  <a:srgbClr val="5B636A"/>
                </a:solidFill>
                <a:latin typeface="Calibri"/>
              </a:rPr>
              <a:t>ANNEXE</a:t>
            </a:r>
          </a:p>
        </p:txBody>
      </p:sp>
      <p:sp>
        <p:nvSpPr>
          <p:cNvPr id="3" name="TextBox 2"/>
          <p:cNvSpPr txBox="1"/>
          <p:nvPr/>
        </p:nvSpPr>
        <p:spPr>
          <a:xfrm>
            <a:off x="548640" y="347472"/>
            <a:ext cx="9326880" cy="731520"/>
          </a:xfrm>
          <a:prstGeom prst="rect">
            <a:avLst/>
          </a:prstGeom>
          <a:noFill/>
        </p:spPr>
        <p:txBody>
          <a:bodyPr wrap="square" lIns="0" rIns="0" tIns="0" bIns="0" anchor="t">
            <a:spAutoFit/>
          </a:bodyPr>
          <a:lstStyle/>
          <a:p>
            <a:pPr algn="l">
              <a:lnSpc>
                <a:spcPct val="100000"/>
              </a:lnSpc>
            </a:pPr>
            <a:r>
              <a:rPr sz="3000" b="1" i="0">
                <a:solidFill>
                  <a:srgbClr val="0B1F2A"/>
                </a:solidFill>
                <a:latin typeface="Calibri"/>
              </a:rPr>
              <a:t>Résultats complets</a:t>
            </a:r>
          </a:p>
        </p:txBody>
      </p:sp>
      <p:sp>
        <p:nvSpPr>
          <p:cNvPr id="4" name="TextBox 3"/>
          <p:cNvSpPr txBox="1"/>
          <p:nvPr/>
        </p:nvSpPr>
        <p:spPr>
          <a:xfrm>
            <a:off x="548640" y="6473952"/>
            <a:ext cx="5486400" cy="274320"/>
          </a:xfrm>
          <a:prstGeom prst="rect">
            <a:avLst/>
          </a:prstGeom>
          <a:noFill/>
        </p:spPr>
        <p:txBody>
          <a:bodyPr wrap="square" lIns="0" rIns="0" tIns="0" bIns="0" anchor="t">
            <a:spAutoFit/>
          </a:bodyPr>
          <a:lstStyle/>
          <a:p>
            <a:pPr algn="l">
              <a:lnSpc>
                <a:spcPct val="100000"/>
              </a:lnSpc>
            </a:pPr>
            <a:r>
              <a:rPr sz="1000" b="0" i="0">
                <a:solidFill>
                  <a:srgbClr val="5B636A"/>
                </a:solidFill>
                <a:latin typeface="Calibri"/>
              </a:rPr>
              <a:t>Une vie de fourmi · Romain · Lisa · Yannis</a:t>
            </a:r>
          </a:p>
        </p:txBody>
      </p:sp>
      <p:sp>
        <p:nvSpPr>
          <p:cNvPr id="5" name="TextBox 4"/>
          <p:cNvSpPr txBox="1"/>
          <p:nvPr/>
        </p:nvSpPr>
        <p:spPr>
          <a:xfrm>
            <a:off x="11185855" y="6473952"/>
            <a:ext cx="457200" cy="274320"/>
          </a:xfrm>
          <a:prstGeom prst="rect">
            <a:avLst/>
          </a:prstGeom>
          <a:noFill/>
        </p:spPr>
        <p:txBody>
          <a:bodyPr wrap="square" lIns="0" rIns="0" tIns="0" bIns="0" anchor="t">
            <a:spAutoFit/>
          </a:bodyPr>
          <a:lstStyle/>
          <a:p>
            <a:pPr algn="r">
              <a:lnSpc>
                <a:spcPct val="100000"/>
              </a:lnSpc>
            </a:pPr>
            <a:r>
              <a:rPr sz="1000" b="0" i="0">
                <a:solidFill>
                  <a:srgbClr val="5B636A"/>
                </a:solidFill>
                <a:latin typeface="Calibri"/>
              </a:rPr>
              <a:t>14</a:t>
            </a:r>
          </a:p>
        </p:txBody>
      </p:sp>
      <p:pic>
        <p:nvPicPr>
          <p:cNvPr id="6" name="Picture 5" descr="resultats.png"/>
          <p:cNvPicPr>
            <a:picLocks noChangeAspect="1"/>
          </p:cNvPicPr>
          <p:nvPr/>
        </p:nvPicPr>
        <p:blipFill>
          <a:blip r:embed="rId2"/>
          <a:stretch>
            <a:fillRect/>
          </a:stretch>
        </p:blipFill>
        <p:spPr>
          <a:xfrm>
            <a:off x="1368877" y="1143000"/>
            <a:ext cx="9423765" cy="5303520"/>
          </a:xfrm>
          <a:prstGeom prst="rect">
            <a:avLst/>
          </a:prstGeom>
        </p:spPr>
      </p:pic>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10317176" y="384048"/>
            <a:ext cx="1463040" cy="384048"/>
          </a:xfrm>
          <a:prstGeom prst="roundRect">
            <a:avLst>
              <a:gd name="adj" fmla="val 50000"/>
            </a:avLst>
          </a:prstGeom>
          <a:solidFill>
            <a:srgbClr val="F3F5F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300" b="1">
                <a:solidFill>
                  <a:srgbClr val="5B636A"/>
                </a:solidFill>
                <a:latin typeface="Calibri"/>
              </a:rPr>
              <a:t>ANNEXE</a:t>
            </a:r>
          </a:p>
        </p:txBody>
      </p:sp>
      <p:sp>
        <p:nvSpPr>
          <p:cNvPr id="3" name="TextBox 2"/>
          <p:cNvSpPr txBox="1"/>
          <p:nvPr/>
        </p:nvSpPr>
        <p:spPr>
          <a:xfrm>
            <a:off x="548640" y="347472"/>
            <a:ext cx="9326880" cy="731520"/>
          </a:xfrm>
          <a:prstGeom prst="rect">
            <a:avLst/>
          </a:prstGeom>
          <a:noFill/>
        </p:spPr>
        <p:txBody>
          <a:bodyPr wrap="square" lIns="0" rIns="0" tIns="0" bIns="0" anchor="t">
            <a:spAutoFit/>
          </a:bodyPr>
          <a:lstStyle/>
          <a:p>
            <a:pPr algn="l">
              <a:lnSpc>
                <a:spcPct val="100000"/>
              </a:lnSpc>
            </a:pPr>
            <a:r>
              <a:rPr sz="3000" b="1" i="0">
                <a:solidFill>
                  <a:srgbClr val="0B1F2A"/>
                </a:solidFill>
                <a:latin typeface="Calibri"/>
              </a:rPr>
              <a:t>Si le GIF ne s'anime pas : les étapes clés</a:t>
            </a:r>
          </a:p>
        </p:txBody>
      </p:sp>
      <p:sp>
        <p:nvSpPr>
          <p:cNvPr id="4" name="TextBox 3"/>
          <p:cNvSpPr txBox="1"/>
          <p:nvPr/>
        </p:nvSpPr>
        <p:spPr>
          <a:xfrm>
            <a:off x="548640" y="1024128"/>
            <a:ext cx="9326880" cy="411480"/>
          </a:xfrm>
          <a:prstGeom prst="rect">
            <a:avLst/>
          </a:prstGeom>
          <a:noFill/>
        </p:spPr>
        <p:txBody>
          <a:bodyPr wrap="square" lIns="0" rIns="0" tIns="0" bIns="0" anchor="t">
            <a:spAutoFit/>
          </a:bodyPr>
          <a:lstStyle/>
          <a:p>
            <a:pPr algn="l">
              <a:lnSpc>
                <a:spcPct val="100000"/>
              </a:lnSpc>
            </a:pPr>
            <a:r>
              <a:rPr sz="1700" b="0" i="0">
                <a:solidFill>
                  <a:srgbClr val="5B636A"/>
                </a:solidFill>
                <a:latin typeface="Calibri"/>
              </a:rPr>
              <a:t>fourmiliere_cinq · mêmes positions sur chaque image</a:t>
            </a:r>
          </a:p>
        </p:txBody>
      </p:sp>
      <p:sp>
        <p:nvSpPr>
          <p:cNvPr id="5" name="TextBox 4"/>
          <p:cNvSpPr txBox="1"/>
          <p:nvPr/>
        </p:nvSpPr>
        <p:spPr>
          <a:xfrm>
            <a:off x="548640" y="6473952"/>
            <a:ext cx="5486400" cy="274320"/>
          </a:xfrm>
          <a:prstGeom prst="rect">
            <a:avLst/>
          </a:prstGeom>
          <a:noFill/>
        </p:spPr>
        <p:txBody>
          <a:bodyPr wrap="square" lIns="0" rIns="0" tIns="0" bIns="0" anchor="t">
            <a:spAutoFit/>
          </a:bodyPr>
          <a:lstStyle/>
          <a:p>
            <a:pPr algn="l">
              <a:lnSpc>
                <a:spcPct val="100000"/>
              </a:lnSpc>
            </a:pPr>
            <a:r>
              <a:rPr sz="1000" b="0" i="0">
                <a:solidFill>
                  <a:srgbClr val="5B636A"/>
                </a:solidFill>
                <a:latin typeface="Calibri"/>
              </a:rPr>
              <a:t>Une vie de fourmi · Romain · Lisa · Yannis</a:t>
            </a:r>
          </a:p>
        </p:txBody>
      </p:sp>
      <p:sp>
        <p:nvSpPr>
          <p:cNvPr id="6" name="TextBox 5"/>
          <p:cNvSpPr txBox="1"/>
          <p:nvPr/>
        </p:nvSpPr>
        <p:spPr>
          <a:xfrm>
            <a:off x="11185855" y="6473952"/>
            <a:ext cx="457200" cy="274320"/>
          </a:xfrm>
          <a:prstGeom prst="rect">
            <a:avLst/>
          </a:prstGeom>
          <a:noFill/>
        </p:spPr>
        <p:txBody>
          <a:bodyPr wrap="square" lIns="0" rIns="0" tIns="0" bIns="0" anchor="t">
            <a:spAutoFit/>
          </a:bodyPr>
          <a:lstStyle/>
          <a:p>
            <a:pPr algn="r">
              <a:lnSpc>
                <a:spcPct val="100000"/>
              </a:lnSpc>
            </a:pPr>
            <a:r>
              <a:rPr sz="1000" b="0" i="0">
                <a:solidFill>
                  <a:srgbClr val="5B636A"/>
                </a:solidFill>
                <a:latin typeface="Calibri"/>
              </a:rPr>
              <a:t>15</a:t>
            </a:r>
          </a:p>
        </p:txBody>
      </p:sp>
      <p:pic>
        <p:nvPicPr>
          <p:cNvPr id="7" name="Picture 6" descr="demo_etape_00.png"/>
          <p:cNvPicPr>
            <a:picLocks noChangeAspect="1"/>
          </p:cNvPicPr>
          <p:nvPr/>
        </p:nvPicPr>
        <p:blipFill>
          <a:blip r:embed="rId2"/>
          <a:stretch>
            <a:fillRect/>
          </a:stretch>
        </p:blipFill>
        <p:spPr>
          <a:xfrm>
            <a:off x="1139854" y="1508760"/>
            <a:ext cx="4258252" cy="2395728"/>
          </a:xfrm>
          <a:prstGeom prst="rect">
            <a:avLst/>
          </a:prstGeom>
        </p:spPr>
      </p:pic>
      <p:pic>
        <p:nvPicPr>
          <p:cNvPr id="8" name="Picture 7" descr="demo_etape_03.png"/>
          <p:cNvPicPr>
            <a:picLocks noChangeAspect="1"/>
          </p:cNvPicPr>
          <p:nvPr/>
        </p:nvPicPr>
        <p:blipFill>
          <a:blip r:embed="rId3"/>
          <a:stretch>
            <a:fillRect/>
          </a:stretch>
        </p:blipFill>
        <p:spPr>
          <a:xfrm>
            <a:off x="6763414" y="1508760"/>
            <a:ext cx="4258252" cy="2395728"/>
          </a:xfrm>
          <a:prstGeom prst="rect">
            <a:avLst/>
          </a:prstGeom>
        </p:spPr>
      </p:pic>
      <p:pic>
        <p:nvPicPr>
          <p:cNvPr id="9" name="Picture 8" descr="demo_etape_07.png"/>
          <p:cNvPicPr>
            <a:picLocks noChangeAspect="1"/>
          </p:cNvPicPr>
          <p:nvPr/>
        </p:nvPicPr>
        <p:blipFill>
          <a:blip r:embed="rId4"/>
          <a:stretch>
            <a:fillRect/>
          </a:stretch>
        </p:blipFill>
        <p:spPr>
          <a:xfrm>
            <a:off x="1139854" y="3995928"/>
            <a:ext cx="4258252" cy="2395728"/>
          </a:xfrm>
          <a:prstGeom prst="rect">
            <a:avLst/>
          </a:prstGeom>
        </p:spPr>
      </p:pic>
      <p:pic>
        <p:nvPicPr>
          <p:cNvPr id="10" name="Picture 9" descr="demo_etape_11.png"/>
          <p:cNvPicPr>
            <a:picLocks noChangeAspect="1"/>
          </p:cNvPicPr>
          <p:nvPr/>
        </p:nvPicPr>
        <p:blipFill>
          <a:blip r:embed="rId5"/>
          <a:stretch>
            <a:fillRect/>
          </a:stretch>
        </p:blipFill>
        <p:spPr>
          <a:xfrm>
            <a:off x="6763414" y="3995928"/>
            <a:ext cx="4258252" cy="2395728"/>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Une vie de fourmi</dc:title>
  <dc:subject/>
  <dc:creator>Romain, Lisa, Yannis</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