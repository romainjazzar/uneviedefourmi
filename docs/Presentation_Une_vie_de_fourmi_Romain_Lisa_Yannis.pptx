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091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75488"/>
            <a:ext cx="987552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700" b="1">
                <a:solidFill>
                  <a:srgbClr val="F7F3EA"/>
                </a:solidFill>
                <a:latin typeface="Aptos"/>
              </a:rPr>
              <a:t>Une vie de fourmi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69880" y="502920"/>
            <a:ext cx="1097280" cy="384048"/>
          </a:xfrm>
          <a:prstGeom prst="roundRect">
            <a:avLst/>
          </a:prstGeom>
          <a:solidFill>
            <a:srgbClr val="7091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06456" y="539496"/>
            <a:ext cx="1024128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Romain**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325880"/>
            <a:ext cx="10927080" cy="4800600"/>
          </a:xfrm>
          <a:prstGeom prst="roundRect">
            <a:avLst/>
          </a:prstGeom>
          <a:solidFill>
            <a:srgbClr val="152F3B"/>
          </a:solidFill>
          <a:ln>
            <a:solidFill>
              <a:srgbClr val="3E57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27632"/>
            <a:ext cx="10222992" cy="41879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7F3EA"/>
                </a:solidFill>
                <a:latin typeface="Aptos"/>
              </a:defRPr>
            </a:pPr>
            <a:r>
              <a:t>Du plus court chemin à l'optimisation d'un trafic multi-agents.</a:t>
            </a:r>
          </a:p>
          <a:p>
            <a:pPr>
              <a:spcAft>
                <a:spcPts val="800"/>
              </a:spcAft>
              <a:defRPr sz="1800">
                <a:solidFill>
                  <a:srgbClr val="F7F3EA"/>
                </a:solidFill>
                <a:latin typeface="Aptos"/>
              </a:defRPr>
            </a:pPr>
            <a:r>
              <a:t>Python • Algorithmique</a:t>
            </a:r>
          </a:p>
          <a:p>
            <a:pPr>
              <a:spcAft>
                <a:spcPts val="800"/>
              </a:spcAft>
              <a:defRPr sz="1800">
                <a:solidFill>
                  <a:srgbClr val="F7F3EA"/>
                </a:solidFill>
                <a:latin typeface="Aptos"/>
              </a:defRPr>
            </a:pPr>
            <a:r>
              <a:t>NetworkX</a:t>
            </a:r>
          </a:p>
          <a:p>
            <a:pPr>
              <a:spcAft>
                <a:spcPts val="800"/>
              </a:spcAft>
              <a:defRPr sz="1800">
                <a:solidFill>
                  <a:srgbClr val="F7F3EA"/>
                </a:solidFill>
                <a:latin typeface="Aptos"/>
              </a:defRPr>
            </a:pPr>
            <a:r>
              <a:t>Flot maximal</a:t>
            </a:r>
          </a:p>
          <a:p>
            <a:pPr>
              <a:spcAft>
                <a:spcPts val="800"/>
              </a:spcAft>
              <a:defRPr sz="1800">
                <a:solidFill>
                  <a:srgbClr val="F7F3EA"/>
                </a:solidFill>
                <a:latin typeface="Aptos"/>
              </a:defRPr>
            </a:pPr>
            <a:r>
              <a:t>Graphe temporel</a:t>
            </a:r>
          </a:p>
          <a:p>
            <a:pPr>
              <a:spcAft>
                <a:spcPts val="800"/>
              </a:spcAft>
              <a:defRPr sz="1800">
                <a:solidFill>
                  <a:srgbClr val="F7F3EA"/>
                </a:solidFill>
                <a:latin typeface="Aptos"/>
              </a:defRPr>
            </a:pPr>
            <a:r>
              <a:t>Visualisation</a:t>
            </a:r>
          </a:p>
          <a:p>
            <a:pPr>
              <a:spcAft>
                <a:spcPts val="800"/>
              </a:spcAft>
              <a:defRPr sz="1800" b="1">
                <a:solidFill>
                  <a:srgbClr val="E6CD85"/>
                </a:solidFill>
                <a:latin typeface="Aptos"/>
              </a:defRPr>
            </a:pPr>
            <a:r>
              <a:t>Objectif : faire arriver la dernière fourmi le plus tôt possible.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6336792"/>
            <a:ext cx="393192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>
                <a:solidFill>
                  <a:srgbClr val="B6C4C7"/>
                </a:solidFill>
                <a:latin typeface="Aptos"/>
              </a:rPr>
              <a:t>UNE VIE DE FOURMI • Romain • Lisa • Yannis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318504"/>
            <a:ext cx="4114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1">
                <a:solidFill>
                  <a:srgbClr val="B6C4C7"/>
                </a:solidFill>
                <a:latin typeface="Aptos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091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75488"/>
            <a:ext cx="987552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700" b="1">
                <a:solidFill>
                  <a:srgbClr val="F7F3EA"/>
                </a:solidFill>
                <a:latin typeface="Aptos"/>
              </a:rPr>
              <a:t>Le problème en une image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69880" y="502920"/>
            <a:ext cx="1097280" cy="384048"/>
          </a:xfrm>
          <a:prstGeom prst="roundRect">
            <a:avLst/>
          </a:prstGeom>
          <a:solidFill>
            <a:srgbClr val="7091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06456" y="539496"/>
            <a:ext cx="1024128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Romain**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325880"/>
            <a:ext cx="10927080" cy="4800600"/>
          </a:xfrm>
          <a:prstGeom prst="roundRect">
            <a:avLst/>
          </a:prstGeom>
          <a:solidFill>
            <a:srgbClr val="152F3B"/>
          </a:solidFill>
          <a:ln>
            <a:solidFill>
              <a:srgbClr val="3E57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27632"/>
            <a:ext cx="10222992" cy="41879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7F3EA"/>
                </a:solidFill>
                <a:latin typeface="Aptos"/>
              </a:defRPr>
            </a:pPr>
            <a:r>
              <a:t>Ce n'est pas un problème de chemin : c'est un problème de trafic.</a:t>
            </a:r>
          </a:p>
          <a:p>
            <a:pPr>
              <a:spcAft>
                <a:spcPts val="800"/>
              </a:spcAft>
              <a:defRPr sz="1800" b="1">
                <a:solidFill>
                  <a:srgbClr val="E6CD85"/>
                </a:solidFill>
                <a:latin typeface="Aptos"/>
              </a:defRPr>
            </a:pPr>
            <a:r>
              <a:t>Analogie réseau de métro :</a:t>
            </a:r>
          </a:p>
          <a:p>
            <a:pPr>
              <a:spcAft>
                <a:spcPts val="800"/>
              </a:spcAft>
              <a:defRPr sz="1800">
                <a:solidFill>
                  <a:srgbClr val="F7F3EA"/>
                </a:solidFill>
                <a:latin typeface="Aptos"/>
              </a:defRPr>
            </a:pPr>
            <a:r>
              <a:t>Salles → stations</a:t>
            </a:r>
          </a:p>
          <a:p>
            <a:pPr>
              <a:spcAft>
                <a:spcPts val="800"/>
              </a:spcAft>
              <a:defRPr sz="1800">
                <a:solidFill>
                  <a:srgbClr val="F7F3EA"/>
                </a:solidFill>
                <a:latin typeface="Aptos"/>
              </a:defRPr>
            </a:pPr>
            <a:r>
              <a:t>Tunnels → lignes</a:t>
            </a:r>
          </a:p>
          <a:p>
            <a:pPr>
              <a:spcAft>
                <a:spcPts val="800"/>
              </a:spcAft>
              <a:defRPr sz="1800">
                <a:solidFill>
                  <a:srgbClr val="F7F3EA"/>
                </a:solidFill>
                <a:latin typeface="Aptos"/>
              </a:defRPr>
            </a:pPr>
            <a:r>
              <a:t>Fourmis → passagers</a:t>
            </a:r>
          </a:p>
          <a:p>
            <a:pPr>
              <a:spcAft>
                <a:spcPts val="800"/>
              </a:spcAft>
              <a:defRPr sz="1800">
                <a:solidFill>
                  <a:srgbClr val="F7F3EA"/>
                </a:solidFill>
                <a:latin typeface="Aptos"/>
              </a:defRPr>
            </a:pPr>
            <a:r>
              <a:t>Capacités → quais limités</a:t>
            </a:r>
          </a:p>
          <a:p>
            <a:pPr>
              <a:spcAft>
                <a:spcPts val="800"/>
              </a:spcAft>
              <a:defRPr sz="1800" b="1">
                <a:solidFill>
                  <a:srgbClr val="E6CD85"/>
                </a:solidFill>
                <a:latin typeface="Aptos"/>
              </a:defRPr>
            </a:pPr>
            <a:r>
              <a:t>Question centrale : comment faire arriver la dernière fourmi le plus tôt possible 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6336792"/>
            <a:ext cx="393192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>
                <a:solidFill>
                  <a:srgbClr val="B6C4C7"/>
                </a:solidFill>
                <a:latin typeface="Aptos"/>
              </a:rPr>
              <a:t>UNE VIE DE FOURMI • Romain • Lisa • Yannis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318504"/>
            <a:ext cx="4114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1">
                <a:solidFill>
                  <a:srgbClr val="B6C4C7"/>
                </a:solidFill>
                <a:latin typeface="Apto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091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75488"/>
            <a:ext cx="987552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700" b="1">
                <a:solidFill>
                  <a:srgbClr val="F7F3EA"/>
                </a:solidFill>
                <a:latin typeface="Aptos"/>
              </a:rPr>
              <a:t>Les règles à respecter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69880" y="502920"/>
            <a:ext cx="1097280" cy="384048"/>
          </a:xfrm>
          <a:prstGeom prst="roundRect">
            <a:avLst/>
          </a:prstGeom>
          <a:solidFill>
            <a:srgbClr val="7091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06456" y="539496"/>
            <a:ext cx="1024128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Romain**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325880"/>
            <a:ext cx="10927080" cy="4800600"/>
          </a:xfrm>
          <a:prstGeom prst="roundRect">
            <a:avLst/>
          </a:prstGeom>
          <a:solidFill>
            <a:srgbClr val="152F3B"/>
          </a:solidFill>
          <a:ln>
            <a:solidFill>
              <a:srgbClr val="3E57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27632"/>
            <a:ext cx="10222992" cy="41879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7F3EA"/>
                </a:solidFill>
                <a:latin typeface="Aptos"/>
              </a:defRPr>
            </a:pPr>
            <a:r>
              <a:t>1. Toutes les fourmis partent de Sv et terminent dans Sd.</a:t>
            </a:r>
          </a:p>
          <a:p>
            <a:pPr>
              <a:spcAft>
                <a:spcPts val="800"/>
              </a:spcAft>
              <a:defRPr sz="1800">
                <a:solidFill>
                  <a:srgbClr val="F7F3EA"/>
                </a:solidFill>
                <a:latin typeface="Aptos"/>
              </a:defRPr>
            </a:pPr>
            <a:r>
              <a:t>2. À chaque étape : attendre OU aller dans une salle adjacente.</a:t>
            </a:r>
          </a:p>
          <a:p>
            <a:pPr>
              <a:spcAft>
                <a:spcPts val="800"/>
              </a:spcAft>
              <a:defRPr sz="1800">
                <a:solidFill>
                  <a:srgbClr val="F7F3EA"/>
                </a:solidFill>
                <a:latin typeface="Aptos"/>
              </a:defRPr>
            </a:pPr>
            <a:r>
              <a:t>3. Capacité 1 par défaut dans les salles intermédiaires, sauf SN{X}.</a:t>
            </a:r>
          </a:p>
          <a:p>
            <a:pPr>
              <a:spcAft>
                <a:spcPts val="800"/>
              </a:spcAft>
              <a:defRPr sz="1800">
                <a:solidFill>
                  <a:srgbClr val="F7F3EA"/>
                </a:solidFill>
                <a:latin typeface="Aptos"/>
              </a:defRPr>
            </a:pPr>
            <a:r>
              <a:t>4. Sv et Sd ne sont pas limitants.</a:t>
            </a:r>
          </a:p>
          <a:p>
            <a:pPr>
              <a:spcAft>
                <a:spcPts val="800"/>
              </a:spcAft>
              <a:defRPr sz="1800">
                <a:solidFill>
                  <a:srgbClr val="F7F3EA"/>
                </a:solidFill>
                <a:latin typeface="Aptos"/>
              </a:defRPr>
            </a:pPr>
            <a:r>
              <a:t>5. Les mouvements d'une même étape sont simultanés.</a:t>
            </a:r>
          </a:p>
          <a:p>
            <a:pPr>
              <a:spcAft>
                <a:spcPts val="800"/>
              </a:spcAft>
              <a:defRPr sz="1800">
                <a:solidFill>
                  <a:srgbClr val="F7F3EA"/>
                </a:solidFill>
                <a:latin typeface="Aptos"/>
              </a:defRPr>
            </a:pPr>
            <a:r>
              <a:t>6. On minimise le nombre total d'étapes jusqu'à la dernière arrivée.</a:t>
            </a:r>
          </a:p>
          <a:p>
            <a:pPr>
              <a:spcAft>
                <a:spcPts val="800"/>
              </a:spcAft>
              <a:defRPr sz="1800">
                <a:solidFill>
                  <a:srgbClr val="F7F3EA"/>
                </a:solidFill>
                <a:latin typeface="Aptos"/>
              </a:defRPr>
            </a:pPr>
            <a:r>
              <a:t>Point clé : une fourmi peut entrer pendant que l'occupante sort.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6336792"/>
            <a:ext cx="393192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>
                <a:solidFill>
                  <a:srgbClr val="B6C4C7"/>
                </a:solidFill>
                <a:latin typeface="Aptos"/>
              </a:rPr>
              <a:t>UNE VIE DE FOURMI • Romain • Lisa • Yannis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318504"/>
            <a:ext cx="4114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1">
                <a:solidFill>
                  <a:srgbClr val="B6C4C7"/>
                </a:solidFill>
                <a:latin typeface="Apto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091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75488"/>
            <a:ext cx="987552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700" b="1">
                <a:solidFill>
                  <a:srgbClr val="F7F3EA"/>
                </a:solidFill>
                <a:latin typeface="Aptos"/>
              </a:rPr>
              <a:t>Modéliser la fourmilière en graphe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69880" y="502920"/>
            <a:ext cx="1097280" cy="384048"/>
          </a:xfrm>
          <a:prstGeom prst="roundRect">
            <a:avLst/>
          </a:prstGeom>
          <a:solidFill>
            <a:srgbClr val="7091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06456" y="539496"/>
            <a:ext cx="1024128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Romain**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325880"/>
            <a:ext cx="10927080" cy="4800600"/>
          </a:xfrm>
          <a:prstGeom prst="roundRect">
            <a:avLst/>
          </a:prstGeom>
          <a:solidFill>
            <a:srgbClr val="152F3B"/>
          </a:solidFill>
          <a:ln>
            <a:solidFill>
              <a:srgbClr val="3E57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27632"/>
            <a:ext cx="10222992" cy="41879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7F3EA"/>
                </a:solidFill>
                <a:latin typeface="Aptos"/>
              </a:defRPr>
            </a:pPr>
            <a:r>
              <a:t>Salle → sommet</a:t>
            </a:r>
          </a:p>
          <a:p>
            <a:pPr>
              <a:spcAft>
                <a:spcPts val="800"/>
              </a:spcAft>
              <a:defRPr sz="1800">
                <a:solidFill>
                  <a:srgbClr val="F7F3EA"/>
                </a:solidFill>
                <a:latin typeface="Aptos"/>
              </a:defRPr>
            </a:pPr>
            <a:r>
              <a:t>Tunnel → arête</a:t>
            </a:r>
          </a:p>
          <a:p>
            <a:pPr>
              <a:spcAft>
                <a:spcPts val="800"/>
              </a:spcAft>
              <a:defRPr sz="1800">
                <a:solidFill>
                  <a:srgbClr val="F7F3EA"/>
                </a:solidFill>
                <a:latin typeface="Aptos"/>
              </a:defRPr>
            </a:pPr>
            <a:r>
              <a:t>Capacité → contrainte</a:t>
            </a:r>
          </a:p>
          <a:p>
            <a:pPr>
              <a:spcAft>
                <a:spcPts val="800"/>
              </a:spcAft>
              <a:defRPr sz="1800">
                <a:solidFill>
                  <a:srgbClr val="F7F3EA"/>
                </a:solidFill>
                <a:latin typeface="Aptos"/>
              </a:defRPr>
            </a:pPr>
            <a:r>
              <a:t>Déplacement → transition</a:t>
            </a:r>
          </a:p>
          <a:p>
            <a:pPr>
              <a:spcAft>
                <a:spcPts val="800"/>
              </a:spcAft>
              <a:defRPr sz="1800" b="1">
                <a:solidFill>
                  <a:srgbClr val="E6CD85"/>
                </a:solidFill>
                <a:latin typeface="Aptos"/>
              </a:defRPr>
            </a:pPr>
            <a:r>
              <a:t>Matrice d'adjacence du cas simple :</a:t>
            </a:r>
          </a:p>
          <a:p>
            <a:pPr>
              <a:spcAft>
                <a:spcPts val="800"/>
              </a:spcAft>
              <a:defRPr sz="1800">
                <a:solidFill>
                  <a:srgbClr val="F7F3EA"/>
                </a:solidFill>
                <a:latin typeface="Aptos"/>
              </a:defRPr>
            </a:pPr>
            <a:r>
              <a:t>NetworkX nous donne la structure du graphe ; notre travail ajoute le temps, les capacités et la recherche d'optimalité.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6336792"/>
            <a:ext cx="393192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>
                <a:solidFill>
                  <a:srgbClr val="B6C4C7"/>
                </a:solidFill>
                <a:latin typeface="Aptos"/>
              </a:rPr>
              <a:t>UNE VIE DE FOURMI • Romain • Lisa • Yannis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318504"/>
            <a:ext cx="4114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1">
                <a:solidFill>
                  <a:srgbClr val="B6C4C7"/>
                </a:solidFill>
                <a:latin typeface="Apto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091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75488"/>
            <a:ext cx="987552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700" b="1">
                <a:solidFill>
                  <a:srgbClr val="F7F3EA"/>
                </a:solidFill>
                <a:latin typeface="Aptos"/>
              </a:rPr>
              <a:t>Pourquoi le plus court chemin ne suffit pas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69880" y="502920"/>
            <a:ext cx="1097280" cy="384048"/>
          </a:xfrm>
          <a:prstGeom prst="roundRect">
            <a:avLst/>
          </a:prstGeom>
          <a:solidFill>
            <a:srgbClr val="7091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06456" y="539496"/>
            <a:ext cx="1024128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Lisa**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325880"/>
            <a:ext cx="10927080" cy="4800600"/>
          </a:xfrm>
          <a:prstGeom prst="roundRect">
            <a:avLst/>
          </a:prstGeom>
          <a:solidFill>
            <a:srgbClr val="152F3B"/>
          </a:solidFill>
          <a:ln>
            <a:solidFill>
              <a:srgbClr val="3E57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27632"/>
            <a:ext cx="10222992" cy="41879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7F3EA"/>
                </a:solidFill>
                <a:latin typeface="Aptos"/>
              </a:defRPr>
            </a:pPr>
            <a:r>
              <a:t>Optimiser une fourmi ≠ optimiser toute la colonie.</a:t>
            </a:r>
          </a:p>
          <a:p>
            <a:pPr>
              <a:spcAft>
                <a:spcPts val="800"/>
              </a:spcAft>
              <a:defRPr sz="1800">
                <a:solidFill>
                  <a:srgbClr val="F7F3EA"/>
                </a:solidFill>
                <a:latin typeface="Aptos"/>
              </a:defRPr>
            </a:pPr>
            <a:r>
              <a:t>Un chemin très court mais de capacité 1 crée une file d'attente.</a:t>
            </a:r>
          </a:p>
          <a:p>
            <a:pPr>
              <a:spcAft>
                <a:spcPts val="800"/>
              </a:spcAft>
              <a:defRPr sz="1800">
                <a:solidFill>
                  <a:srgbClr val="F7F3EA"/>
                </a:solidFill>
                <a:latin typeface="Aptos"/>
              </a:defRPr>
            </a:pPr>
            <a:r>
              <a:t>Plusieurs chemins en parallèle peuvent réduire le temps total.</a:t>
            </a:r>
          </a:p>
          <a:p>
            <a:pPr>
              <a:spcAft>
                <a:spcPts val="800"/>
              </a:spcAft>
              <a:defRPr sz="1800">
                <a:solidFill>
                  <a:srgbClr val="F7F3EA"/>
                </a:solidFill>
                <a:latin typeface="Aptos"/>
              </a:defRPr>
            </a:pPr>
            <a:r>
              <a:t>La métrique pertinente est le temps d'arrivée de la dernière fourmi.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6336792"/>
            <a:ext cx="393192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>
                <a:solidFill>
                  <a:srgbClr val="B6C4C7"/>
                </a:solidFill>
                <a:latin typeface="Aptos"/>
              </a:rPr>
              <a:t>UNE VIE DE FOURMI • Romain • Lisa • Yannis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318504"/>
            <a:ext cx="4114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1">
                <a:solidFill>
                  <a:srgbClr val="B6C4C7"/>
                </a:solidFill>
                <a:latin typeface="Apto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091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75488"/>
            <a:ext cx="987552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700" b="1">
                <a:solidFill>
                  <a:srgbClr val="F7F3EA"/>
                </a:solidFill>
                <a:latin typeface="Aptos"/>
              </a:rPr>
              <a:t>Notre idée : déplier le temps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69880" y="502920"/>
            <a:ext cx="1097280" cy="384048"/>
          </a:xfrm>
          <a:prstGeom prst="roundRect">
            <a:avLst/>
          </a:prstGeom>
          <a:solidFill>
            <a:srgbClr val="7091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06456" y="539496"/>
            <a:ext cx="1024128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Lisa**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325880"/>
            <a:ext cx="10927080" cy="4800600"/>
          </a:xfrm>
          <a:prstGeom prst="roundRect">
            <a:avLst/>
          </a:prstGeom>
          <a:solidFill>
            <a:srgbClr val="152F3B"/>
          </a:solidFill>
          <a:ln>
            <a:solidFill>
              <a:srgbClr val="3E57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27632"/>
            <a:ext cx="10222992" cy="41879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7F3EA"/>
                </a:solidFill>
                <a:latin typeface="Aptos"/>
              </a:defRPr>
            </a:pPr>
            <a:r>
              <a:t>Transformer un problème dynamique en réseau de flot.</a:t>
            </a:r>
          </a:p>
          <a:p>
            <a:pPr>
              <a:spcAft>
                <a:spcPts val="800"/>
              </a:spcAft>
              <a:defRPr sz="1800">
                <a:solidFill>
                  <a:srgbClr val="F7F3EA"/>
                </a:solidFill>
                <a:latin typeface="Aptos"/>
              </a:defRPr>
            </a:pPr>
            <a:r>
              <a:t>Pour chaque instant t = 0 ... T, on crée une copie de chaque salle.</a:t>
            </a:r>
          </a:p>
          <a:p>
            <a:pPr>
              <a:spcAft>
                <a:spcPts val="800"/>
              </a:spcAft>
              <a:defRPr sz="1800">
                <a:solidFill>
                  <a:srgbClr val="F7F3EA"/>
                </a:solidFill>
                <a:latin typeface="Aptos"/>
              </a:defRPr>
            </a:pPr>
            <a:r>
              <a:t>salle(t) → voisine(t+1) = déplacement</a:t>
            </a:r>
          </a:p>
          <a:p>
            <a:pPr>
              <a:spcAft>
                <a:spcPts val="800"/>
              </a:spcAft>
              <a:defRPr sz="1800">
                <a:solidFill>
                  <a:srgbClr val="F7F3EA"/>
                </a:solidFill>
                <a:latin typeface="Aptos"/>
              </a:defRPr>
            </a:pPr>
            <a:r>
              <a:t>salle(t) → salle(t+1) = attente</a:t>
            </a:r>
          </a:p>
          <a:p>
            <a:pPr>
              <a:spcAft>
                <a:spcPts val="800"/>
              </a:spcAft>
              <a:defRPr sz="1800">
                <a:solidFill>
                  <a:srgbClr val="F7F3EA"/>
                </a:solidFill>
                <a:latin typeface="Aptos"/>
              </a:defRPr>
            </a:pPr>
            <a:r>
              <a:t>salle in → out avec capacité X = capacité de la salle</a:t>
            </a:r>
          </a:p>
          <a:p>
            <a:pPr>
              <a:spcAft>
                <a:spcPts val="800"/>
              </a:spcAft>
              <a:defRPr sz="1800">
                <a:solidFill>
                  <a:srgbClr val="F7F3EA"/>
                </a:solidFill>
                <a:latin typeface="Aptos"/>
              </a:defRPr>
            </a:pPr>
            <a:r>
              <a:t>Chaque chemin dans ce graphe représente une trajectoire possible dans le temps.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6336792"/>
            <a:ext cx="393192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>
                <a:solidFill>
                  <a:srgbClr val="B6C4C7"/>
                </a:solidFill>
                <a:latin typeface="Aptos"/>
              </a:rPr>
              <a:t>UNE VIE DE FOURMI • Romain • Lisa • Yannis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318504"/>
            <a:ext cx="4114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1">
                <a:solidFill>
                  <a:srgbClr val="B6C4C7"/>
                </a:solidFill>
                <a:latin typeface="Apto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091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75488"/>
            <a:ext cx="987552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700" b="1">
                <a:solidFill>
                  <a:srgbClr val="F7F3EA"/>
                </a:solidFill>
                <a:latin typeface="Aptos"/>
              </a:rPr>
              <a:t>Comment garantir le nombre minimum d'étapes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69880" y="502920"/>
            <a:ext cx="1097280" cy="384048"/>
          </a:xfrm>
          <a:prstGeom prst="roundRect">
            <a:avLst/>
          </a:prstGeom>
          <a:solidFill>
            <a:srgbClr val="7091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06456" y="539496"/>
            <a:ext cx="1024128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Lisa**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325880"/>
            <a:ext cx="10927080" cy="4800600"/>
          </a:xfrm>
          <a:prstGeom prst="roundRect">
            <a:avLst/>
          </a:prstGeom>
          <a:solidFill>
            <a:srgbClr val="152F3B"/>
          </a:solidFill>
          <a:ln>
            <a:solidFill>
              <a:srgbClr val="3E57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27632"/>
            <a:ext cx="10222992" cy="41879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7F3EA"/>
                </a:solidFill>
                <a:latin typeface="Aptos"/>
              </a:defRPr>
            </a:pPr>
            <a:r>
              <a:t>1. Calculer d, longueur du plus court chemin Sv → Sd.</a:t>
            </a:r>
          </a:p>
          <a:p>
            <a:pPr>
              <a:spcAft>
                <a:spcPts val="800"/>
              </a:spcAft>
              <a:defRPr sz="1800">
                <a:solidFill>
                  <a:srgbClr val="F7F3EA"/>
                </a:solidFill>
                <a:latin typeface="Aptos"/>
              </a:defRPr>
            </a:pPr>
            <a:r>
              <a:t>2. Tester T = d en construisant le graphe temporel.</a:t>
            </a:r>
          </a:p>
          <a:p>
            <a:pPr>
              <a:spcAft>
                <a:spcPts val="800"/>
              </a:spcAft>
              <a:defRPr sz="1800">
                <a:solidFill>
                  <a:srgbClr val="F7F3EA"/>
                </a:solidFill>
                <a:latin typeface="Aptos"/>
              </a:defRPr>
            </a:pPr>
            <a:r>
              <a:t>3. Calculer le max-flow : atteint-il F ?</a:t>
            </a:r>
          </a:p>
          <a:p>
            <a:pPr>
              <a:spcAft>
                <a:spcPts val="800"/>
              </a:spcAft>
              <a:defRPr sz="1800">
                <a:solidFill>
                  <a:srgbClr val="F7F3EA"/>
                </a:solidFill>
                <a:latin typeface="Aptos"/>
              </a:defRPr>
            </a:pPr>
            <a:r>
              <a:t>4. Sinon tester T + 1.</a:t>
            </a:r>
          </a:p>
          <a:p>
            <a:pPr>
              <a:spcAft>
                <a:spcPts val="800"/>
              </a:spcAft>
              <a:defRPr sz="1800" b="1">
                <a:solidFill>
                  <a:srgbClr val="E6CD85"/>
                </a:solidFill>
                <a:latin typeface="Aptos"/>
              </a:defRPr>
            </a:pPr>
            <a:r>
              <a:t>Premier T faisable = minimum garanti.</a:t>
            </a:r>
          </a:p>
          <a:p>
            <a:pPr>
              <a:spcAft>
                <a:spcPts val="800"/>
              </a:spcAft>
              <a:defRPr sz="1800">
                <a:solidFill>
                  <a:srgbClr val="F7F3EA"/>
                </a:solidFill>
                <a:latin typeface="Aptos"/>
              </a:defRPr>
            </a:pPr>
            <a:r>
              <a:t>Aucune solution ne peut exister pour les horizons plus petits déjà testés.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6336792"/>
            <a:ext cx="393192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>
                <a:solidFill>
                  <a:srgbClr val="B6C4C7"/>
                </a:solidFill>
                <a:latin typeface="Aptos"/>
              </a:rPr>
              <a:t>UNE VIE DE FOURMI • Romain • Lisa • Yannis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318504"/>
            <a:ext cx="4114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1">
                <a:solidFill>
                  <a:srgbClr val="B6C4C7"/>
                </a:solidFill>
                <a:latin typeface="Apto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091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75488"/>
            <a:ext cx="987552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700" b="1">
                <a:solidFill>
                  <a:srgbClr val="F7F3EA"/>
                </a:solidFill>
                <a:latin typeface="Aptos"/>
              </a:rPr>
              <a:t>Une solution optimale… et lisible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69880" y="502920"/>
            <a:ext cx="1097280" cy="384048"/>
          </a:xfrm>
          <a:prstGeom prst="roundRect">
            <a:avLst/>
          </a:prstGeom>
          <a:solidFill>
            <a:srgbClr val="7091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06456" y="539496"/>
            <a:ext cx="1024128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Lisa**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325880"/>
            <a:ext cx="10927080" cy="4800600"/>
          </a:xfrm>
          <a:prstGeom prst="roundRect">
            <a:avLst/>
          </a:prstGeom>
          <a:solidFill>
            <a:srgbClr val="152F3B"/>
          </a:solidFill>
          <a:ln>
            <a:solidFill>
              <a:srgbClr val="3E57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27632"/>
            <a:ext cx="10222992" cy="41879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F7F3EA"/>
                </a:solidFill>
                <a:latin typeface="Aptos"/>
              </a:defRPr>
            </a:pPr>
            <a:r>
              <a:t>Max-flow : répond à la question « existe-t-il une organisation qui fait arriver F fourmis en T étapes ? »</a:t>
            </a:r>
          </a:p>
          <a:p>
            <a:pPr>
              <a:spcAft>
                <a:spcPts val="800"/>
              </a:spcAft>
              <a:defRPr sz="1500" b="1">
                <a:solidFill>
                  <a:srgbClr val="E6CD85"/>
                </a:solidFill>
                <a:latin typeface="Aptos"/>
              </a:defRPr>
            </a:pPr>
            <a:r>
              <a:t>Il garantit :</a:t>
            </a:r>
          </a:p>
          <a:p>
            <a:pPr>
              <a:spcAft>
                <a:spcPts val="800"/>
              </a:spcAft>
              <a:defRPr sz="1500">
                <a:solidFill>
                  <a:srgbClr val="F7F3EA"/>
                </a:solidFill>
                <a:latin typeface="Aptos"/>
              </a:defRPr>
            </a:pPr>
            <a:r>
              <a:t>la faisabilité ;</a:t>
            </a:r>
          </a:p>
          <a:p>
            <a:pPr>
              <a:spcAft>
                <a:spcPts val="800"/>
              </a:spcAft>
              <a:defRPr sz="1500">
                <a:solidFill>
                  <a:srgbClr val="F7F3EA"/>
                </a:solidFill>
                <a:latin typeface="Aptos"/>
              </a:defRPr>
            </a:pPr>
            <a:r>
              <a:t>le respect des capacités ;</a:t>
            </a:r>
          </a:p>
          <a:p>
            <a:pPr>
              <a:spcAft>
                <a:spcPts val="800"/>
              </a:spcAft>
              <a:defRPr sz="1500">
                <a:solidFill>
                  <a:srgbClr val="F7F3EA"/>
                </a:solidFill>
                <a:latin typeface="Aptos"/>
              </a:defRPr>
            </a:pPr>
            <a:r>
              <a:t>l'optimalité de T grâce à la recherche croissante.</a:t>
            </a:r>
          </a:p>
          <a:p>
            <a:pPr>
              <a:spcAft>
                <a:spcPts val="800"/>
              </a:spcAft>
              <a:defRPr sz="1500" b="1">
                <a:solidFill>
                  <a:srgbClr val="E6CD85"/>
                </a:solidFill>
                <a:latin typeface="Aptos"/>
              </a:defRPr>
            </a:pPr>
            <a:r>
              <a:t>Min-cost-flow : à horizon déjà optimal, privilégie :</a:t>
            </a:r>
          </a:p>
          <a:p>
            <a:pPr>
              <a:spcAft>
                <a:spcPts val="800"/>
              </a:spcAft>
              <a:defRPr sz="1500">
                <a:solidFill>
                  <a:srgbClr val="F7F3EA"/>
                </a:solidFill>
                <a:latin typeface="Aptos"/>
              </a:defRPr>
            </a:pPr>
            <a:r>
              <a:t>les arrivées précoces ;</a:t>
            </a:r>
          </a:p>
          <a:p>
            <a:pPr>
              <a:spcAft>
                <a:spcPts val="800"/>
              </a:spcAft>
              <a:defRPr sz="1500">
                <a:solidFill>
                  <a:srgbClr val="F7F3EA"/>
                </a:solidFill>
                <a:latin typeface="Aptos"/>
              </a:defRPr>
            </a:pPr>
            <a:r>
              <a:t>moins d'attentes ;</a:t>
            </a:r>
          </a:p>
          <a:p>
            <a:pPr>
              <a:spcAft>
                <a:spcPts val="800"/>
              </a:spcAft>
              <a:defRPr sz="1500">
                <a:solidFill>
                  <a:srgbClr val="F7F3EA"/>
                </a:solidFill>
                <a:latin typeface="Aptos"/>
              </a:defRPr>
            </a:pPr>
            <a:r>
              <a:t>moins de détours inutiles.</a:t>
            </a:r>
          </a:p>
          <a:p>
            <a:pPr>
              <a:spcAft>
                <a:spcPts val="800"/>
              </a:spcAft>
              <a:defRPr sz="1500">
                <a:solidFill>
                  <a:srgbClr val="F7F3EA"/>
                </a:solidFill>
                <a:latin typeface="Aptos"/>
              </a:defRPr>
            </a:pPr>
            <a:r>
              <a:t>Puis le flot est décomposé en f1, f2, f3, etc.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6336792"/>
            <a:ext cx="393192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>
                <a:solidFill>
                  <a:srgbClr val="B6C4C7"/>
                </a:solidFill>
                <a:latin typeface="Aptos"/>
              </a:rPr>
              <a:t>UNE VIE DE FOURMI • Romain • Lisa • Yannis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318504"/>
            <a:ext cx="4114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1">
                <a:solidFill>
                  <a:srgbClr val="B6C4C7"/>
                </a:solidFill>
                <a:latin typeface="Apto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091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75488"/>
            <a:ext cx="987552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700" b="1">
                <a:solidFill>
                  <a:srgbClr val="F7F3EA"/>
                </a:solidFill>
                <a:latin typeface="Aptos"/>
              </a:rPr>
              <a:t>Architecture du projet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69880" y="502920"/>
            <a:ext cx="1097280" cy="384048"/>
          </a:xfrm>
          <a:prstGeom prst="roundRect">
            <a:avLst/>
          </a:prstGeom>
          <a:solidFill>
            <a:srgbClr val="7091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06456" y="539496"/>
            <a:ext cx="1024128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Yannis**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325880"/>
            <a:ext cx="10927080" cy="4800600"/>
          </a:xfrm>
          <a:prstGeom prst="roundRect">
            <a:avLst/>
          </a:prstGeom>
          <a:solidFill>
            <a:srgbClr val="152F3B"/>
          </a:solidFill>
          <a:ln>
            <a:solidFill>
              <a:srgbClr val="3E57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27632"/>
            <a:ext cx="10222992" cy="41879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F7F3EA"/>
                </a:solidFill>
                <a:latin typeface="Aptos"/>
              </a:defRPr>
            </a:pPr>
            <a:r>
              <a:t>ants.py — cœur</a:t>
            </a:r>
          </a:p>
          <a:p>
            <a:pPr>
              <a:spcAft>
                <a:spcPts val="800"/>
              </a:spcAft>
              <a:defRPr sz="1500">
                <a:solidFill>
                  <a:srgbClr val="F7F3EA"/>
                </a:solidFill>
                <a:latin typeface="Aptos"/>
              </a:defRPr>
            </a:pPr>
            <a:r>
              <a:t>modèle ;</a:t>
            </a:r>
          </a:p>
          <a:p>
            <a:pPr>
              <a:spcAft>
                <a:spcPts val="800"/>
              </a:spcAft>
              <a:defRPr sz="1500">
                <a:solidFill>
                  <a:srgbClr val="F7F3EA"/>
                </a:solidFill>
                <a:latin typeface="Aptos"/>
              </a:defRPr>
            </a:pPr>
            <a:r>
              <a:t>parsing ;</a:t>
            </a:r>
          </a:p>
          <a:p>
            <a:pPr>
              <a:spcAft>
                <a:spcPts val="800"/>
              </a:spcAft>
              <a:defRPr sz="1500">
                <a:solidFill>
                  <a:srgbClr val="F7F3EA"/>
                </a:solidFill>
                <a:latin typeface="Aptos"/>
              </a:defRPr>
            </a:pPr>
            <a:r>
              <a:t>graphe temporel ;</a:t>
            </a:r>
          </a:p>
          <a:p>
            <a:pPr>
              <a:spcAft>
                <a:spcPts val="800"/>
              </a:spcAft>
              <a:defRPr sz="1500">
                <a:solidFill>
                  <a:srgbClr val="F7F3EA"/>
                </a:solidFill>
                <a:latin typeface="Aptos"/>
              </a:defRPr>
            </a:pPr>
            <a:r>
              <a:t>max-flow / min-cost-flow ;</a:t>
            </a:r>
          </a:p>
          <a:p>
            <a:pPr>
              <a:spcAft>
                <a:spcPts val="800"/>
              </a:spcAft>
              <a:defRPr sz="1500">
                <a:solidFill>
                  <a:srgbClr val="F7F3EA"/>
                </a:solidFill>
                <a:latin typeface="Aptos"/>
              </a:defRPr>
            </a:pPr>
            <a:r>
              <a:t>validation finale.</a:t>
            </a:r>
          </a:p>
          <a:p>
            <a:pPr>
              <a:spcAft>
                <a:spcPts val="800"/>
              </a:spcAft>
              <a:defRPr sz="1500">
                <a:solidFill>
                  <a:srgbClr val="F7F3EA"/>
                </a:solidFill>
                <a:latin typeface="Aptos"/>
              </a:defRPr>
            </a:pPr>
            <a:r>
              <a:t>main.py — orchestration</a:t>
            </a:r>
          </a:p>
          <a:p>
            <a:pPr>
              <a:spcAft>
                <a:spcPts val="800"/>
              </a:spcAft>
              <a:defRPr sz="1500">
                <a:solidFill>
                  <a:srgbClr val="F7F3EA"/>
                </a:solidFill>
                <a:latin typeface="Aptos"/>
              </a:defRPr>
            </a:pPr>
            <a:r>
              <a:t>CLI fichier ou dossier ;</a:t>
            </a:r>
          </a:p>
          <a:p>
            <a:pPr>
              <a:spcAft>
                <a:spcPts val="800"/>
              </a:spcAft>
              <a:defRPr sz="1500">
                <a:solidFill>
                  <a:srgbClr val="F7F3EA"/>
                </a:solidFill>
                <a:latin typeface="Aptos"/>
              </a:defRPr>
            </a:pPr>
            <a:r>
              <a:t>lancement ;</a:t>
            </a:r>
          </a:p>
          <a:p>
            <a:pPr>
              <a:spcAft>
                <a:spcPts val="800"/>
              </a:spcAft>
              <a:defRPr sz="1500">
                <a:solidFill>
                  <a:srgbClr val="F7F3EA"/>
                </a:solidFill>
                <a:latin typeface="Aptos"/>
              </a:defRPr>
            </a:pPr>
            <a:r>
              <a:t>création des outputs ;</a:t>
            </a:r>
          </a:p>
          <a:p>
            <a:pPr>
              <a:spcAft>
                <a:spcPts val="800"/>
              </a:spcAft>
              <a:defRPr sz="1500">
                <a:solidFill>
                  <a:srgbClr val="F7F3EA"/>
                </a:solidFill>
                <a:latin typeface="Aptos"/>
              </a:defRPr>
            </a:pPr>
            <a:r>
              <a:t>export.</a:t>
            </a:r>
          </a:p>
          <a:p>
            <a:pPr>
              <a:spcAft>
                <a:spcPts val="800"/>
              </a:spcAft>
              <a:defRPr sz="1500">
                <a:solidFill>
                  <a:srgbClr val="F7F3EA"/>
                </a:solidFill>
                <a:latin typeface="Aptos"/>
              </a:defRPr>
            </a:pPr>
            <a:r>
              <a:t>visualization.py — visuel</a:t>
            </a:r>
          </a:p>
          <a:p>
            <a:pPr>
              <a:spcAft>
                <a:spcPts val="800"/>
              </a:spcAft>
              <a:defRPr sz="1500">
                <a:solidFill>
                  <a:srgbClr val="F7F3EA"/>
                </a:solidFill>
                <a:latin typeface="Aptos"/>
              </a:defRPr>
            </a:pPr>
            <a:r>
              <a:t>graphe ;</a:t>
            </a:r>
          </a:p>
          <a:p>
            <a:pPr>
              <a:spcAft>
                <a:spcPts val="800"/>
              </a:spcAft>
              <a:defRPr sz="1500">
                <a:solidFill>
                  <a:srgbClr val="F7F3EA"/>
                </a:solidFill>
                <a:latin typeface="Aptos"/>
              </a:defRPr>
            </a:pPr>
            <a:r>
              <a:t>images étape par étape ;</a:t>
            </a:r>
          </a:p>
          <a:p>
            <a:pPr>
              <a:spcAft>
                <a:spcPts val="800"/>
              </a:spcAft>
              <a:defRPr sz="1500">
                <a:solidFill>
                  <a:srgbClr val="F7F3EA"/>
                </a:solidFill>
                <a:latin typeface="Aptos"/>
              </a:defRPr>
            </a:pPr>
            <a:r>
              <a:t>animation GIF.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6336792"/>
            <a:ext cx="393192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>
                <a:solidFill>
                  <a:srgbClr val="B6C4C7"/>
                </a:solidFill>
                <a:latin typeface="Aptos"/>
              </a:rPr>
              <a:t>UNE VIE DE FOURMI • Romain • Lisa • Yannis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318504"/>
            <a:ext cx="4114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1">
                <a:solidFill>
                  <a:srgbClr val="B6C4C7"/>
                </a:solidFill>
                <a:latin typeface="Apto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091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75488"/>
            <a:ext cx="987552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700" b="1">
                <a:solidFill>
                  <a:srgbClr val="F7F3EA"/>
                </a:solidFill>
                <a:latin typeface="Aptos"/>
              </a:rPr>
              <a:t>Démonstration : le cas simple du sujet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69880" y="502920"/>
            <a:ext cx="1097280" cy="384048"/>
          </a:xfrm>
          <a:prstGeom prst="roundRect">
            <a:avLst/>
          </a:prstGeom>
          <a:solidFill>
            <a:srgbClr val="7091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06456" y="539496"/>
            <a:ext cx="1024128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Yannis**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325880"/>
            <a:ext cx="10927080" cy="4800600"/>
          </a:xfrm>
          <a:prstGeom prst="roundRect">
            <a:avLst/>
          </a:prstGeom>
          <a:solidFill>
            <a:srgbClr val="152F3B"/>
          </a:solidFill>
          <a:ln>
            <a:solidFill>
              <a:srgbClr val="3E57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27632"/>
            <a:ext cx="10222992" cy="41879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F7F3EA"/>
                </a:solidFill>
                <a:latin typeface="Aptos"/>
              </a:defRPr>
            </a:pPr>
            <a:r>
              <a:t>3 fourmis • 2 chemins • optimum = 3 étapes</a:t>
            </a:r>
          </a:p>
          <a:p>
            <a:pPr>
              <a:spcAft>
                <a:spcPts val="800"/>
              </a:spcAft>
              <a:defRPr sz="1500">
                <a:solidFill>
                  <a:srgbClr val="F7F3EA"/>
                </a:solidFill>
                <a:latin typeface="Aptos"/>
              </a:defRPr>
            </a:pPr>
            <a:r>
              <a:t>E1</a:t>
            </a:r>
          </a:p>
          <a:p>
            <a:pPr>
              <a:spcAft>
                <a:spcPts val="800"/>
              </a:spcAft>
              <a:defRPr sz="1500">
                <a:solidFill>
                  <a:srgbClr val="F7F3EA"/>
                </a:solidFill>
                <a:latin typeface="Aptos"/>
              </a:defRPr>
            </a:pPr>
            <a:r>
              <a:t>f1 : Sv → S1</a:t>
            </a:r>
          </a:p>
          <a:p>
            <a:pPr>
              <a:spcAft>
                <a:spcPts val="800"/>
              </a:spcAft>
              <a:defRPr sz="1500">
                <a:solidFill>
                  <a:srgbClr val="F7F3EA"/>
                </a:solidFill>
                <a:latin typeface="Aptos"/>
              </a:defRPr>
            </a:pPr>
            <a:r>
              <a:t>f2 : Sv → S2</a:t>
            </a:r>
          </a:p>
          <a:p>
            <a:pPr>
              <a:spcAft>
                <a:spcPts val="800"/>
              </a:spcAft>
              <a:defRPr sz="1500">
                <a:solidFill>
                  <a:srgbClr val="F7F3EA"/>
                </a:solidFill>
                <a:latin typeface="Aptos"/>
              </a:defRPr>
            </a:pPr>
            <a:r>
              <a:t>E2</a:t>
            </a:r>
          </a:p>
          <a:p>
            <a:pPr>
              <a:spcAft>
                <a:spcPts val="800"/>
              </a:spcAft>
              <a:defRPr sz="1500">
                <a:solidFill>
                  <a:srgbClr val="F7F3EA"/>
                </a:solidFill>
                <a:latin typeface="Aptos"/>
              </a:defRPr>
            </a:pPr>
            <a:r>
              <a:t>f1 : S1 → Sd</a:t>
            </a:r>
          </a:p>
          <a:p>
            <a:pPr>
              <a:spcAft>
                <a:spcPts val="800"/>
              </a:spcAft>
              <a:defRPr sz="1500">
                <a:solidFill>
                  <a:srgbClr val="F7F3EA"/>
                </a:solidFill>
                <a:latin typeface="Aptos"/>
              </a:defRPr>
            </a:pPr>
            <a:r>
              <a:t>f2 : S2 → Sd</a:t>
            </a:r>
          </a:p>
          <a:p>
            <a:pPr>
              <a:spcAft>
                <a:spcPts val="800"/>
              </a:spcAft>
              <a:defRPr sz="1500">
                <a:solidFill>
                  <a:srgbClr val="F7F3EA"/>
                </a:solidFill>
                <a:latin typeface="Aptos"/>
              </a:defRPr>
            </a:pPr>
            <a:r>
              <a:t>f3 : Sv → S1</a:t>
            </a:r>
          </a:p>
          <a:p>
            <a:pPr>
              <a:spcAft>
                <a:spcPts val="800"/>
              </a:spcAft>
              <a:defRPr sz="1500">
                <a:solidFill>
                  <a:srgbClr val="F7F3EA"/>
                </a:solidFill>
                <a:latin typeface="Aptos"/>
              </a:defRPr>
            </a:pPr>
            <a:r>
              <a:t>E3</a:t>
            </a:r>
          </a:p>
          <a:p>
            <a:pPr>
              <a:spcAft>
                <a:spcPts val="800"/>
              </a:spcAft>
              <a:defRPr sz="1500">
                <a:solidFill>
                  <a:srgbClr val="F7F3EA"/>
                </a:solidFill>
                <a:latin typeface="Aptos"/>
              </a:defRPr>
            </a:pPr>
            <a:r>
              <a:t>f3 : S1 → Sd</a:t>
            </a:r>
          </a:p>
          <a:p>
            <a:pPr>
              <a:spcAft>
                <a:spcPts val="800"/>
              </a:spcAft>
              <a:defRPr sz="1500">
                <a:solidFill>
                  <a:srgbClr val="F7F3EA"/>
                </a:solidFill>
                <a:latin typeface="Aptos"/>
              </a:defRPr>
            </a:pPr>
            <a:r>
              <a:t>E2 illustre la simultanéité : f3 entre dans S1 au même moment où f1 la quitte.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6336792"/>
            <a:ext cx="393192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>
                <a:solidFill>
                  <a:srgbClr val="B6C4C7"/>
                </a:solidFill>
                <a:latin typeface="Aptos"/>
              </a:rPr>
              <a:t>UNE VIE DE FOURMI • Romain • Lisa • Yannis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318504"/>
            <a:ext cx="4114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1">
                <a:solidFill>
                  <a:srgbClr val="B6C4C7"/>
                </a:solidFill>
                <a:latin typeface="Apto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091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75488"/>
            <a:ext cx="987552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700" b="1">
                <a:solidFill>
                  <a:srgbClr val="F7F3EA"/>
                </a:solidFill>
                <a:latin typeface="Aptos"/>
              </a:rPr>
              <a:t>Tests, validation et sorties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69880" y="502920"/>
            <a:ext cx="1097280" cy="384048"/>
          </a:xfrm>
          <a:prstGeom prst="roundRect">
            <a:avLst/>
          </a:prstGeom>
          <a:solidFill>
            <a:srgbClr val="7091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06456" y="539496"/>
            <a:ext cx="1024128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Yannis**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325880"/>
            <a:ext cx="10927080" cy="4800600"/>
          </a:xfrm>
          <a:prstGeom prst="roundRect">
            <a:avLst/>
          </a:prstGeom>
          <a:solidFill>
            <a:srgbClr val="152F3B"/>
          </a:solidFill>
          <a:ln>
            <a:solidFill>
              <a:srgbClr val="3E57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27632"/>
            <a:ext cx="10222992" cy="41879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F7F3EA"/>
                </a:solidFill>
                <a:latin typeface="Aptos"/>
              </a:defRPr>
            </a:pPr>
            <a:r>
              <a:t>6 / 6 tests automatiques OK</a:t>
            </a:r>
          </a:p>
          <a:p>
            <a:pPr>
              <a:spcAft>
                <a:spcPts val="800"/>
              </a:spcAft>
              <a:defRPr sz="1500" b="1">
                <a:solidFill>
                  <a:srgbClr val="E6CD85"/>
                </a:solidFill>
                <a:latin typeface="Aptos"/>
              </a:defRPr>
            </a:pPr>
            <a:r>
              <a:t>Cas vérifiés :</a:t>
            </a:r>
          </a:p>
          <a:p>
            <a:pPr>
              <a:spcAft>
                <a:spcPts val="800"/>
              </a:spcAft>
              <a:defRPr sz="1500">
                <a:solidFill>
                  <a:srgbClr val="F7F3EA"/>
                </a:solidFill>
                <a:latin typeface="Aptos"/>
              </a:defRPr>
            </a:pPr>
            <a:r>
              <a:t>cas simple ;</a:t>
            </a:r>
          </a:p>
          <a:p>
            <a:pPr>
              <a:spcAft>
                <a:spcPts val="800"/>
              </a:spcAft>
              <a:defRPr sz="1500">
                <a:solidFill>
                  <a:srgbClr val="F7F3EA"/>
                </a:solidFill>
                <a:latin typeface="Aptos"/>
              </a:defRPr>
            </a:pPr>
            <a:r>
              <a:t>tunnel direct ;</a:t>
            </a:r>
          </a:p>
          <a:p>
            <a:pPr>
              <a:spcAft>
                <a:spcPts val="800"/>
              </a:spcAft>
              <a:defRPr sz="1500">
                <a:solidFill>
                  <a:srgbClr val="F7F3EA"/>
                </a:solidFill>
                <a:latin typeface="Aptos"/>
              </a:defRPr>
            </a:pPr>
            <a:r>
              <a:t>capacité 1 ;</a:t>
            </a:r>
          </a:p>
          <a:p>
            <a:pPr>
              <a:spcAft>
                <a:spcPts val="800"/>
              </a:spcAft>
              <a:defRPr sz="1500">
                <a:solidFill>
                  <a:srgbClr val="F7F3EA"/>
                </a:solidFill>
                <a:latin typeface="Aptos"/>
              </a:defRPr>
            </a:pPr>
            <a:r>
              <a:t>capacité 2 ;</a:t>
            </a:r>
          </a:p>
          <a:p>
            <a:pPr>
              <a:spcAft>
                <a:spcPts val="800"/>
              </a:spcAft>
              <a:defRPr sz="1500">
                <a:solidFill>
                  <a:srgbClr val="F7F3EA"/>
                </a:solidFill>
                <a:latin typeface="Aptos"/>
              </a:defRPr>
            </a:pPr>
            <a:r>
              <a:t>graphe inaccessible ;</a:t>
            </a:r>
          </a:p>
          <a:p>
            <a:pPr>
              <a:spcAft>
                <a:spcPts val="800"/>
              </a:spcAft>
              <a:defRPr sz="1500">
                <a:solidFill>
                  <a:srgbClr val="F7F3EA"/>
                </a:solidFill>
                <a:latin typeface="Aptos"/>
              </a:defRPr>
            </a:pPr>
            <a:r>
              <a:t>validation complète.</a:t>
            </a:r>
          </a:p>
          <a:p>
            <a:pPr>
              <a:spcAft>
                <a:spcPts val="800"/>
              </a:spcAft>
              <a:defRPr sz="1500" b="1">
                <a:solidFill>
                  <a:srgbClr val="E6CD85"/>
                </a:solidFill>
                <a:latin typeface="Aptos"/>
              </a:defRPr>
            </a:pPr>
            <a:r>
              <a:t>Validation post-solution :</a:t>
            </a:r>
          </a:p>
          <a:p>
            <a:pPr>
              <a:spcAft>
                <a:spcPts val="800"/>
              </a:spcAft>
              <a:defRPr sz="1500">
                <a:solidFill>
                  <a:srgbClr val="F7F3EA"/>
                </a:solidFill>
                <a:latin typeface="Aptos"/>
              </a:defRPr>
            </a:pPr>
            <a:r>
              <a:t>chaque mouvement correspond à une arête ;</a:t>
            </a:r>
          </a:p>
          <a:p>
            <a:pPr>
              <a:spcAft>
                <a:spcPts val="800"/>
              </a:spcAft>
              <a:defRPr sz="1500">
                <a:solidFill>
                  <a:srgbClr val="F7F3EA"/>
                </a:solidFill>
                <a:latin typeface="Aptos"/>
              </a:defRPr>
            </a:pPr>
            <a:r>
              <a:t>les capacités ne sont jamais dépassées ;</a:t>
            </a:r>
          </a:p>
          <a:p>
            <a:pPr>
              <a:spcAft>
                <a:spcPts val="800"/>
              </a:spcAft>
              <a:defRPr sz="1500">
                <a:solidFill>
                  <a:srgbClr val="F7F3EA"/>
                </a:solidFill>
                <a:latin typeface="Aptos"/>
              </a:defRPr>
            </a:pPr>
            <a:r>
              <a:t>toutes les fourmis terminent dans Sd.</a:t>
            </a:r>
          </a:p>
          <a:p>
            <a:pPr>
              <a:spcAft>
                <a:spcPts val="800"/>
              </a:spcAft>
              <a:defRPr sz="1500">
                <a:solidFill>
                  <a:srgbClr val="F7F3EA"/>
                </a:solidFill>
                <a:latin typeface="Aptos"/>
              </a:defRPr>
            </a:pPr>
            <a:r>
              <a:t>Fichiers produits : solution.txt, graphe.png, matrice_adjacence.csv, animation.gif, etapes/etape_XX.png.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6336792"/>
            <a:ext cx="393192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>
                <a:solidFill>
                  <a:srgbClr val="B6C4C7"/>
                </a:solidFill>
                <a:latin typeface="Aptos"/>
              </a:rPr>
              <a:t>UNE VIE DE FOURMI • Romain • Lisa • Yannis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318504"/>
            <a:ext cx="4114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1">
                <a:solidFill>
                  <a:srgbClr val="B6C4C7"/>
                </a:solidFill>
                <a:latin typeface="Apto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091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75488"/>
            <a:ext cx="987552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700" b="1">
                <a:solidFill>
                  <a:srgbClr val="F7F3EA"/>
                </a:solidFill>
                <a:latin typeface="Aptos"/>
              </a:rPr>
              <a:t>Conclusion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69880" y="502920"/>
            <a:ext cx="1097280" cy="384048"/>
          </a:xfrm>
          <a:prstGeom prst="roundRect">
            <a:avLst/>
          </a:prstGeom>
          <a:solidFill>
            <a:srgbClr val="7091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06456" y="539496"/>
            <a:ext cx="1024128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Yannis**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325880"/>
            <a:ext cx="10927080" cy="4800600"/>
          </a:xfrm>
          <a:prstGeom prst="roundRect">
            <a:avLst/>
          </a:prstGeom>
          <a:solidFill>
            <a:srgbClr val="152F3B"/>
          </a:solidFill>
          <a:ln>
            <a:solidFill>
              <a:srgbClr val="3E57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27632"/>
            <a:ext cx="10222992" cy="41879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7F3EA"/>
                </a:solidFill>
                <a:latin typeface="Aptos"/>
              </a:defRPr>
            </a:pPr>
            <a:r>
              <a:t>1. Modélisation fidèle — salles, capacités, attentes et mouvements simultanés sont explicites.</a:t>
            </a:r>
          </a:p>
          <a:p>
            <a:pPr>
              <a:spcAft>
                <a:spcPts val="800"/>
              </a:spcAft>
              <a:defRPr sz="1800">
                <a:solidFill>
                  <a:srgbClr val="F7F3EA"/>
                </a:solidFill>
                <a:latin typeface="Aptos"/>
              </a:defRPr>
            </a:pPr>
            <a:r>
              <a:t>2. Optimalité garantie — le premier horizon T faisable est le nombre minimal d'étapes.</a:t>
            </a:r>
          </a:p>
          <a:p>
            <a:pPr>
              <a:spcAft>
                <a:spcPts val="800"/>
              </a:spcAft>
              <a:defRPr sz="1800">
                <a:solidFill>
                  <a:srgbClr val="F7F3EA"/>
                </a:solidFill>
                <a:latin typeface="Aptos"/>
              </a:defRPr>
            </a:pPr>
            <a:r>
              <a:t>3. Rendu complet — étapes texte, graphe, matrice, images, GIF, tests et documentation.</a:t>
            </a:r>
          </a:p>
          <a:p>
            <a:pPr>
              <a:spcAft>
                <a:spcPts val="800"/>
              </a:spcAft>
              <a:defRPr sz="1800">
                <a:solidFill>
                  <a:srgbClr val="F7F3EA"/>
                </a:solidFill>
                <a:latin typeface="Aptos"/>
              </a:defRPr>
            </a:pPr>
            <a:r>
              <a:t>&gt; Le plus court chemin optimise un trajet. Notre algorithme optimise tout le trafic.</a:t>
            </a:r>
          </a:p>
          <a:p>
            <a:pPr>
              <a:spcAft>
                <a:spcPts val="800"/>
              </a:spcAft>
              <a:defRPr sz="1800" b="1">
                <a:solidFill>
                  <a:srgbClr val="E6CD85"/>
                </a:solidFill>
                <a:latin typeface="Aptos"/>
              </a:defRPr>
            </a:pPr>
            <a:r>
              <a:t>Questions 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6336792"/>
            <a:ext cx="393192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>
                <a:solidFill>
                  <a:srgbClr val="B6C4C7"/>
                </a:solidFill>
                <a:latin typeface="Aptos"/>
              </a:rPr>
              <a:t>UNE VIE DE FOURMI • Romain • Lisa • Yannis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318504"/>
            <a:ext cx="4114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1">
                <a:solidFill>
                  <a:srgbClr val="B6C4C7"/>
                </a:solidFill>
                <a:latin typeface="Apto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091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75488"/>
            <a:ext cx="987552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700" b="1">
                <a:solidFill>
                  <a:srgbClr val="F7F3EA"/>
                </a:solidFill>
                <a:latin typeface="Aptos"/>
              </a:rPr>
              <a:t>Annexe : sources et validation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69880" y="502920"/>
            <a:ext cx="1097280" cy="384048"/>
          </a:xfrm>
          <a:prstGeom prst="roundRect">
            <a:avLst/>
          </a:prstGeom>
          <a:solidFill>
            <a:srgbClr val="7091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06456" y="539496"/>
            <a:ext cx="1024128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Annexe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325880"/>
            <a:ext cx="10927080" cy="4800600"/>
          </a:xfrm>
          <a:prstGeom prst="roundRect">
            <a:avLst/>
          </a:prstGeom>
          <a:solidFill>
            <a:srgbClr val="152F3B"/>
          </a:solidFill>
          <a:ln>
            <a:solidFill>
              <a:srgbClr val="3E57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27632"/>
            <a:ext cx="10222992" cy="41879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7F3EA"/>
                </a:solidFill>
                <a:latin typeface="Aptos"/>
              </a:defRPr>
            </a:pPr>
            <a:r>
              <a:t>Sujet : « Une vie de fourmi » — La Plateforme.</a:t>
            </a:r>
          </a:p>
          <a:p>
            <a:pPr>
              <a:spcAft>
                <a:spcPts val="800"/>
              </a:spcAft>
              <a:defRPr sz="1800">
                <a:solidFill>
                  <a:srgbClr val="F7F3EA"/>
                </a:solidFill>
                <a:latin typeface="Aptos"/>
              </a:defRPr>
            </a:pPr>
            <a:r>
              <a:t>NetworkX : networkx.org/documentation/stable/tutorial.html</a:t>
            </a:r>
          </a:p>
          <a:p>
            <a:pPr>
              <a:spcAft>
                <a:spcPts val="800"/>
              </a:spcAft>
              <a:defRPr sz="1800">
                <a:solidFill>
                  <a:srgbClr val="F7F3EA"/>
                </a:solidFill>
                <a:latin typeface="Aptos"/>
              </a:defRPr>
            </a:pPr>
            <a:r>
              <a:t>Matrice d'adjacence : people.revoledu.com/kardi/tutorial/GraphTheory/Adjacency-Matrix.html</a:t>
            </a:r>
          </a:p>
          <a:p>
            <a:pPr>
              <a:spcAft>
                <a:spcPts val="800"/>
              </a:spcAft>
              <a:defRPr sz="1800">
                <a:solidFill>
                  <a:srgbClr val="F7F3EA"/>
                </a:solidFill>
                <a:latin typeface="Aptos"/>
              </a:defRPr>
            </a:pPr>
            <a:r>
              <a:t>Le sujet demande explicitement : graphe, étapes, visualisation, diaporama et repository public avec ants.py, main.py et README.md.</a:t>
            </a:r>
          </a:p>
          <a:p>
            <a:pPr>
              <a:spcAft>
                <a:spcPts val="800"/>
              </a:spcAft>
              <a:defRPr sz="1800">
                <a:solidFill>
                  <a:srgbClr val="F7F3EA"/>
                </a:solidFill>
                <a:latin typeface="Aptos"/>
              </a:defRPr>
            </a:pPr>
            <a:r>
              <a:t>Jeu de données officiel : le lien Google Drive présent dans le PDF a été identifié, mais le fichier n'était pas accessible depuis l'environnement de génération. Le parseur et l'algorithme sont prêts à exécuter ces cas dès que le fichier est fourni.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6336792"/>
            <a:ext cx="393192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>
                <a:solidFill>
                  <a:srgbClr val="B6C4C7"/>
                </a:solidFill>
                <a:latin typeface="Aptos"/>
              </a:rPr>
              <a:t>UNE VIE DE FOURMI • Romain • Lisa • Yannis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318504"/>
            <a:ext cx="4114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1">
                <a:solidFill>
                  <a:srgbClr val="B6C4C7"/>
                </a:solidFill>
                <a:latin typeface="Aptos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